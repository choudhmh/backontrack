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256" r:id="rId5"/>
    <p:sldId id="257" r:id="rId6"/>
    <p:sldId id="259" r:id="rId7"/>
    <p:sldId id="260" r:id="rId8"/>
    <p:sldId id="258" r:id="rId9"/>
    <p:sldId id="261" r:id="rId10"/>
    <p:sldId id="264" r:id="rId11"/>
    <p:sldId id="287" r:id="rId12"/>
    <p:sldId id="278" r:id="rId13"/>
    <p:sldId id="279" r:id="rId14"/>
    <p:sldId id="288" r:id="rId15"/>
    <p:sldId id="289" r:id="rId16"/>
    <p:sldId id="290" r:id="rId17"/>
    <p:sldId id="281" r:id="rId18"/>
    <p:sldId id="291" r:id="rId19"/>
    <p:sldId id="292" r:id="rId20"/>
    <p:sldId id="293" r:id="rId21"/>
    <p:sldId id="294" r:id="rId22"/>
    <p:sldId id="295" r:id="rId23"/>
    <p:sldId id="296" r:id="rId24"/>
    <p:sldId id="284" r:id="rId25"/>
    <p:sldId id="282" r:id="rId26"/>
    <p:sldId id="283" r:id="rId27"/>
    <p:sldId id="262" r:id="rId28"/>
    <p:sldId id="265" r:id="rId29"/>
    <p:sldId id="285" r:id="rId30"/>
    <p:sldId id="268" r:id="rId31"/>
    <p:sldId id="286" r:id="rId32"/>
    <p:sldId id="269" r:id="rId3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82298" autoAdjust="0"/>
  </p:normalViewPr>
  <p:slideViewPr>
    <p:cSldViewPr snapToGrid="0">
      <p:cViewPr varScale="1">
        <p:scale>
          <a:sx n="50" d="100"/>
          <a:sy n="50" d="100"/>
        </p:scale>
        <p:origin x="176" y="1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615B2-067E-4614-A848-AE26FD7A3EFD}" type="datetimeFigureOut">
              <a:rPr lang="ru-RU" smtClean="0"/>
              <a:t>16.04.2025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B02E52-91BB-45C1-A397-8F071C20EBCD}" type="slidenum">
              <a:rPr lang="ru-RU" smtClean="0"/>
              <a:t>‹#›</a:t>
            </a:fld>
            <a:endParaRPr lang="ru-RU"/>
          </a:p>
        </p:txBody>
      </p:sp>
    </p:spTree>
    <p:extLst>
      <p:ext uri="{BB962C8B-B14F-4D97-AF65-F5344CB8AC3E}">
        <p14:creationId xmlns:p14="http://schemas.microsoft.com/office/powerpoint/2010/main" val="613024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6c52d11e38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6c52d11e38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9921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7b5c98db35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7b5c98db35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4389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B02E52-91BB-45C1-A397-8F071C20EBCD}" type="slidenum">
              <a:rPr lang="ru-RU" smtClean="0"/>
              <a:t>12</a:t>
            </a:fld>
            <a:endParaRPr lang="ru-RU"/>
          </a:p>
        </p:txBody>
      </p:sp>
    </p:spTree>
    <p:extLst>
      <p:ext uri="{BB962C8B-B14F-4D97-AF65-F5344CB8AC3E}">
        <p14:creationId xmlns:p14="http://schemas.microsoft.com/office/powerpoint/2010/main" val="2354668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B02E52-91BB-45C1-A397-8F071C20EBCD}" type="slidenum">
              <a:rPr lang="ru-RU" smtClean="0"/>
              <a:t>13</a:t>
            </a:fld>
            <a:endParaRPr lang="ru-RU"/>
          </a:p>
        </p:txBody>
      </p:sp>
    </p:spTree>
    <p:extLst>
      <p:ext uri="{BB962C8B-B14F-4D97-AF65-F5344CB8AC3E}">
        <p14:creationId xmlns:p14="http://schemas.microsoft.com/office/powerpoint/2010/main" val="4263072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7b5c98db35_1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7b5c98db35_1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7821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B02E52-91BB-45C1-A397-8F071C20EBCD}" type="slidenum">
              <a:rPr lang="ru-RU" smtClean="0"/>
              <a:t>17</a:t>
            </a:fld>
            <a:endParaRPr lang="ru-RU"/>
          </a:p>
        </p:txBody>
      </p:sp>
    </p:spTree>
    <p:extLst>
      <p:ext uri="{BB962C8B-B14F-4D97-AF65-F5344CB8AC3E}">
        <p14:creationId xmlns:p14="http://schemas.microsoft.com/office/powerpoint/2010/main" val="4219958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B02E52-91BB-45C1-A397-8F071C20EBCD}" type="slidenum">
              <a:rPr lang="ru-RU" smtClean="0"/>
              <a:t>19</a:t>
            </a:fld>
            <a:endParaRPr lang="ru-RU"/>
          </a:p>
        </p:txBody>
      </p:sp>
    </p:spTree>
    <p:extLst>
      <p:ext uri="{BB962C8B-B14F-4D97-AF65-F5344CB8AC3E}">
        <p14:creationId xmlns:p14="http://schemas.microsoft.com/office/powerpoint/2010/main" val="1822373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B02E52-91BB-45C1-A397-8F071C20EBCD}" type="slidenum">
              <a:rPr lang="ru-RU" smtClean="0"/>
              <a:t>20</a:t>
            </a:fld>
            <a:endParaRPr lang="ru-RU"/>
          </a:p>
        </p:txBody>
      </p:sp>
    </p:spTree>
    <p:extLst>
      <p:ext uri="{BB962C8B-B14F-4D97-AF65-F5344CB8AC3E}">
        <p14:creationId xmlns:p14="http://schemas.microsoft.com/office/powerpoint/2010/main" val="1536814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7b5c98db35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7b5c98db35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2287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6c52d11e38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6c52d11e38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9857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7b5c98db35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7b5c98db35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26148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6E80E7D-474B-4E58-B83E-8AA1FF760131}" type="slidenum">
              <a:rPr lang="en-GB" smtClean="0"/>
              <a:t>26</a:t>
            </a:fld>
            <a:endParaRPr lang="en-GB"/>
          </a:p>
        </p:txBody>
      </p:sp>
    </p:spTree>
    <p:extLst>
      <p:ext uri="{BB962C8B-B14F-4D97-AF65-F5344CB8AC3E}">
        <p14:creationId xmlns:p14="http://schemas.microsoft.com/office/powerpoint/2010/main" val="55680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B1F0AD4-9187-4CB7-BB58-4EB93DC3E9C2}" type="slidenum">
              <a:rPr lang="en-GB" smtClean="0"/>
              <a:t>28</a:t>
            </a:fld>
            <a:endParaRPr lang="en-GB"/>
          </a:p>
        </p:txBody>
      </p:sp>
    </p:spTree>
    <p:extLst>
      <p:ext uri="{BB962C8B-B14F-4D97-AF65-F5344CB8AC3E}">
        <p14:creationId xmlns:p14="http://schemas.microsoft.com/office/powerpoint/2010/main" val="1164213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892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p:cNvSpPr>
            <a:spLocks noGrp="1"/>
          </p:cNvSpPr>
          <p:nvPr>
            <p:ph type="dt" sz="half" idx="10"/>
          </p:nvPr>
        </p:nvSpPr>
        <p:spPr/>
        <p:txBody>
          <a:bodyPr/>
          <a:lstStyle/>
          <a:p>
            <a:fld id="{7774BB57-6E81-44E0-B349-964D792CE01C}" type="datetimeFigureOut">
              <a:rPr lang="ru-RU" smtClean="0"/>
              <a:t>16.04.2025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26D9337-30C6-4AE3-ABCC-340442E411DF}" type="slidenum">
              <a:rPr lang="ru-RU" smtClean="0"/>
              <a:t>‹#›</a:t>
            </a:fld>
            <a:endParaRPr lang="ru-RU"/>
          </a:p>
        </p:txBody>
      </p:sp>
    </p:spTree>
    <p:extLst>
      <p:ext uri="{BB962C8B-B14F-4D97-AF65-F5344CB8AC3E}">
        <p14:creationId xmlns:p14="http://schemas.microsoft.com/office/powerpoint/2010/main" val="820820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7774BB57-6E81-44E0-B349-964D792CE01C}" type="datetimeFigureOut">
              <a:rPr lang="ru-RU" smtClean="0"/>
              <a:t>16.04.2025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26D9337-30C6-4AE3-ABCC-340442E411DF}" type="slidenum">
              <a:rPr lang="ru-RU" smtClean="0"/>
              <a:t>‹#›</a:t>
            </a:fld>
            <a:endParaRPr lang="ru-RU"/>
          </a:p>
        </p:txBody>
      </p:sp>
    </p:spTree>
    <p:extLst>
      <p:ext uri="{BB962C8B-B14F-4D97-AF65-F5344CB8AC3E}">
        <p14:creationId xmlns:p14="http://schemas.microsoft.com/office/powerpoint/2010/main" val="1439344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74BB57-6E81-44E0-B349-964D792CE01C}" type="datetimeFigureOut">
              <a:rPr lang="ru-RU" smtClean="0"/>
              <a:t>16.04.2025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26D9337-30C6-4AE3-ABCC-340442E411DF}" type="slidenum">
              <a:rPr lang="ru-RU" smtClean="0"/>
              <a:t>‹#›</a:t>
            </a:fld>
            <a:endParaRPr lang="ru-RU"/>
          </a:p>
        </p:txBody>
      </p:sp>
    </p:spTree>
    <p:extLst>
      <p:ext uri="{BB962C8B-B14F-4D97-AF65-F5344CB8AC3E}">
        <p14:creationId xmlns:p14="http://schemas.microsoft.com/office/powerpoint/2010/main" val="119282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p:cNvSpPr>
            <a:spLocks noGrp="1"/>
          </p:cNvSpPr>
          <p:nvPr>
            <p:ph type="dt" sz="half" idx="10"/>
          </p:nvPr>
        </p:nvSpPr>
        <p:spPr/>
        <p:txBody>
          <a:bodyPr/>
          <a:lstStyle/>
          <a:p>
            <a:fld id="{7774BB57-6E81-44E0-B349-964D792CE01C}" type="datetimeFigureOut">
              <a:rPr lang="ru-RU" smtClean="0"/>
              <a:t>16.04.2025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926D9337-30C6-4AE3-ABCC-340442E411DF}" type="slidenum">
              <a:rPr lang="ru-RU" smtClean="0"/>
              <a:t>‹#›</a:t>
            </a:fld>
            <a:endParaRPr lang="ru-RU"/>
          </a:p>
        </p:txBody>
      </p:sp>
    </p:spTree>
    <p:extLst>
      <p:ext uri="{BB962C8B-B14F-4D97-AF65-F5344CB8AC3E}">
        <p14:creationId xmlns:p14="http://schemas.microsoft.com/office/powerpoint/2010/main" val="1096788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p:cNvSpPr>
            <a:spLocks noGrp="1"/>
          </p:cNvSpPr>
          <p:nvPr>
            <p:ph type="dt" sz="half" idx="10"/>
          </p:nvPr>
        </p:nvSpPr>
        <p:spPr/>
        <p:txBody>
          <a:bodyPr/>
          <a:lstStyle/>
          <a:p>
            <a:fld id="{7774BB57-6E81-44E0-B349-964D792CE01C}" type="datetimeFigureOut">
              <a:rPr lang="ru-RU" smtClean="0"/>
              <a:t>16.04.2025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926D9337-30C6-4AE3-ABCC-340442E411DF}" type="slidenum">
              <a:rPr lang="ru-RU" smtClean="0"/>
              <a:t>‹#›</a:t>
            </a:fld>
            <a:endParaRPr lang="ru-RU"/>
          </a:p>
        </p:txBody>
      </p:sp>
    </p:spTree>
    <p:extLst>
      <p:ext uri="{BB962C8B-B14F-4D97-AF65-F5344CB8AC3E}">
        <p14:creationId xmlns:p14="http://schemas.microsoft.com/office/powerpoint/2010/main" val="1350184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Date Placeholder 2"/>
          <p:cNvSpPr>
            <a:spLocks noGrp="1"/>
          </p:cNvSpPr>
          <p:nvPr>
            <p:ph type="dt" sz="half" idx="10"/>
          </p:nvPr>
        </p:nvSpPr>
        <p:spPr/>
        <p:txBody>
          <a:bodyPr/>
          <a:lstStyle/>
          <a:p>
            <a:fld id="{7774BB57-6E81-44E0-B349-964D792CE01C}" type="datetimeFigureOut">
              <a:rPr lang="ru-RU" smtClean="0"/>
              <a:t>16.04.2025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926D9337-30C6-4AE3-ABCC-340442E411DF}" type="slidenum">
              <a:rPr lang="ru-RU" smtClean="0"/>
              <a:t>‹#›</a:t>
            </a:fld>
            <a:endParaRPr lang="ru-RU"/>
          </a:p>
        </p:txBody>
      </p:sp>
    </p:spTree>
    <p:extLst>
      <p:ext uri="{BB962C8B-B14F-4D97-AF65-F5344CB8AC3E}">
        <p14:creationId xmlns:p14="http://schemas.microsoft.com/office/powerpoint/2010/main" val="3603082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74BB57-6E81-44E0-B349-964D792CE01C}" type="datetimeFigureOut">
              <a:rPr lang="ru-RU" smtClean="0"/>
              <a:t>16.04.2025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926D9337-30C6-4AE3-ABCC-340442E411DF}" type="slidenum">
              <a:rPr lang="ru-RU" smtClean="0"/>
              <a:t>‹#›</a:t>
            </a:fld>
            <a:endParaRPr lang="ru-RU"/>
          </a:p>
        </p:txBody>
      </p:sp>
    </p:spTree>
    <p:extLst>
      <p:ext uri="{BB962C8B-B14F-4D97-AF65-F5344CB8AC3E}">
        <p14:creationId xmlns:p14="http://schemas.microsoft.com/office/powerpoint/2010/main" val="1553469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74BB57-6E81-44E0-B349-964D792CE01C}" type="datetimeFigureOut">
              <a:rPr lang="ru-RU" smtClean="0"/>
              <a:t>16.04.2025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926D9337-30C6-4AE3-ABCC-340442E411DF}" type="slidenum">
              <a:rPr lang="ru-RU" smtClean="0"/>
              <a:t>‹#›</a:t>
            </a:fld>
            <a:endParaRPr lang="ru-RU"/>
          </a:p>
        </p:txBody>
      </p:sp>
    </p:spTree>
    <p:extLst>
      <p:ext uri="{BB962C8B-B14F-4D97-AF65-F5344CB8AC3E}">
        <p14:creationId xmlns:p14="http://schemas.microsoft.com/office/powerpoint/2010/main" val="2887977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74BB57-6E81-44E0-B349-964D792CE01C}" type="datetimeFigureOut">
              <a:rPr lang="ru-RU" smtClean="0"/>
              <a:t>16.04.2025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926D9337-30C6-4AE3-ABCC-340442E411DF}" type="slidenum">
              <a:rPr lang="ru-RU" smtClean="0"/>
              <a:t>‹#›</a:t>
            </a:fld>
            <a:endParaRPr lang="ru-RU"/>
          </a:p>
        </p:txBody>
      </p:sp>
    </p:spTree>
    <p:extLst>
      <p:ext uri="{BB962C8B-B14F-4D97-AF65-F5344CB8AC3E}">
        <p14:creationId xmlns:p14="http://schemas.microsoft.com/office/powerpoint/2010/main" val="124183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7774BB57-6E81-44E0-B349-964D792CE01C}" type="datetimeFigureOut">
              <a:rPr lang="ru-RU" smtClean="0"/>
              <a:t>16.04.2025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26D9337-30C6-4AE3-ABCC-340442E411DF}" type="slidenum">
              <a:rPr lang="ru-RU" smtClean="0"/>
              <a:t>‹#›</a:t>
            </a:fld>
            <a:endParaRPr lang="ru-RU"/>
          </a:p>
        </p:txBody>
      </p:sp>
    </p:spTree>
    <p:extLst>
      <p:ext uri="{BB962C8B-B14F-4D97-AF65-F5344CB8AC3E}">
        <p14:creationId xmlns:p14="http://schemas.microsoft.com/office/powerpoint/2010/main" val="1673063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7774BB57-6E81-44E0-B349-964D792CE01C}" type="datetimeFigureOut">
              <a:rPr lang="ru-RU" smtClean="0"/>
              <a:t>16.04.2025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26D9337-30C6-4AE3-ABCC-340442E411DF}" type="slidenum">
              <a:rPr lang="ru-RU" smtClean="0"/>
              <a:t>‹#›</a:t>
            </a:fld>
            <a:endParaRPr lang="ru-RU"/>
          </a:p>
        </p:txBody>
      </p:sp>
    </p:spTree>
    <p:extLst>
      <p:ext uri="{BB962C8B-B14F-4D97-AF65-F5344CB8AC3E}">
        <p14:creationId xmlns:p14="http://schemas.microsoft.com/office/powerpoint/2010/main" val="2044385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xam Q">
  <p:cSld name="Exam Q">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rot="-5400000">
            <a:off x="-3176800" y="3165000"/>
            <a:ext cx="6881600" cy="528000"/>
          </a:xfrm>
          <a:prstGeom prst="rect">
            <a:avLst/>
          </a:prstGeom>
          <a:solidFill>
            <a:schemeClr val="accent5"/>
          </a:solidFill>
        </p:spPr>
        <p:txBody>
          <a:bodyPr spcFirstLastPara="1" wrap="square" lIns="121897" tIns="121897" rIns="121897" bIns="121897" anchor="t" anchorCtr="0">
            <a:noAutofit/>
          </a:bodyPr>
          <a:lstStyle>
            <a:lvl1pPr lvl="0" algn="ctr" rtl="0">
              <a:spcBef>
                <a:spcPts val="0"/>
              </a:spcBef>
              <a:spcAft>
                <a:spcPts val="0"/>
              </a:spcAft>
              <a:buNone/>
              <a:defRPr sz="1900">
                <a:solidFill>
                  <a:schemeClr val="lt1"/>
                </a:solidFill>
                <a:latin typeface="Roboto Mono"/>
                <a:ea typeface="Roboto Mono"/>
                <a:cs typeface="Roboto Mono"/>
                <a:sym typeface="Roboto Mono"/>
              </a:defRPr>
            </a:lvl1pPr>
            <a:lvl2pPr lvl="1" algn="ctr" rtl="0">
              <a:spcBef>
                <a:spcPts val="0"/>
              </a:spcBef>
              <a:spcAft>
                <a:spcPts val="0"/>
              </a:spcAft>
              <a:buNone/>
              <a:defRPr sz="2400">
                <a:solidFill>
                  <a:schemeClr val="lt1"/>
                </a:solidFill>
                <a:latin typeface="Roboto Mono"/>
                <a:ea typeface="Roboto Mono"/>
                <a:cs typeface="Roboto Mono"/>
                <a:sym typeface="Roboto Mono"/>
              </a:defRPr>
            </a:lvl2pPr>
            <a:lvl3pPr lvl="2" algn="ctr" rtl="0">
              <a:spcBef>
                <a:spcPts val="0"/>
              </a:spcBef>
              <a:spcAft>
                <a:spcPts val="0"/>
              </a:spcAft>
              <a:buNone/>
              <a:defRPr sz="2400">
                <a:solidFill>
                  <a:schemeClr val="lt1"/>
                </a:solidFill>
                <a:latin typeface="Roboto Mono"/>
                <a:ea typeface="Roboto Mono"/>
                <a:cs typeface="Roboto Mono"/>
                <a:sym typeface="Roboto Mono"/>
              </a:defRPr>
            </a:lvl3pPr>
            <a:lvl4pPr lvl="3" algn="ctr" rtl="0">
              <a:spcBef>
                <a:spcPts val="0"/>
              </a:spcBef>
              <a:spcAft>
                <a:spcPts val="0"/>
              </a:spcAft>
              <a:buNone/>
              <a:defRPr sz="2400">
                <a:solidFill>
                  <a:schemeClr val="lt1"/>
                </a:solidFill>
                <a:latin typeface="Roboto Mono"/>
                <a:ea typeface="Roboto Mono"/>
                <a:cs typeface="Roboto Mono"/>
                <a:sym typeface="Roboto Mono"/>
              </a:defRPr>
            </a:lvl4pPr>
            <a:lvl5pPr lvl="4" algn="ctr" rtl="0">
              <a:spcBef>
                <a:spcPts val="0"/>
              </a:spcBef>
              <a:spcAft>
                <a:spcPts val="0"/>
              </a:spcAft>
              <a:buNone/>
              <a:defRPr sz="2400">
                <a:solidFill>
                  <a:schemeClr val="lt1"/>
                </a:solidFill>
                <a:latin typeface="Roboto Mono"/>
                <a:ea typeface="Roboto Mono"/>
                <a:cs typeface="Roboto Mono"/>
                <a:sym typeface="Roboto Mono"/>
              </a:defRPr>
            </a:lvl5pPr>
            <a:lvl6pPr lvl="5" algn="ctr" rtl="0">
              <a:spcBef>
                <a:spcPts val="0"/>
              </a:spcBef>
              <a:spcAft>
                <a:spcPts val="0"/>
              </a:spcAft>
              <a:buNone/>
              <a:defRPr sz="2400">
                <a:solidFill>
                  <a:schemeClr val="lt1"/>
                </a:solidFill>
                <a:latin typeface="Roboto Mono"/>
                <a:ea typeface="Roboto Mono"/>
                <a:cs typeface="Roboto Mono"/>
                <a:sym typeface="Roboto Mono"/>
              </a:defRPr>
            </a:lvl6pPr>
            <a:lvl7pPr lvl="6" algn="ctr" rtl="0">
              <a:spcBef>
                <a:spcPts val="0"/>
              </a:spcBef>
              <a:spcAft>
                <a:spcPts val="0"/>
              </a:spcAft>
              <a:buNone/>
              <a:defRPr sz="2400">
                <a:solidFill>
                  <a:schemeClr val="lt1"/>
                </a:solidFill>
                <a:latin typeface="Roboto Mono"/>
                <a:ea typeface="Roboto Mono"/>
                <a:cs typeface="Roboto Mono"/>
                <a:sym typeface="Roboto Mono"/>
              </a:defRPr>
            </a:lvl7pPr>
            <a:lvl8pPr lvl="7" algn="ctr" rtl="0">
              <a:spcBef>
                <a:spcPts val="0"/>
              </a:spcBef>
              <a:spcAft>
                <a:spcPts val="0"/>
              </a:spcAft>
              <a:buNone/>
              <a:defRPr sz="2400">
                <a:solidFill>
                  <a:schemeClr val="lt1"/>
                </a:solidFill>
                <a:latin typeface="Roboto Mono"/>
                <a:ea typeface="Roboto Mono"/>
                <a:cs typeface="Roboto Mono"/>
                <a:sym typeface="Roboto Mono"/>
              </a:defRPr>
            </a:lvl8pPr>
            <a:lvl9pPr lvl="8" algn="ctr" rtl="0">
              <a:spcBef>
                <a:spcPts val="0"/>
              </a:spcBef>
              <a:spcAft>
                <a:spcPts val="0"/>
              </a:spcAft>
              <a:buNone/>
              <a:defRPr sz="2400">
                <a:solidFill>
                  <a:schemeClr val="lt1"/>
                </a:solidFill>
                <a:latin typeface="Roboto Mono"/>
                <a:ea typeface="Roboto Mono"/>
                <a:cs typeface="Roboto Mono"/>
                <a:sym typeface="Roboto Mono"/>
              </a:defRPr>
            </a:lvl9pPr>
          </a:lstStyle>
          <a:p>
            <a:endParaRPr/>
          </a:p>
        </p:txBody>
      </p:sp>
      <p:sp>
        <p:nvSpPr>
          <p:cNvPr id="68" name="Google Shape;68;p18"/>
          <p:cNvSpPr txBox="1">
            <a:spLocks noGrp="1"/>
          </p:cNvSpPr>
          <p:nvPr>
            <p:ph type="body" idx="1"/>
          </p:nvPr>
        </p:nvSpPr>
        <p:spPr>
          <a:xfrm>
            <a:off x="1082000" y="1151400"/>
            <a:ext cx="10028000" cy="4555200"/>
          </a:xfrm>
          <a:prstGeom prst="rect">
            <a:avLst/>
          </a:prstGeom>
        </p:spPr>
        <p:txBody>
          <a:bodyPr spcFirstLastPara="1" wrap="square" lIns="121897" tIns="121897" rIns="121897" bIns="121897" anchor="t" anchorCtr="0">
            <a:noAutofit/>
          </a:bodyPr>
          <a:lstStyle>
            <a:lvl1pPr marL="609585" lvl="0" indent="-457189" rtl="0">
              <a:spcBef>
                <a:spcPts val="0"/>
              </a:spcBef>
              <a:spcAft>
                <a:spcPts val="0"/>
              </a:spcAft>
              <a:buSzPts val="1800"/>
              <a:buChar char="❖"/>
              <a:defRPr/>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Tree>
    <p:extLst>
      <p:ext uri="{BB962C8B-B14F-4D97-AF65-F5344CB8AC3E}">
        <p14:creationId xmlns:p14="http://schemas.microsoft.com/office/powerpoint/2010/main" val="16418859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AL">
  <p:cSld name="Content AL">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rot="-5400000">
            <a:off x="-3182600" y="3165000"/>
            <a:ext cx="6893200" cy="528000"/>
          </a:xfrm>
          <a:prstGeom prst="rect">
            <a:avLst/>
          </a:prstGeom>
          <a:solidFill>
            <a:srgbClr val="CC0000"/>
          </a:solidFill>
        </p:spPr>
        <p:txBody>
          <a:bodyPr spcFirstLastPara="1" wrap="square" lIns="121897" tIns="121897" rIns="121897" bIns="121897" anchor="t" anchorCtr="0">
            <a:noAutofit/>
          </a:bodyPr>
          <a:lstStyle>
            <a:lvl1pPr lvl="0" algn="ctr" rtl="0">
              <a:spcBef>
                <a:spcPts val="0"/>
              </a:spcBef>
              <a:spcAft>
                <a:spcPts val="0"/>
              </a:spcAft>
              <a:buNone/>
              <a:defRPr sz="1900">
                <a:solidFill>
                  <a:schemeClr val="lt1"/>
                </a:solidFill>
                <a:latin typeface="Roboto Mono"/>
                <a:ea typeface="Roboto Mono"/>
                <a:cs typeface="Roboto Mono"/>
                <a:sym typeface="Roboto Mono"/>
              </a:defRPr>
            </a:lvl1pPr>
            <a:lvl2pPr lvl="1" algn="ctr" rtl="0">
              <a:spcBef>
                <a:spcPts val="0"/>
              </a:spcBef>
              <a:spcAft>
                <a:spcPts val="0"/>
              </a:spcAft>
              <a:buNone/>
              <a:defRPr sz="2400">
                <a:solidFill>
                  <a:schemeClr val="lt1"/>
                </a:solidFill>
                <a:latin typeface="Roboto Mono"/>
                <a:ea typeface="Roboto Mono"/>
                <a:cs typeface="Roboto Mono"/>
                <a:sym typeface="Roboto Mono"/>
              </a:defRPr>
            </a:lvl2pPr>
            <a:lvl3pPr lvl="2" algn="ctr" rtl="0">
              <a:spcBef>
                <a:spcPts val="0"/>
              </a:spcBef>
              <a:spcAft>
                <a:spcPts val="0"/>
              </a:spcAft>
              <a:buNone/>
              <a:defRPr sz="2400">
                <a:solidFill>
                  <a:schemeClr val="lt1"/>
                </a:solidFill>
                <a:latin typeface="Roboto Mono"/>
                <a:ea typeface="Roboto Mono"/>
                <a:cs typeface="Roboto Mono"/>
                <a:sym typeface="Roboto Mono"/>
              </a:defRPr>
            </a:lvl3pPr>
            <a:lvl4pPr lvl="3" algn="ctr" rtl="0">
              <a:spcBef>
                <a:spcPts val="0"/>
              </a:spcBef>
              <a:spcAft>
                <a:spcPts val="0"/>
              </a:spcAft>
              <a:buNone/>
              <a:defRPr sz="2400">
                <a:solidFill>
                  <a:schemeClr val="lt1"/>
                </a:solidFill>
                <a:latin typeface="Roboto Mono"/>
                <a:ea typeface="Roboto Mono"/>
                <a:cs typeface="Roboto Mono"/>
                <a:sym typeface="Roboto Mono"/>
              </a:defRPr>
            </a:lvl4pPr>
            <a:lvl5pPr lvl="4" algn="ctr" rtl="0">
              <a:spcBef>
                <a:spcPts val="0"/>
              </a:spcBef>
              <a:spcAft>
                <a:spcPts val="0"/>
              </a:spcAft>
              <a:buNone/>
              <a:defRPr sz="2400">
                <a:solidFill>
                  <a:schemeClr val="lt1"/>
                </a:solidFill>
                <a:latin typeface="Roboto Mono"/>
                <a:ea typeface="Roboto Mono"/>
                <a:cs typeface="Roboto Mono"/>
                <a:sym typeface="Roboto Mono"/>
              </a:defRPr>
            </a:lvl5pPr>
            <a:lvl6pPr lvl="5" algn="ctr" rtl="0">
              <a:spcBef>
                <a:spcPts val="0"/>
              </a:spcBef>
              <a:spcAft>
                <a:spcPts val="0"/>
              </a:spcAft>
              <a:buNone/>
              <a:defRPr sz="2400">
                <a:solidFill>
                  <a:schemeClr val="lt1"/>
                </a:solidFill>
                <a:latin typeface="Roboto Mono"/>
                <a:ea typeface="Roboto Mono"/>
                <a:cs typeface="Roboto Mono"/>
                <a:sym typeface="Roboto Mono"/>
              </a:defRPr>
            </a:lvl6pPr>
            <a:lvl7pPr lvl="6" algn="ctr" rtl="0">
              <a:spcBef>
                <a:spcPts val="0"/>
              </a:spcBef>
              <a:spcAft>
                <a:spcPts val="0"/>
              </a:spcAft>
              <a:buNone/>
              <a:defRPr sz="2400">
                <a:solidFill>
                  <a:schemeClr val="lt1"/>
                </a:solidFill>
                <a:latin typeface="Roboto Mono"/>
                <a:ea typeface="Roboto Mono"/>
                <a:cs typeface="Roboto Mono"/>
                <a:sym typeface="Roboto Mono"/>
              </a:defRPr>
            </a:lvl7pPr>
            <a:lvl8pPr lvl="7" algn="ctr" rtl="0">
              <a:spcBef>
                <a:spcPts val="0"/>
              </a:spcBef>
              <a:spcAft>
                <a:spcPts val="0"/>
              </a:spcAft>
              <a:buNone/>
              <a:defRPr sz="2400">
                <a:solidFill>
                  <a:schemeClr val="lt1"/>
                </a:solidFill>
                <a:latin typeface="Roboto Mono"/>
                <a:ea typeface="Roboto Mono"/>
                <a:cs typeface="Roboto Mono"/>
                <a:sym typeface="Roboto Mono"/>
              </a:defRPr>
            </a:lvl8pPr>
            <a:lvl9pPr lvl="8" algn="ctr" rtl="0">
              <a:spcBef>
                <a:spcPts val="0"/>
              </a:spcBef>
              <a:spcAft>
                <a:spcPts val="0"/>
              </a:spcAft>
              <a:buNone/>
              <a:defRPr sz="2400">
                <a:solidFill>
                  <a:schemeClr val="lt1"/>
                </a:solidFill>
                <a:latin typeface="Roboto Mono"/>
                <a:ea typeface="Roboto Mono"/>
                <a:cs typeface="Roboto Mono"/>
                <a:sym typeface="Roboto Mono"/>
              </a:defRPr>
            </a:lvl9pPr>
          </a:lstStyle>
          <a:p>
            <a:endParaRPr/>
          </a:p>
        </p:txBody>
      </p:sp>
      <p:sp>
        <p:nvSpPr>
          <p:cNvPr id="56" name="Google Shape;56;p14"/>
          <p:cNvSpPr txBox="1">
            <a:spLocks noGrp="1"/>
          </p:cNvSpPr>
          <p:nvPr>
            <p:ph type="body" idx="1"/>
          </p:nvPr>
        </p:nvSpPr>
        <p:spPr>
          <a:xfrm>
            <a:off x="1082000" y="1151400"/>
            <a:ext cx="10028000" cy="4555200"/>
          </a:xfrm>
          <a:prstGeom prst="rect">
            <a:avLst/>
          </a:prstGeom>
        </p:spPr>
        <p:txBody>
          <a:bodyPr spcFirstLastPara="1" wrap="square" lIns="121897" tIns="121897" rIns="121897" bIns="121897" anchor="t" anchorCtr="0">
            <a:noAutofit/>
          </a:bodyPr>
          <a:lstStyle>
            <a:lvl1pPr marL="609585" lvl="0" indent="-457189" rtl="0">
              <a:spcBef>
                <a:spcPts val="0"/>
              </a:spcBef>
              <a:spcAft>
                <a:spcPts val="0"/>
              </a:spcAft>
              <a:buSzPts val="1800"/>
              <a:buChar char="❖"/>
              <a:defRPr/>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Tree>
    <p:extLst>
      <p:ext uri="{BB962C8B-B14F-4D97-AF65-F5344CB8AC3E}">
        <p14:creationId xmlns:p14="http://schemas.microsoft.com/office/powerpoint/2010/main" val="1015940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Worksheet">
  <p:cSld name="Worksheet">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rot="-5400000">
            <a:off x="-3190400" y="3165000"/>
            <a:ext cx="6908800" cy="528000"/>
          </a:xfrm>
          <a:prstGeom prst="rect">
            <a:avLst/>
          </a:prstGeom>
          <a:solidFill>
            <a:srgbClr val="1155CC"/>
          </a:solidFill>
        </p:spPr>
        <p:txBody>
          <a:bodyPr spcFirstLastPara="1" wrap="square" lIns="121897" tIns="121897" rIns="121897" bIns="121897" anchor="t" anchorCtr="0">
            <a:noAutofit/>
          </a:bodyPr>
          <a:lstStyle>
            <a:lvl1pPr lvl="0" algn="ctr" rtl="0">
              <a:spcBef>
                <a:spcPts val="0"/>
              </a:spcBef>
              <a:spcAft>
                <a:spcPts val="0"/>
              </a:spcAft>
              <a:buNone/>
              <a:defRPr sz="1900">
                <a:solidFill>
                  <a:schemeClr val="lt1"/>
                </a:solidFill>
                <a:latin typeface="Roboto Mono"/>
                <a:ea typeface="Roboto Mono"/>
                <a:cs typeface="Roboto Mono"/>
                <a:sym typeface="Roboto Mono"/>
              </a:defRPr>
            </a:lvl1pPr>
            <a:lvl2pPr lvl="1" algn="ctr" rtl="0">
              <a:spcBef>
                <a:spcPts val="0"/>
              </a:spcBef>
              <a:spcAft>
                <a:spcPts val="0"/>
              </a:spcAft>
              <a:buNone/>
              <a:defRPr sz="2400">
                <a:solidFill>
                  <a:schemeClr val="lt1"/>
                </a:solidFill>
                <a:latin typeface="Roboto Mono"/>
                <a:ea typeface="Roboto Mono"/>
                <a:cs typeface="Roboto Mono"/>
                <a:sym typeface="Roboto Mono"/>
              </a:defRPr>
            </a:lvl2pPr>
            <a:lvl3pPr lvl="2" algn="ctr" rtl="0">
              <a:spcBef>
                <a:spcPts val="0"/>
              </a:spcBef>
              <a:spcAft>
                <a:spcPts val="0"/>
              </a:spcAft>
              <a:buNone/>
              <a:defRPr sz="2400">
                <a:solidFill>
                  <a:schemeClr val="lt1"/>
                </a:solidFill>
                <a:latin typeface="Roboto Mono"/>
                <a:ea typeface="Roboto Mono"/>
                <a:cs typeface="Roboto Mono"/>
                <a:sym typeface="Roboto Mono"/>
              </a:defRPr>
            </a:lvl3pPr>
            <a:lvl4pPr lvl="3" algn="ctr" rtl="0">
              <a:spcBef>
                <a:spcPts val="0"/>
              </a:spcBef>
              <a:spcAft>
                <a:spcPts val="0"/>
              </a:spcAft>
              <a:buNone/>
              <a:defRPr sz="2400">
                <a:solidFill>
                  <a:schemeClr val="lt1"/>
                </a:solidFill>
                <a:latin typeface="Roboto Mono"/>
                <a:ea typeface="Roboto Mono"/>
                <a:cs typeface="Roboto Mono"/>
                <a:sym typeface="Roboto Mono"/>
              </a:defRPr>
            </a:lvl4pPr>
            <a:lvl5pPr lvl="4" algn="ctr" rtl="0">
              <a:spcBef>
                <a:spcPts val="0"/>
              </a:spcBef>
              <a:spcAft>
                <a:spcPts val="0"/>
              </a:spcAft>
              <a:buNone/>
              <a:defRPr sz="2400">
                <a:solidFill>
                  <a:schemeClr val="lt1"/>
                </a:solidFill>
                <a:latin typeface="Roboto Mono"/>
                <a:ea typeface="Roboto Mono"/>
                <a:cs typeface="Roboto Mono"/>
                <a:sym typeface="Roboto Mono"/>
              </a:defRPr>
            </a:lvl5pPr>
            <a:lvl6pPr lvl="5" algn="ctr" rtl="0">
              <a:spcBef>
                <a:spcPts val="0"/>
              </a:spcBef>
              <a:spcAft>
                <a:spcPts val="0"/>
              </a:spcAft>
              <a:buNone/>
              <a:defRPr sz="2400">
                <a:solidFill>
                  <a:schemeClr val="lt1"/>
                </a:solidFill>
                <a:latin typeface="Roboto Mono"/>
                <a:ea typeface="Roboto Mono"/>
                <a:cs typeface="Roboto Mono"/>
                <a:sym typeface="Roboto Mono"/>
              </a:defRPr>
            </a:lvl6pPr>
            <a:lvl7pPr lvl="6" algn="ctr" rtl="0">
              <a:spcBef>
                <a:spcPts val="0"/>
              </a:spcBef>
              <a:spcAft>
                <a:spcPts val="0"/>
              </a:spcAft>
              <a:buNone/>
              <a:defRPr sz="2400">
                <a:solidFill>
                  <a:schemeClr val="lt1"/>
                </a:solidFill>
                <a:latin typeface="Roboto Mono"/>
                <a:ea typeface="Roboto Mono"/>
                <a:cs typeface="Roboto Mono"/>
                <a:sym typeface="Roboto Mono"/>
              </a:defRPr>
            </a:lvl7pPr>
            <a:lvl8pPr lvl="7" algn="ctr" rtl="0">
              <a:spcBef>
                <a:spcPts val="0"/>
              </a:spcBef>
              <a:spcAft>
                <a:spcPts val="0"/>
              </a:spcAft>
              <a:buNone/>
              <a:defRPr sz="2400">
                <a:solidFill>
                  <a:schemeClr val="lt1"/>
                </a:solidFill>
                <a:latin typeface="Roboto Mono"/>
                <a:ea typeface="Roboto Mono"/>
                <a:cs typeface="Roboto Mono"/>
                <a:sym typeface="Roboto Mono"/>
              </a:defRPr>
            </a:lvl8pPr>
            <a:lvl9pPr lvl="8" algn="ctr" rtl="0">
              <a:spcBef>
                <a:spcPts val="0"/>
              </a:spcBef>
              <a:spcAft>
                <a:spcPts val="0"/>
              </a:spcAft>
              <a:buNone/>
              <a:defRPr sz="2400">
                <a:solidFill>
                  <a:schemeClr val="lt1"/>
                </a:solidFill>
                <a:latin typeface="Roboto Mono"/>
                <a:ea typeface="Roboto Mono"/>
                <a:cs typeface="Roboto Mono"/>
                <a:sym typeface="Roboto Mono"/>
              </a:defRPr>
            </a:lvl9pPr>
          </a:lstStyle>
          <a:p>
            <a:endParaRPr/>
          </a:p>
        </p:txBody>
      </p:sp>
      <p:sp>
        <p:nvSpPr>
          <p:cNvPr id="65" name="Google Shape;65;p17"/>
          <p:cNvSpPr txBox="1">
            <a:spLocks noGrp="1"/>
          </p:cNvSpPr>
          <p:nvPr>
            <p:ph type="body" idx="1"/>
          </p:nvPr>
        </p:nvSpPr>
        <p:spPr>
          <a:xfrm>
            <a:off x="1082000" y="1151400"/>
            <a:ext cx="10028000" cy="4555200"/>
          </a:xfrm>
          <a:prstGeom prst="rect">
            <a:avLst/>
          </a:prstGeom>
        </p:spPr>
        <p:txBody>
          <a:bodyPr spcFirstLastPara="1" wrap="square" lIns="121897" tIns="121897" rIns="121897" bIns="121897" anchor="t" anchorCtr="0">
            <a:noAutofit/>
          </a:bodyPr>
          <a:lstStyle>
            <a:lvl1pPr marL="609585" lvl="0" indent="-457189" rtl="0">
              <a:spcBef>
                <a:spcPts val="0"/>
              </a:spcBef>
              <a:spcAft>
                <a:spcPts val="0"/>
              </a:spcAft>
              <a:buSzPts val="1800"/>
              <a:buChar char="❖"/>
              <a:defRPr/>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Tree>
    <p:extLst>
      <p:ext uri="{BB962C8B-B14F-4D97-AF65-F5344CB8AC3E}">
        <p14:creationId xmlns:p14="http://schemas.microsoft.com/office/powerpoint/2010/main" val="3922986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74BB57-6E81-44E0-B349-964D792CE01C}" type="datetimeFigureOut">
              <a:rPr lang="ru-RU" smtClean="0"/>
              <a:t>16.04.2025</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6D9337-30C6-4AE3-ABCC-340442E411DF}" type="slidenum">
              <a:rPr lang="ru-RU" smtClean="0"/>
              <a:t>‹#›</a:t>
            </a:fld>
            <a:endParaRPr lang="ru-RU"/>
          </a:p>
        </p:txBody>
      </p:sp>
    </p:spTree>
    <p:extLst>
      <p:ext uri="{BB962C8B-B14F-4D97-AF65-F5344CB8AC3E}">
        <p14:creationId xmlns:p14="http://schemas.microsoft.com/office/powerpoint/2010/main" val="2834490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youtu.be/iS9tqYuVQ08"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hyperlink" Target="https://youtu.be/jLuj62Gq-1I"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gQrSxbfUjug&amp;ab_channel=Udacity"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computerscience.gcse.guru/glossary/erroneous-data"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1524003" y="1999615"/>
            <a:ext cx="9144000" cy="2764028"/>
          </a:xfrm>
        </p:spPr>
        <p:txBody>
          <a:bodyPr anchor="ctr">
            <a:normAutofit/>
          </a:bodyPr>
          <a:lstStyle/>
          <a:p>
            <a:r>
              <a:rPr lang="en-US" sz="7200"/>
              <a:t>Validation &amp; Verification</a:t>
            </a:r>
            <a:endParaRPr lang="ru-RU" sz="7200" dirty="0"/>
          </a:p>
        </p:txBody>
      </p:sp>
      <p:sp>
        <p:nvSpPr>
          <p:cNvPr id="3" name="Subtitle 2"/>
          <p:cNvSpPr>
            <a:spLocks noGrp="1"/>
          </p:cNvSpPr>
          <p:nvPr>
            <p:ph type="subTitle" idx="1"/>
          </p:nvPr>
        </p:nvSpPr>
        <p:spPr>
          <a:xfrm>
            <a:off x="1966912" y="5645150"/>
            <a:ext cx="8258176" cy="631825"/>
          </a:xfrm>
        </p:spPr>
        <p:txBody>
          <a:bodyPr anchor="ctr">
            <a:normAutofit/>
          </a:bodyPr>
          <a:lstStyle/>
          <a:p>
            <a:r>
              <a:rPr lang="en-GB" sz="2800" dirty="0"/>
              <a:t>Mr Mahmud</a:t>
            </a:r>
            <a:endParaRPr lang="ru-RU" sz="2800" dirty="0"/>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6854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a:t>
            </a:r>
            <a:endParaRPr lang="ru-RU" dirty="0"/>
          </a:p>
        </p:txBody>
      </p:sp>
      <p:sp>
        <p:nvSpPr>
          <p:cNvPr id="3" name="Content Placeholder 2"/>
          <p:cNvSpPr>
            <a:spLocks noGrp="1"/>
          </p:cNvSpPr>
          <p:nvPr>
            <p:ph idx="1"/>
          </p:nvPr>
        </p:nvSpPr>
        <p:spPr>
          <a:xfrm>
            <a:off x="838200" y="1429840"/>
            <a:ext cx="10515600" cy="808393"/>
          </a:xfrm>
        </p:spPr>
        <p:txBody>
          <a:bodyPr>
            <a:normAutofit lnSpcReduction="10000"/>
          </a:bodyPr>
          <a:lstStyle/>
          <a:p>
            <a:pPr marL="0" indent="0">
              <a:buNone/>
            </a:pPr>
            <a:r>
              <a:rPr lang="en-US" altLang="ru-RU" dirty="0">
                <a:latin typeface="Calibri" panose="020F0502020204030204" pitchFamily="34" charset="0"/>
                <a:sym typeface="Calibri" panose="020F0502020204030204" pitchFamily="34" charset="0"/>
              </a:rPr>
              <a:t>11.1.2.5 explain the difference between the terms verification and validation</a:t>
            </a:r>
          </a:p>
          <a:p>
            <a:pPr marL="0" indent="0">
              <a:buNone/>
            </a:pPr>
            <a:endParaRPr lang="en-US" altLang="ru-RU" dirty="0">
              <a:latin typeface="Calibri" panose="020F0502020204030204" pitchFamily="34" charset="0"/>
              <a:sym typeface="Calibri" panose="020F0502020204030204" pitchFamily="34" charset="0"/>
            </a:endParaRPr>
          </a:p>
          <a:p>
            <a:pPr marL="0" indent="0">
              <a:buNone/>
            </a:pPr>
            <a:endParaRPr lang="ru-RU" dirty="0"/>
          </a:p>
        </p:txBody>
      </p:sp>
      <p:sp>
        <p:nvSpPr>
          <p:cNvPr id="4" name="Title 1"/>
          <p:cNvSpPr txBox="1">
            <a:spLocks/>
          </p:cNvSpPr>
          <p:nvPr/>
        </p:nvSpPr>
        <p:spPr>
          <a:xfrm>
            <a:off x="838200" y="223823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Lesson objectives</a:t>
            </a:r>
            <a:endParaRPr lang="ru-RU" dirty="0"/>
          </a:p>
        </p:txBody>
      </p:sp>
      <p:sp>
        <p:nvSpPr>
          <p:cNvPr id="5" name="Content Placeholder 2"/>
          <p:cNvSpPr txBox="1">
            <a:spLocks/>
          </p:cNvSpPr>
          <p:nvPr/>
        </p:nvSpPr>
        <p:spPr>
          <a:xfrm>
            <a:off x="838200" y="3302948"/>
            <a:ext cx="10515600" cy="122810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a:t>Learners can explain the terms validation and verification;</a:t>
            </a:r>
            <a:endParaRPr lang="ru-RU" dirty="0"/>
          </a:p>
          <a:p>
            <a:pPr lvl="0"/>
            <a:r>
              <a:rPr lang="en-US" dirty="0"/>
              <a:t>Learners can find the correct type of validation in situations;</a:t>
            </a:r>
            <a:endParaRPr lang="ru-RU" dirty="0"/>
          </a:p>
          <a:p>
            <a:r>
              <a:rPr lang="en-US" dirty="0"/>
              <a:t>Learners know how add validation in project.</a:t>
            </a:r>
            <a:endParaRPr lang="en-US" altLang="ru-RU" dirty="0">
              <a:latin typeface="Calibri" panose="020F0502020204030204" pitchFamily="34" charset="0"/>
              <a:sym typeface="Calibri" panose="020F0502020204030204" pitchFamily="34" charset="0"/>
            </a:endParaRPr>
          </a:p>
          <a:p>
            <a:pPr marL="0" indent="0">
              <a:buFont typeface="Arial" panose="020B0604020202020204" pitchFamily="34" charset="0"/>
              <a:buNone/>
            </a:pPr>
            <a:endParaRPr lang="ru-RU" dirty="0"/>
          </a:p>
        </p:txBody>
      </p:sp>
      <p:sp>
        <p:nvSpPr>
          <p:cNvPr id="6" name="Title 1"/>
          <p:cNvSpPr txBox="1">
            <a:spLocks/>
          </p:cNvSpPr>
          <p:nvPr/>
        </p:nvSpPr>
        <p:spPr>
          <a:xfrm>
            <a:off x="838200" y="437064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Assessment criteria</a:t>
            </a:r>
            <a:endParaRPr lang="ru-RU" dirty="0"/>
          </a:p>
        </p:txBody>
      </p:sp>
      <p:sp>
        <p:nvSpPr>
          <p:cNvPr id="7" name="Content Placeholder 2"/>
          <p:cNvSpPr txBox="1">
            <a:spLocks/>
          </p:cNvSpPr>
          <p:nvPr/>
        </p:nvSpPr>
        <p:spPr>
          <a:xfrm>
            <a:off x="838200" y="5595772"/>
            <a:ext cx="10515600" cy="80839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a:t>Know the difference between validation and verification;</a:t>
            </a:r>
            <a:endParaRPr lang="ru-RU" dirty="0"/>
          </a:p>
          <a:p>
            <a:r>
              <a:rPr lang="en-US" dirty="0"/>
              <a:t>Can add the validation to project.</a:t>
            </a:r>
            <a:endParaRPr lang="en-US" altLang="ru-RU" dirty="0">
              <a:latin typeface="Calibri" panose="020F0502020204030204" pitchFamily="34" charset="0"/>
              <a:sym typeface="Calibri" panose="020F0502020204030204" pitchFamily="34" charset="0"/>
            </a:endParaRPr>
          </a:p>
          <a:p>
            <a:pPr marL="0" indent="0">
              <a:buFont typeface="Arial" panose="020B0604020202020204" pitchFamily="34" charset="0"/>
              <a:buNone/>
            </a:pPr>
            <a:endParaRPr lang="ru-RU" dirty="0"/>
          </a:p>
        </p:txBody>
      </p:sp>
    </p:spTree>
    <p:extLst>
      <p:ext uri="{BB962C8B-B14F-4D97-AF65-F5344CB8AC3E}">
        <p14:creationId xmlns:p14="http://schemas.microsoft.com/office/powerpoint/2010/main" val="2059337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p:cNvSpPr txBox="1">
            <a:spLocks noGrp="1" noChangeArrowheads="1"/>
          </p:cNvSpPr>
          <p:nvPr>
            <p:ph idx="1"/>
          </p:nvPr>
        </p:nvSpPr>
        <p:spPr>
          <a:xfrm>
            <a:off x="838200" y="798513"/>
            <a:ext cx="10739438" cy="5729287"/>
          </a:xfrm>
        </p:spPr>
        <p:txBody>
          <a:bodyPr/>
          <a:lstStyle/>
          <a:p>
            <a:pPr marL="0" indent="0">
              <a:spcAft>
                <a:spcPct val="0"/>
              </a:spcAft>
              <a:buClr>
                <a:srgbClr val="000000"/>
              </a:buClr>
              <a:buFont typeface="Arial" panose="020B0604020202020204" pitchFamily="34" charset="0"/>
              <a:buNone/>
            </a:pPr>
            <a:r>
              <a:rPr lang="en-US" altLang="ru-RU" sz="3600" b="1" dirty="0">
                <a:latin typeface="Arial" panose="020B0604020202020204" pitchFamily="34" charset="0"/>
                <a:cs typeface="Arial" panose="020B0604020202020204" pitchFamily="34" charset="0"/>
              </a:rPr>
              <a:t>Validation</a:t>
            </a:r>
            <a:r>
              <a:rPr lang="en-US" altLang="ru-RU" sz="3600" dirty="0">
                <a:latin typeface="Arial" panose="020B0604020202020204" pitchFamily="34" charset="0"/>
                <a:cs typeface="Arial" panose="020B0604020202020204" pitchFamily="34" charset="0"/>
              </a:rPr>
              <a:t> checks that the correct </a:t>
            </a:r>
            <a:r>
              <a:rPr lang="en-US" altLang="ru-RU" sz="3600" b="1" dirty="0">
                <a:latin typeface="Arial" panose="020B0604020202020204" pitchFamily="34" charset="0"/>
                <a:cs typeface="Arial" panose="020B0604020202020204" pitchFamily="34" charset="0"/>
              </a:rPr>
              <a:t>type</a:t>
            </a:r>
            <a:r>
              <a:rPr lang="en-US" altLang="ru-RU" sz="3600" dirty="0">
                <a:latin typeface="Arial" panose="020B0604020202020204" pitchFamily="34" charset="0"/>
                <a:cs typeface="Arial" panose="020B0604020202020204" pitchFamily="34" charset="0"/>
              </a:rPr>
              <a:t> of data is entered, whereas </a:t>
            </a:r>
            <a:r>
              <a:rPr lang="en-US" altLang="ru-RU" sz="3600" b="1" dirty="0">
                <a:latin typeface="Arial" panose="020B0604020202020204" pitchFamily="34" charset="0"/>
                <a:cs typeface="Arial" panose="020B0604020202020204" pitchFamily="34" charset="0"/>
              </a:rPr>
              <a:t>verification</a:t>
            </a:r>
            <a:r>
              <a:rPr lang="en-US" altLang="ru-RU" sz="3600" dirty="0">
                <a:latin typeface="Arial" panose="020B0604020202020204" pitchFamily="34" charset="0"/>
                <a:cs typeface="Arial" panose="020B0604020202020204" pitchFamily="34" charset="0"/>
              </a:rPr>
              <a:t> checks that the data is actually the </a:t>
            </a:r>
            <a:r>
              <a:rPr lang="en-US" altLang="ru-RU" sz="3600" b="1" dirty="0">
                <a:latin typeface="Arial" panose="020B0604020202020204" pitchFamily="34" charset="0"/>
                <a:cs typeface="Arial" panose="020B0604020202020204" pitchFamily="34" charset="0"/>
              </a:rPr>
              <a:t>data you want</a:t>
            </a:r>
            <a:r>
              <a:rPr lang="en-US" altLang="ru-RU" dirty="0">
                <a:latin typeface="Arial" panose="020B0604020202020204" pitchFamily="34" charset="0"/>
                <a:cs typeface="Arial" panose="020B0604020202020204" pitchFamily="34" charset="0"/>
              </a:rPr>
              <a:t>.</a:t>
            </a:r>
          </a:p>
        </p:txBody>
      </p:sp>
      <p:sp>
        <p:nvSpPr>
          <p:cNvPr id="2" name="AutoShape 2" descr="data:image/jpg;base64,%20/9j/4AAQSkZJRgABAQEAYABgAAD/2wBDAAUDBAQEAwUEBAQFBQUGBwwIBwcHBw8LCwkMEQ8SEhEPERETFhwXExQaFRERGCEYGh0dHx8fExciJCIeJBweHx7/2wBDAQUFBQcGBw4ICA4eFBEUHh4eHh4eHh4eHh4eHh4eHh4eHh4eHh4eHh4eHh4eHh4eHh4eHh4eHh4eHh4eHh4eHh7/wAARCAEfAjI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LooooAKKKKACiiigAooooAKKKKACiiigAooooAKKKKACiiigAooooAKKKKACiiigAooooAKKKKACiiigAooooAKKKKACiiigAooooAKKKKACiiigAooooAKKKKACiiigAooooAKKKKACiiigBGZVG5mAHqTWPe+J9GtZTG915jDr5a7sflWN8SY5Vjt5luWWM/I0W/APocd64iuGvipQlypHZRw0Zx5mz1TRNestWmljtd4MYDfMMZFM8YrHN4eu4y6Bgu8AsOxz/SvJNWur+z0y4m0+6lt5tnLRnBK5GRXCrqV9PexSXN5cTEOD88hPesvrl4cslqarCWndM9EopByAaWuI7DU8KIsmv2u5lUBt2ScDgV6nvTaW3AqBnINfPvjKVotJG1irNIACDg96x/DOsa0upQ29vql2qMcMvmkgrjkV1UMSqStY5q9B1He57yvjLSN7LIZkIJH+rJBrW07VdP1Bd1rdRue65wR+FeR06JmWVWRyjZ4YHGPxq442d9URLBwtoz2eiq2lxvDp8EckplcINzk5yfrVmvSWx573CiiimIKKKKACiiigAooooAKKKKAMbxHqVzp7wm3jMu4HKDqeaRr6628MAcccVF4p/wBfB/ut/MV5lB/wlM1uEjn1Rbg27i9dwNiy5+XyuOefTPFeFHEzeLrUnLRWt92p3xpRdOLselWuqXjSFHce3y1NPqF4IiyOAR/s15lY32vW/iCJtXivUtw00MvlxFlZgqBXGAcAkMR9a3dGh1kW+tfa7q5lMO6CyJXG9NgYP7tl9v8AwCssJOs6cqM5u6vrfUupSgmpJHSf2vff89B/3zR/a99/z0H/AHzXm9pL4mtbpRfLeyRWrQCRlTPmqUl3EAc9SgI9hVG9j8Xm3umhnv1ZrVQgAGVbazZHvlVX8a8X2mLUnF1vxZ0KlT/lPVv7Xvv+eg/75o/te+/56D/vmvKrlvFQv79oZb91xcBECEBPkOwgkYPOMAGluovEs0Vomn3d4xCTNMzho+QBtHK8nrgd/Wj2mK0/ffiw9lT/AJT1M6xfAE+YD/wGtLwxf3N/byyXKlGUgBT2615boza2PFUbSyahLZvEN6zRhET92nzDrnJ3ccEHPHevT/C33Lj6r/WuvK6+IeMhGdRtNPr5MxxNOEaTstTaooor7E8sKKKKACiiigAooooAKKKKACiiigAooooAK+ff2hviX4u8I+PIdK0O+igtW0+OYq0Ksd5eQE5Psor6Cr5M/a5/5Klb/wDYKh/9GS1tQSc9RMyf+F6fEb/oLQf+Ay0f8L0+I3/QWg/8BlpfDvg+x8V+G/DV9p9vHC0OofYtZZSfuH5xI3oNqsM+9XbXwHovjG51PVNHuJdLt2ef7DbpakwqkQONzsRktj+EGur932JKP/C9PiN/0FoP/AZaP+F6fEb/AKC0H/gMtbUfgvS7rQ7RrWytY528Ki8kZ0Lb5skbhyMH3/SqN74H8O6R4V8TQfb21DWtPhthJvgKrA8nJ2EE7uuDx2pfu+wFP/henxG/6C0H/gMtH/C9PiN/0FoP/AZa19M+E+jpLot5d6veS201/Fa3UL2nllt67htyc4PTJAPfFLq3w60y/tDbaFcwJG/iV7ETy25WSKNYndhnccqNvTHJovT7AY//AAvT4jf9BaD/AMBlo/4Xp8Rv+gtB/wCAy0yz+HGl6tdaVLoviKWXTL67ls5J5rXY8UqIzH5cnKkKec1g+NvC9houj6RrGlapLqFnqPmoDLB5Tq8bFW4yeMg1SVNu1g1Ppv8AZw8Xa54x8I6hqGvXCT3EOoNCjLGFwgjRsYHuxr0+vEv2O/8Akn+rf9hZv/RMVe21xVUlN2KQUUUVmMKKKKACiiigDy79pDxdrng3wnp2oaDcpBPNqAhdmjDZTy3bHPuorwf/AIXp8Rv+gtB/4DLXrX7Y3/IhaP8A9hZf/RMteHeAdGsfEfhzxDpaWqNrcMAvLGTncyocyRgd8qDXbRjHku0SzX/4Xp8Rv+gtB/4DLR/wvT4jf9BaD/wGWtS4+H2kXxi02NmtP7FsIW1W4t4/MlmuZuQoBIGFzg88YrKl+Gulafp+sajrHigQwafei1h8m2837QWRXToeM7sEdqv932EL/wAL0+I3/QWg/wDAZaP+F6fEb/oLQf8AgMtdbpvhLwpYWfia61G3tZbu1TTo4kNoTFD54+8Bv5LHOeeMZ71z3ib4e6LZ6xqd1rGsrpNkNQWxtRbWhdfMMe/JG7KqMdsn2pJ077D1Kf8AwvT4jf8AQWg/8Blo/wCF6fEb/oLQf+Ay03wf8MrfxB4eub7+2J4rlFneFRaHymWME8uxHJA7A4710M/gXwuk2mQ6XKJppvDrXsq3FuSGbGRICG4Oe3am/ZroLU4C++Ini6+1Eahd6q804OVLKCF+g6CpP+FkeLP+f6P/AL8itS7+HVlFZXNrDrrya9Z2Ed/cWpt8RCNwDtV88sAwPTHPWpPEXw30/TdC1W6tfEEl1faXb21zPA1rsQpMuQA2TyPpUOjh29Yr7jRVZrqanww8U614k1m80/VLhJYRZM6gIF+bco7fU0sqmKdl6FWIrlvhDq1jo/iG7ur+UxxGzZQQpJLb0OOPoa1td8TWk+pTzWNtIY3bI8zA5+gzXg5jSUa7UFZHpYad6d5M9csX8yzhcd0BqavI4PiFq0FtFBFb24WNQoJBJNCfEXXATmO2Yf7prj5Gb86O08eSfLawj1Zj+mP61X8D2++9luCOI02j6n/9VcTqfjK81GZJLq2iyi7cISK6Twb4w0W2t2gu2ltpXbJZlyv5ik4Mamj0KsDxnfeRYi1Q/PN97/drWtL6zu4DPbXMU0YGSyMDiuC1q8a+1GWck7c4Qeg7VJR0HhDx7rnh6RIxMbu0B5gmbPHseor1218faVqWgPe2DMLrhTA45Rj6+or56toJLidYYVLOxwAK9C0ixj0+zWBMFurt6mtqeIqQVrmM6EJu7R6h4X8URX4W1vSsVz0B6K/+Brpa8VaQRqZGbYF53Zxiu8+GXiKXxBp1y0h3LbSCNJD1cY6mu3DYhzfJLc5MRQUfejsddRRRXacYUUUUAFcvrXjbT9K1Oawmtbl5IsZZAMHIB9feuorxn4h/8jjf/VP/AEAVMnZG1CCnKzOx/wCFjaT/AM+d5+S/40f8LG0n/nzvPyX/ABry+is+dnV9XgenN4gtdfPm2sMsYh+VvMxznnjH0rn/ABnruqaZFaW+jwSzXDu0smyIyYiUZIx2z0zTPA3/AB7Xf/XRf5V0sDbZVb8DXx2Jr+xzOUntdfkjpUEqdkcdr3iPV49U2whmtLiaIWriLO1THuYH8wRV3wvrWqXFhdu159sEenrN5giA8uYgkpx1xgVa8b+Jm0XULGzhhikWQGS43KSVTIAxjuTn8qqt4mmtdM1e5jS3L2l6lvGp6MhMY3H/AL7P5V6dRexxUZJaS0b/AAX6Ga96mUtd8Q3clno01hqNurTKRduduFYLnByeDQbjXDda6q6o3l2dpFNbEQA7mZGY89+VFaXinX7i0v7uC2Wy8m0hhmAkB3XBdyu1Mdxj8yKxE8Xak8gRbGEDz47ViQeJXPT6AZz74rz8wotVbxgtfTun/wAD5mtL4Rlnq+uf2vY21zqMaxSWkcz70VCzt1Ayf0qpp+u+KJLG7lurpLZjGGt2kgyD87AnjOBgAc9KvWXibWLjSGvpLeyiLTJFHuU7Rl8Emtjwzqt9qN1cRXMNuIodyCWLO12WRlJGe2AK4qnuJtwX4f5GqLnha8ub7Qre5uwwmbcGLLt3YYjIHoQMj1Faq+JbTQPkuoJpDNyvl44x9T702uX8c/621+jf0rTJ5f7dFpW3/JmdWKlFpnV/8LG0n/nzvPyX/Gj/AIWNpP8Az53n5L/jXl9Ffb87OT6vA9Q/4WNpP/Pnefkv+NH/AAsbSf8AnzvPyX/GvL6KOdh9Xgeof8LG0n/nzvPyX/Gj/hY2k/8APnefkv8AjXl9FHOw+rwPUP8AhY2k/wDPnefkv+NH/CxtJ/587z8l/wAa8voo52H1eB6h/wALG0n/AJ87z8l/xo/4WNpP/Pnefkv+NeX0Uc7D6vA9Q/4WNpP/AD53n5L/AI0f8LG0n/nzvPyX/GvL6KOdh9Xgeof8LG0n/nzvPyX/ABo/4WNpP/Pnefkv+NeX0Uc7D6vA9Q/4WNpP/Pnefkv+NfN37S+sW+ufEOC8to5I0GmxR4kxnIeQ9vrXoNUdQ0bSdQnE99p1tcShQoeSME4Hb9a1o1uSV2RPDRa908c8MeLda8OWGp2OlzokGpQ+VcKy549R6HGRn3rS0D4ja/oui2+l2kdi6WxkEEssG6SNZPvqD6HJr0j/AIRjw7/0BbH/AL8ij/hGPDv/AEBbH/vyK6Xi6b+yZfVJdzzOP4heIo7UW0cluqLpv9mjEXIhzn8/ep9T+JPiC/06ezkh0+M3KRLczx24Es5ixsZm7kAAV6L/AMIx4d/6Atj/AN+RXJfEXwfCLWO/0WzSJo8JJDEuAQTwcD61UMRTlJKxE8NKKuZuo/FPxPeGMlbGFkuIrotFAAWmj4Dn1JHB+lR3vxN8RzPE1uljY+VqP9pKLeAKDPtKkn1BDHIrr/C/gzS7PSIo9RsLe6um+aRpEDbSf4R9K1P+EY8O/wDQFsf+/IqXiaadrFLCyavc84n+I2uNfWNza2+n2KWTvJFb20ASIyOCGcjuxBNYWpa9f6homn6PcNGbWweV4AFwQZGLNk9+Sa9k/wCEY8O/9AWx/wC/Io/4Rjw7/wBAWx/78ihYuC6D+qS7l/8AZg8VWWg+CtStrm3nkd9SaQGPGMeVGO59q9Y/4WNpP/Pnefkv+NeTafYWWnQtDY2sVtGzbmWNQoJxjP6VZrkqVeaTaNo4aKWp6h/wsbSf+fO8/Jf8aP8AhY2k/wDPnefkv+NeX0VHOyvq8D1D/hY2k/8APnefkv8AjR/wsbSf+fO8/Jf8a8voo52H1eB6h/wsbSf+fO8/Jf8AGj/hY2k/8+d5+S/415fRRzsPq8Ct+1B4qste8G6ZbW1vPG0epCQmQDGPKkHY+9eGeFtd1Hw1rtvrWlSLHd25Owsu5SCMEEdwRXueoafY6jEsN9axXMatuVZFDAHGM1R/4Rjw7/0BbH/vyK66WKjGHLJGM8Ld+6zy/SPHOtafq2pagyWt5/abb7uC5j3RyNnIOPY1BqvjLWtS0+9sbp4DDeXwvpQseMSAADHoMAcV6v8A8Ix4d/6Atj/35FSQ+EtBmzs0SxOOv7pap4ymtWifqku55bc+PvEFwmoJI9vjUPsvn4i6/Z/9Xj068+tXYPih4jW9vLq4h068a5uFutk9uGWKZV2iRB2OK9J/4QzRP+gHYf8Afta851j4e6mviwWNlbE2c2ZEfdwiDqCe3WiGMoTuTPCzjYZpfxQ8TafpqWUYsZdglVZpYA0gSTO5c+nNRR/EjXksrS3WGw821smsUuPIHmmAjG0n2rr08BFVUf2TZnHclTmpPE1toOg6NG114X037dLlYwIlKkjua5v7Uot/AzT6lJdTiLr4ha7caM2nvHZLLJbpazXqwgXEsKfdRn7gYFV77xxrl5HqcczQbdTggt7jEeMpEMJj0qpJDA8jP5ES5OcKoAH0FN+zwf8APFPyq/7Spfymf1WXco6V/wAfDf7n9RWnTI4o4zlI1U+wp9ediqyrVOZI6aUHCNmFFFFc5oFFFFAE1rd3Vqxa2uJIiRg7WxkVs6brgYiO8wp7OOn41gUUmkylJo9t8H6bHDarfMQ0koypHIC1vOyohd2CqBkk9q8a8FeKrzRbpLeRmmspGAaMn7pPcelekeI7fWL5jb28Spbg8/vAC5rGUbG0ZXMjxJrTXrm3t2K24PJ/v/8A1q9R/Z6/5AGof9fC/wAjXlP/AAjerf8APGP/AL+CvTvhBeQeHNJvLfVWMUkswZQo3ZGPatsLJRqJsyxMXKm0j1ais6HXdIljR11CAbgCAzgH8RWjXsKSezPKcWt0FFFFMQV4z8Q/+Rxv/qn/AKAK9mrxn4h/8jjf/VP/AEAVE9jpw3xMwKKKKyO03/DN1Hb2Vyv2qK3kZ1Kl+4xzXQ/2tpv/AD/Q/nXn9FeNiclpYirKrKTuzRVGlY9LTVdDkUvLdWhdkCOW6sB2PHSs+6fwu1w8gGnP5oAkPlg7hxweOeg/KuEorrrYCNWmoOT0tqZxXK7no8d34YVYdr6cvk/6rEY/d/Tjj8KqyXmhh2Cz2hHmeZwP4v73Tr71wVFTi8uhiYpSbVgh7rO0B8MhXUJpwEn3x5Q+b68c1YhvtFhx5M9rHhQo2jGB6dOlcHRXC8gpPeb/AANPaM9AOrabg4voQe3Ncz4muUuFtcXMdw6h9xTtyMVi0VvhcnpYaqqsZNtA6jasFFRPcQJ96VB+NOiljlBMbhgPSvVU4t2uTyvsPoooqiQooooAKKKKACiiigAooooAKKKKACiiigAooooAKWoL66hsrSW6uG2xRruY1wV78QLtpj9is4Uizx5uWY/ljFJySA9DorjvDXjZb68Szv7dIZJDhJEPyk+mD/jXZUJpgJRRRTAKKKKACioTd2wJHnJmj7Za/wDPdKV0OxNRQOlFMQUUUUAFFFFABV7Susn0FUantbjyC3y7s474rKtFyg0iluatFN0lbnUboRxQBYQCZJS/3fQAY5Nb/wDYtvj/AFsufXivOcGnZmlzCrzr40/6vTf95/5V3Xi25uNAlj3WnnwSfckEm3n0IxXmHxL1j+1Esh9nMPllv492f0oj8RM/hPI/F99d2uoRJb3DxqYgSFOOcmsX+1tS/wCfyb/vqtLxz/yE4f8ArgP/AEI1P4J8Lza3cC4nUx2KH5m7ufQV7FGK5FoeVUk+d6l3wTpusa3cC4nvJ47FD8zbuX9hXSeNdY03Q7b7PBbxS3zr8innZ7mpfFfiCz8NacthYIn2nbtjjXpGPU1wvhrRL/xRqj3FxI/k7szztyT7D3rTkj2I5n3LPhKz1vX70n7ZPFao372QH9B7132uz6PoOmedcxK5A2xqeWc1JqF1pvhXQxtj2RRjEcaDl2/z3ryLXtVvdZv2urosT/Ag6IvoKXLHsO8iS+17ULq7knWZoFY/LHGcKo9Kg/tbUv8An8m/76qG1s7q6P7iF3HqBxUc0bQytG+NynBwc1KdNy5Va5TjUUVNp27lr+1tS/5/Jv8Avqj+1tS/5/Jv++qpUVfJHsRzS7np2kszJZsxyT5ZJ/KvpB/vn61826SdtvaN6BD/ACr2lvFw3H/iXnr/AM9v/rV41Xc9alsdRRXLf8JcP+gef+/3/wBapLfxUJriOH7CV3uFz5vTJ+lZGp08X+tT/eFez157/wAIXqgmDRzWrx5BVixBI+mOK9Cr08HTlC/MjzsXOM7crCiiiu04wrxn4h/8jjf/AFT/ANAFezV4z8Q/+Rxv/qn/AKAKiex04b4mYFFFUtb1XT9F06XUNTuUt7aIZZm/kB3PtWTdjtLtFeU3vxw8Pxz7LXTb6eMH75AXP0BOa6zwh8QPDXidhDY3nk3R/wCXecbXP07H8KzVWDdkx2Z1VFFFaCCiiigAooooAK5+/vJZpWXcVQHAAroK5y9t3iuzEFJLH5PfNebmbmoLl2OrCqPM7kmi2P8AaWqQWPm+V5rY34zjiuu1Hwza6PArxXjTS7gXQkDA7HHWuj8O+HdPs9JszNbIbyI+YZP4txqxrFrCRPd3Vw4h+z+WY8cA5yG9c9q58LRVNqUtx1qrlotjhaKWqurX0OmaXdajcHENtE0r/QCvaOQtCg18Z+OPjJ4z8QalK1pqk+mWG4iK3tm2/L23Huab4Q+LXxF027X7Pql1qkS43W9wDIuP5ircLK7MFiIt2SPs2isPwFrsviXwpZazPZtZyzr88JOdpHWtyoubhSgE9BmqOvalb6Pot5qt0cQWkLSv9BXx946+MPjLxLeS+VqU2m2GSI7a2baNvbcR1NVGLZnUqqG59hX2qadY39rYXl5BBdXZIt4pHAaTHXA71dr4n+G3g/XviFqNxJDrQhax2s0s8rs43Zxt/KvsHwfaXth4bsrLUdQfULqCMJJcMMGQjuahzgp8l9R05Smua2hrUUUUywooooAKKKKAMnxNaR6imn6ZNL5cd3fRRsc44zzWx/wjPwy1XUBY2tuwnhiYlYN4DBepJIIJ+lc545hvnh0y6sY9xs7xZnO4DavHNeyaW2nmKO8ggt28xPvQlSOevPeufERtZhGWrR5ndaN8P9Q0K5h8P2yJf2qLMkrI6uNrdy2B6irIV1VRIpDbRkH6V13jCwWTQplsLeKNpHj81hhSIw4Zv5Vy93Iss7OgIToufSihfXsUyGiiiugkKb5kef8AWJ/30KdXMTJJ5z/K33j296iUuUpK4skErSvhM5Y4596abeYHBjINV7y7XT0W4nDABhgd2PoKxrrxPJNdPKtsFVmzgtXJOrCG7NlFvY9Fjkj2L+8Tp/eFSVwOm6zb3cixNmKQ9ATwT7V3kX+qT/dFdNKqqiujKUeUdRRRWpAUUUUAFFFXdLAJkyAeBUVJ8keYaVzV8Pavpmm6JczXl1HGsMo83HLLuHy8DnnBxU3/AAnPhv8Asg6st3O1oJxbl1tZThyDxjbnt1rn/DzWml+MtWk1cxRWupxwC2eTHll492VJPAb5hj1wfSvQFhsfs32ZbWPy2bdwF259cVy1Er83cabON8ZX1r4i8F/btKLXESyhtxQqQB1ODg9K8W8V/dt/qa+i9ZW3t7RIo41RdxIRRgHivHPjNGiR6bsRVyz5wMdqw+0VL4Tyw+GZNd12KaYlLKKICRh1Y5J2ius1fUtP8OaUkaKFYDZBAgyfrXO6j4mj0LSHhhw97K5ManoowBuNZ3g+z1rxZIWmlWG1hb9/dn7xzztX3rrryqqhH2fzfl5HNho0nWftOmy8/Mbovhu68XeI5Li4gmtbJV3PIw+Z/Ye/P5V6HqM/h7wfoyJIFjiChY405Zz3P/16j1bVdO8N6ZFHAfKiiXZDGD80h715Fr17c61qUtzeTE84hXPyqvYCojCUIpTk1pt1LnOM5OUIp679DU8R+KLfVhItw0kqBxsRV2gqO3tVOTXdPkiKfZWjydvyqPufWsGZI03Lh9w79qBGuIjhjvUnA9ckVH9m4eSTld633/rsaf2niYu0bLS239dzp31LT5rNIbdo4Y2ymxiV2+h461m32h+XAJYJCVAJZ5CAG+mMms5UjTdIhy0eGAboaW81K8u+Jpjt7IvCj8Kzo4GpRmvq8rR63NK+Pp14P6zC8raWGWdstwJC1xFDsGRvP3j6VX71t2FrpU1mk0m7eoIkQP8AMT6gelYr7d52ghc8Zr0KFf2lSa107o86vQ9lThLTXs/6selaZ/x62v8AuJ/SvQCRk8iuB0f/AFVl/wBs/wClfRrwQ7j+5j6/3RXn1dztpbHl+R6irGnEf2hbcj/Wr/MV6P5MP/PGP/vkUCGEHIijz/uiskantcX+qT/dFOrym11zVoxFCl/MEXCgZ6CvVq9mjXVW9keRWoula4UUUVuYhXjPxD/5HG/+qf8AoAr2avGfiH/yON/9U/8AQBUT2OnDfEzArxb9p2e6WPR7dXYWr+YzqDwWGMfoTXtDsERmPQDJrhPilpln4r8LzWscZF7D+9tmI6MOo/EZFctbWDR3x3Pmm2tbi53+RE0mxdzYHQV1/gfSbeHXNJurh5g5nRiFOMc0vh+3k0+xMUibZWz5g7g1qaXaSX2qWtrD/rZJVCHGdpz1r52eJk5qMO56MKEVG8j6NkdY42kdgEUEknsK8+n+IV3danJbaLpkc0UQZmklYj5V6tx0Fdtc200uiyWbyb5mg8suBjc2Ov515T8PLeH7brGjXX7u7mt2hj3cHcCcj+Vevi6tSM4Qi7X/AKsctGEWnJ62Gat8RNeu5c2jx2cXZUUEn3yeat+HPH3iNpxDNa/2mvcRx4cD8P61U+F3gqTxX4zXRrpngt7clrtlHIUHGB7mvpHwh4D03wRa6mmgF5ZrptyNOwyoA4Td1xXm4d4mpLn52l/XQ3qyow922pw+i6lb6tp0d9bbgj9VYYKnuDVyruu2EWn6xdJDEkYkfzCFGBk1Sr6CDbir7nA7X0CuVk+JnhfRfFcVtfWb38MRxLPHz5LeoH8WKrfF/V7rS/DCx2cxhmupRGWHXbjnH6V44dPjZQfMbceSTXsYDLqdeDnV1XY8HNMzqUJ+yo6Pqz7Z0LU9N17TI9T0W9ivbSQcPGckexHY1g6zr1rdWUlskDljwC3Y+tfJ/hjxJr/g3VheaLfSW0mQWUcpIPRl6GvcfBniY+K9I/tSVI47lnInSP7qt7e1cuMylYZ88XeJ0Zdmv1p+zkrSNqs/xLp66t4d1DS26XVu8f4kcfrWhTZJEiRpJGCqoySa4721PWtzaHwEdHuIfEjaLcqY5o5zFICMEYPP6CvQLXQrDSbqV7HfiWNRy2cfQ13fxM0GDUfFE/iG106FHkwHkjzlyOjEdjjjj0rL8O+FtY183A023Vzb7fMDNtxnp/KvFxmLliGo0X7v5no08qqYJc1eNuzPVvgLfNceDWtJf9baS7W5yOeRg16FWF4D0P8A4R7w1bae+0z43TMB1Y/zrdr1aEZRpxUtzgqNOTsZXjDSv7c8K6po5JH2y2eIH3PT9RXxHoHhPUtS8cxeFWhZLr7SYpgRjYFPzH8v6V93XM0NtbyXFxIscUalndjgAV5foXi74bXnjq7vrqw/sy/lxDHrGMpIv+2vb/eHbrWrc1B8i1OWrGDlHndje8N+BvDfhK6e50C1MDXMEcc2JCQxTPzY7Ek10uio8MbRFty7ic4xjPardzot5DDHcp5dxZyjdHcwtujYduRTbSDyQ+cEsRnFeThqdZ1uadz0pypqnywJ6KKK9Y5AoorT8OWMd/fGOZSY1XcQDilJ2V2MzKK3/F+n6bpOjzanuaGOHBfJyMV4J4h8WalqV3IbeeS2teiRo2OPU+9XQj7ZXiY1q0aW56dqerabp8eb26jQH+HOSfwr0LwfpGn6foUVxpNq0NrfAXIyTtJZRyM9OnSvlSFmd2Z2LMepJyTXpWp+IvEt78EtPi0rVGtI9Kv/ALNcqj7JJA53RHI5wCWH4VWJo8lNu4Ze3jcTCjpG/Vnofxe8TL4TstOW+gmEF+zjeo5G3b29Pm/Sua0rWdL1SBZbG8ilBGducMPqO1ecfHHW9Y1HWdK0vWLxbqfS9Pjjkdehkf5mP12lB+FcnZkrDGykhgOCOorWnhk4LuctTFSp1ZR0aTPoKivKvBXiDUIdbtba4vJZLaRtjK7Z69Dz716rWVSm4OzOqjWVVXQUUUVmanIfE2GRrO0mUfu0cq31I4/ka5vwvoNxr9xNb20qJJGm4Bv4jnAFdJ8QdRU2TacIZC25WL44Arq/g14Naztxr2pB1lmTEEJOML/eNeRiYqVfQ6qbtDU4xvhz4ktb+yhuEjia5kZY3Q7wpUbjkjp+NdrErpEiSNudQAx9TXoGuXz2OnSTwLHLICF2s4Xgnk/h6VwbsXdnbqTk114SmoJ2MaknLcbRRSgE9ATXYZiUUUUAFW7CWKHzGlkSMYHLHFc1418Q23hnQJtSuPmcDbDHnl37CvnDWvE+vaw7tfancurk/uw5CDPbA7USpe0i0ZVK6ps+ztO0mDWkSO4tIb2yl/hcBlf6etdTFatCEtY4Cm0BVjC9AOgxXA/s+3nm/C3Q5R/yxUrx7MapeJ5/HC/tD2Udrrmyylj+0QRb8ILZRl1K9CeDWVbCqnGNm9TbL28ZOabUeVN6+R0XiS6a3mu5tQxaw2hbcXOAqL/Ea8l+Kuq6Zqlvp0mm6hbXaBmyYZAwHHtXffFG4d/BXiS6b5nNjO5z3Ow18cRSyRNuikZD6qcVpVwMYtOLOGGMk01JHc3Xh2417X4QMx2scQ82X/gR4HvXY6jfab4U0MKqiONRtjiB5kb/AD3riPB/jQabZXFvqSvN/HEw6k4+6a5nXtWu9Zv2u7pv9xB0QegraEeWKTMZyvJtBrusXmsag95dOcnhEHRF9BVSEybD+9KIOpqKnxybAQVDKeoNE1daBB2epIFkfbGsu5WbaOeKWCKYqZI3I2Lnj0NME5UfKightwI7GnLdMu7aqjIAGM8YrFxqWaSNoyp3u2RNJIwwzkim0UV0JJbHO23uFFFFMR6Zo/ENkTwMR/0r6FfVtL3H/iYW3X/noK+edM/49bX/AHE/pXoJ6mvDq7nsUtj0T+1tL/6CFt/38FKmqaa7BVvrdmJwAHHJrzmp9O/5CFt/11X+YrNGh6h5MsVyI5InR1YBlKnINeyU2H/VJ/uinV7FCh7K+u55Vat7W2mwUUUV0GAV4z8Q/wDkcb/6p/6AK9mrxn4h/wDI43/1T/0AVE9jpw3xM56ZS8TqOpUgVxHiK6i0p/JupkTPUj+VdzXk3xVPmTeZ1Am/pXk5lUcKWhnmF6rp4XmaVR2bW9rN/iQ3elaTrCPLZyIko6tH6+4rtfCei+H7OG0uooIxexxhWc5yWxycV5Z4Odk1tFViAykMPXivSNHk23sanoWFeXgakVUTktzzfrNbJ8fHAVKrlTkla+6vpv2udrXEeIPCc+qeNLW/tY1tokKtNID8zkemO/au18yP++v51qaBCs12d2MjpntXqZrWp0MLKrUV1HX/ACPqaHNz2XU1fAWjaRo91d30cYi1C9I85s8EDoB/Wug1XWrLTZfJuC+8ruAUVlTWjIhZWzj2rH1uEyx/aMlnUAEk54r5XKOI1iKyo4hW5no13fc6a+F05osy7ud7m5knkYlnYnk1DRRX3ZwHmnx43fYdL/u+c354FcAPuj6V6t8Y9Ne+8J/aIl3PaSiQ/wC70P8ASvKV+6PpX02WSTw6Xa58fnMHHFNvqkZurn98g9BXc/ArUWh1y70xm/d3EW9R/tr/APWzXBamc3bewAre+Fkxh8c6eQcb2KfmMV14yCnh5LyOLA1HTxUJLv8A8A+gq57xjIWWG03lVbLMB3roa5bxe2NUt855jI/Wvz7NJOOGlbyP1TJIKWMjfpd/gc/cWwRCynI7g1N4Jht7DxB5kZaMTrsKA/KT2OKkmXdEw9qzo3ZHV0JVlOQR2NfL0a8sPUU4n3NWl9YoypS6qx6hRVTSLv7dp0Vx0YjDfWrdfbQmpxUo7M/M6lOVObhLdHkX7Qeq3KNp+jQzukUyl5lU4D84GfavNX0q3K4BdTjsa7X9oAH/AIS7T2xwbYf+hGuaPWuiOx5VZ++y34K+IHiTwW76bDfSS6VIw8+1c7l25BJXP3T9K+hrG5hvLOG7t2DRTIHQ+xr5P1g5vn9gBX0B8E79r7wHbIxy1s7RfgOlKaNcNLVxO2ooorI7ArZ8IS+XqwXs6EVjVV1TxAvhm2/tXyRM0bALGWxuJ96UouS5UDkoq7PQPGaaa/he/wD7YjMlksJaVQcE45GD65r5NmKNM7RqUQsdq5zgdq9B8afFTUvEWkS6XHp8NnBNgSEOXYj07V580brGrlSFb7p9a68FQlSi+bqeXi60aslyhG+xs1Yu766TR5rWGUi3ldHkT1K5wfwzVZcbhnp3qyyq8JT+EjFb1qanFxfUMDipYTEQrRV3F3MiSSfU717m6mLyNjcxPJwMD9BVxVCqFHQVmQpILnYuQynk1qVpFWRyyk5NyfUfDI0UySpwyMGH1Fe6adcLdafb3KnKyxq4/EV4RXqvwyvPtPhwQM2Xt3KfgeRXPiY+6mdmCnaTj3OpoooriPSNCDQdOuvJurq2E8q/Mu4kgH6dK6C3uZrfAU/L/dPSobM4iRf9kfyqaRdymvyDEY2vUxEq6m73dvLyPajCKio2OY1JZFu5PMYncxbPrmq1bWswGSESKOU6/SsWv0nJcw+vYSNR/EtH6r/M8yvT9nNroFdNFpdx/wAI8i2qJ50x3SE9SvoK5odfWu70fU7S8hiijkRJtuPKLDcceg716FZtJWMkcNNFJDK0UqlXU4INRswVSzHAAyTXn3xs+JraT8Qvs+gzxXkMEYjvI2GU8z2Yd6wfEnxYs9R8HXEFjBNa6pOPKKNyqqfvMG78fStoJySZhKtBNq+xyHxY8VyeJPEDRQNjT7QlIAD9893P1/lXG0UrqyMVdSrDqCK3SsefKTk7s9t+AHxYtfD1rD4V1yHZZNIfs90gyUZj91h3HuK9N8SabqMvxo0zV45m+yLp7srDoF2lSPx3ivF/2a4/CcnjVh4iwb0BTpqy48ovzuz/ALXTH4+1fT3i9lg0Wa6wA8S4U4554x+eKqaThzS2Wv3G2ExM8PUkoLWacfv0PNfFGoTatbX2lyv/AKFcBomVeCUPBGa4P/hXvhn/AJ9Zf+/prqycnJ6mivkp42vKTfO/vPoI4SjFJcqOSk8AeF442ka2lCqCxPmnoK8d1A25vp/silbfzGEYJz8ueK9w+IN+2n+FLyRM73Xy1x2z3rwgdK9fK5VJxlOcmzysxjCElGCsFFFFeqeaFFFFABRRRQAUU6JQ0qKehYA12o8N6Xgfu5P++6zqVYw3NIU3PY1dJG6CzX1EY/lXuTeE7Hcf9IuOvqP8K8SskWOW3jX7qugH0yK+jX++frXj1dWepS2Oe/4RSx/5+Lj8x/hToPDFlFMkqz3BKMGGSOx+lb1FZmp2tr44URxxyaeS+AGKyYGfYYrtK8Yi/wBan+8K9nr1MJVlUvzM83FUowtyoKKKK7DkCvGfiH/yON/9U/8AQBXs1eM/EP8A5HG/+qf+gConsdOG+JnO3P8Ax7yf7p/lXlPxBjYacSwORIDXrNcR8WbXzNIMsa5fbzj0BH/168nM6fNR5uxOOh79Gr/LOP3PT9Tznwd/yHI/90/yrvY/vr9a888LSGPW7c9mJU/jXpWmruv4F6/OK8Kgr2R83xhTk80p+aX5s07ZZPtEfytjcO1d94dP7xvXcKx60NDk2Xe3+8OPrXpZ9Qc8uqxj2v8Ac7n3mHl+9R103+qf/dNZDKGQq3QjBrWl+aBv92sqvyWm2tUerHY5uePy5njznacVHU16c3cv+8ahr9vw0pSowlLdpfkeHNWk7FXWVWTSLxXUMphbIP0rwCvoO/TzLG4j/vRMP0r5+mXZK6f3WI/I19Jk70mvQ+Zz9e9B+piX4xdvWt8Pv+Rz0v8A67is3VRi6z6qK1Ph4rN410sL188V7FZ/upejPAw6/fw9V+Z9FVzfjWEj7LcgfdYqa6SszxQqnQ7gsAdoBHsc1+f4+mp4ea8r/cfqeVVXSxdN+dvv0OUcZQj1FZnTitNDlQfas+4XbK31r4yaP0Sm7HdeFV26HB75NalUtCQx6PaqRg7Aau19vho8tGC8kfmuNlzYio/N/meUftCaazQ6XqqqSI5DC59M8j+tefnrX0D4x0uHWPDV7YzjhoyynHKsOQRXz8QQxVuoODXZB6Hj4iNpX7nN3zbruU/7Ve0/s5zF9B1SDPEVwhx6ZU/4V4tertupB/tV7F+zd/yDdc/67w/+gtTnsTh/4iPWaKKKxPQCuK+LQk/sq0Zc+WJju+uOP612tVNX0+21SxezulJjfuOoPqKunLlkmZ1YOcHFHiVlbTXl3Ha267pJGCqK6Dx5YR6XJp9jGciODk+rdzXe+HfDGm6I7SwB5pzx5snUD0HpXHfFj/kNW/8A1xrrjV55pLY8+dB06Tctzjakhk28HpUdFdByCyRKkrOo+/zmkpckrjqB0pKEAds12nwovPL1a4smbiaPco9xXM2SJJpGobly0YjdT6ZcL/Wp/CEzQ+J9OdWI/fqre4PWs6i5otGtJ8k4s9pooorzT2jpLKTdbxP7CroORkVkaKxa1IPZuK04W/hP4V+PY+j9WxlSl2bPbg+eCkQagNtvMenynFczXYSxrJGyOMqwwaxrzR2XLW7ZH9019HwzmGHwinTqys5PTscuKpynZoyK57xx4bk8Q2cJtdQm0++tmLQTxsRjI5Bx2PFdEQQSCMGhVZjhVJPoK++TPNaTVmfNHifwH4o0aaSS5spLuIkk3EH7wH3PcfjXKurIxVlKsOoIwRX3DpHg7WtRAc232eE/xTccfTqal8V/Bfw3e6BdT31pFd3qIWVggUjHXBHOcVqpPscVSnBPRnyR8J/DX/CReJkM6brK0/ezejY6L+NYPio58S6l/wBfUn/oRr6Y8MeG9I8NWcttpNu0SSHc5dyzMcepr5n8Ug/8JJqZwcfapP8A0I0Rd2FSnyQRnIzxurxsyOpyrKcEH1r6E8CfELVvFfgwaVqil57ORVa5z/rlAOAfccV89V7X8MbWKw8J27O6LJcEysCeRnpXHmVVwoNLroa5fTU6yb6anV0+GN5pkhjUs7sFUAdTUHnw/wDPaP8A76FavhXVNN0/Woby9ZXjj5G1h8p7Gvmoxu0mfQylZHenwvpdj4S1GG4to55JLKQzNIN3IQnj05r4ZiyY07kgV9b+Lfi3ol3o13Z6EktzLKHgaR1KqvY9eteBR+HdPjvRcLuwDkR/w5r6LCzjRTR4WKi6rTTOK8mb/nk//fJo8mb/AJ5P/wB8mvTMD0H5UYHoPyrb635GH1bzPM/Jm/55P/3yaPJm/wCeT/8AfJr0zA9B+VGB6D8qPrfkH1bzPM/Jm/55P/3yaPJm/wCeT/8AfJr0zA9B+VGB6D8qPrfkH1bzPNoIZfPj/dP94fwn1r3P4ZafY6jq9xDf2sdxGtsWVXGQD61yuB6D8q7T4R/8h67/AOvVqh1faTWhcafJF6nHREiVCOoYfzr0lta1bcf+JhP19a82hGZYwOpYAfnXqDeHdW3H/R16/wDPQVw1Oh10+pX/ALZ1b/oIT/nU1jq+qPewI99MytIoIJ6jNL/wjurf8+6/9/BUtnoGqR3kMjwKFWRWP7wdAazW5oz37/hEdGkcTeXMhbDbUkwo+groqzbXWtKkt4mXULcblGAzgH8RWlXu04wXwnjTc38QUUUVoQFeM/EP/kcb/wCqf+gCvZq8Z+If/I43/wBU/wDQBUT2OnDfEzBUbmCjqTiqGv2Fle38WmtNM0yxSSNGqf6wBSdqk8AnHerks0dvE08riOOMbmYnAArndf8AiNZ614OOlWcdxHdLLteXYAjKM8qffivOxUZ1HGnFX5tPTz+R0YvDxqYWcqkbwVr/AKI9a0vwr4OtfC8Gn2+g2gYKCZGjBY+5brmvPDoul2V8szG4gAumigViH81Qfv8AHQV1t2zR/CK5ljd1ddHkcMGIIPlnnPWuS+Gv9o+F/Adt4m1CM39jewFYFt13SREZOGJ7E8Y9a+fwinUlUaV3C2i0vZ/mTXwdLESpTqRu76X6dTRuYjDM0ZIOOhHcdjTBeW2n/wCnXkyw28PzSSN0UeprL8N+IIPEViL1HHn/APLePujd+PSuP+N+syWmiw6TC+1rwky4/uDt+f8AKvrKOG+uRVFv4lZ/dqa46pLAKUqi1j08z3ywuIbyxhureRZYZUDI69GB71xdx478Jwag9jLrEK3CSeWydw2elZf7Ouvaj4h8J3thdRrGmnKkFtMg55Ddc9SMCvnrWJLq18W3M2pb3uYrwtNkYLENXyuVcAe0xFalip2UduV6/PS2xzYziF0qNKrSj8W9z6WdtzluuTmm02B1khjkQ5VlBB9sU6vqYxUUorodd76mB8QtVOjeEL68Q4l2eXH/ALzf/WzXiULF4kckksMknua9W+NltJceBZWjPEE6SuP9kZH9a4L4deF9W8ZO1noqxSSwIGl8x9u0E4zXpZVXjTrSjN2Vjxc7oyqU4OKvqcrrq8xOPcVqfCxGl8d6b1O1y35Cug+Lnw/1DwXpWnz6pfWcs91KVWGFiSoA5Oe4/wAax/g2Ffx/ZpwWEcjY+imvNzKopY1um9HY7cspyjhYxqLVX/M+ga5L4m6n9m0hNNh/196wUc4wuetdbXknxUunfxUY8kC3jQL9euf1ruwFJVK3vbLU4s/xM8Pg37P4pNRVt9ex1vhLS7C7EenPfXElzAreaRHhXIBO1Se/QZ+te1WWg+Fz4Yjsf7Ht3d0G93QFjkc5avnbxR8Sop/hBH4ftluYNU3hZ5lQKjLkkkEdzx+VeyaAzR/BSORXcONFkcNvO7d5bHOetfC42NWliXZW520vRvdbfI+jliqrwUKdZ601Zq/VLZ76233EvNP0+1ti6vJFEr+XFg7gw9RWdcxGCZoywbHQjuPWs/4Ya+NL8Fw3N1FNcolu21Ixuf1wM1W8N+IofEdl9sDAXP8Ay3i7o309K+hpRrUa86NR3S2ff+uupz4ZSxGFjiYx0dr+V0bmn2MmpXS2cY5kBBPoMda+bvENqbHXr+zOf3NzInPsxr61+HEKm8uLg9UUKPxrx/xr8I/FOreOtXvbWK0tbCa5Lxz3E2xSCATj8c12wl7zRx4m7aOC8P8Awc8V+L9G/t/Rmsnt5JGjCPJh8jGf5133ws8D+IPA9tqNt4gt0gkupUeII+7KqCCf1r1/4MeF5vCXhBtLl1S31HdcvLvhUhUJCgrnPPSoviI3/E0gX0iqXUblboFGFpJnMUUUUzrCiiigArzP4sf8hq3/AOuNemV5x8W0UajZv/E0ZB/Ot8P8ZzYz+EziUUu6qOrEAV22heEdPu5byDzLu8vLSMMYUXy0kbuoY+n1rz37bsmIC5weCDXpN38TLWb4ZR6AizwavuPmTqgClcnkEc5Ixn6danH1KycIUd2/u8/T7jlw2Hcqc6zXux6+b2R7noPhjwjD4Pt7BNCtizxqztKgZjkZOW9e1eLeLPBuhafBeXeb+0jjvDDCFxL5y9SwA6AfyzXqvhs7PhJFJGzAjSpXDBjnOxjnNeN/CnxzB4Yu5m1iOe6tWgYRhFDOjMQTgnnBxzXzuBqYubq1ISu4NK3e1/x+86qkad4Qa3MGexk01dXsjIsg8iJldejr5ikGs7SJPK1W0k/uyqf1q/Y3F54hvdUmw891OhbaByfmyAB9K9U+E/gO2Tw5eXviDSj9sdmWNJhyijuPevp/rCjSUpO7djnqYOrCu6UlZxNI9TSUifcXr0ptzL5NtLN18tGf8hmuU9G5xfi/xvq2kasbHR7qNERR5u6JW+b8RWG3xF8WM2f7QQfSFB/SuYvJ2urua5c5aVyxP1NQ185WwuHrVHUlTTb8keLPHV23yzaXqen/AA+8beIdS137NfXyyx+WzBDGoyR9BXpljrUfnr9shymedp4FfP8A4Hna38V2DL/HKIz9G4Ney10UMqwVWKcqaumengcVVlTd5Nnfm20zUIgfLilQ85Xg1s6nceHPBXhG68STWHlQWkXmNhd0h7AAnuTXmei3rafqlvdr0RwWHYjvXsPiTSNP8V+FLrSLvcbO/t9pZDhlBGQR7jg17VCnyN66E4qTsjyvxd8R/G03ii/j8J2djHp2i6bFqV5DeoRNcRuMlR/dIFeuaDqVvrnh+z1WDm3vbdZlz/dYZrzvw/8ACtLKDXZPGHieXWX1W1jsnlCfZtluhyq8McngZPf0ror3xh4Y8M6SlnZlWt7SIRokfCIqjAGTXQ2kcsISm7RVzj77RrWLV7q1/eswbciYwCrcjn6GtHU/CHgq40AaafDNlJ5hPmuIV3HPVt3XNczbfES28W6dfNZ2VxbFZSiueY2UHgqfpisn4rfEHUvBelaUNHt7e6uTYm4njnBICYUBuCO+78q+TxU8XKVov4m0vlbVdvI96OCm6ns5q0krv5K+pwviD4XafB58Wj+FZ/sEEzpc3VzcEuqEcSRnOMIRyD1BrwO4RY7iWNWDqjsob1AOM13fhz4oa+3hTxB4ecRSx6k8lwzuWZ495ywTngdOK87W4jx1I+te7gYVoOUarva3/DnlYmjy04VEtJX/AAdiaimCWM9HFOBB6EGvQOM2dN1u402zSCKGKRWy2Xzkc+30qx/wll7/AM+tt/49/jWHL/q4v90/zNXvD2jXetX62tqpA6ySEcIPWs/ZQerRp7SS0TOg8PalrGtX62trZ2+BzJId2EHr1rrNfi0zRdPN1eXUu7GEQYy7egqZm0jwXoWBjOOB/HM9ecTS6t4v1wAAu7H5VH3Ilpexp9h+1n3NHSNZ1bVtQW0sbGBmY9Tuwo9TzXdT6XZ2dibm+vGjEa5kYYC59s07RdL03wtpDOzquFzNO3Vj/ntXnHjTxNPrlyYoyY7FD8if3vc0exp9g9rPuSX3iphdyCyt0a3B+Rpc7iPU4qD/AISy9/59bb/x7/Gufoo9jT7C9rPudFH4qvGkVTa2+CQP4v8AGvWfhhfWdjrFxLe3MVujWzKGc4BPpXg8H+vj/wB4fzr0gTQYH76Lp/fFc9aKptOKN6MnNNSZYtv+PmH/AK6L/MV9Fv8AfP1r5zgbE0bDkB1P15r2RvF6bif7Pbr/AM9R/hXBU6HbT6nqfh63062ikN1b+c7L8pbnFZGt2kMZaWIBfUDpVbwRr2m62kzW7BL2MhZ4fMLFR2PpzVDxP4i0u01EaXaMlxdtKEuUEh3RHI6g14FKtWliFTfT+tf0Oh0pRu7Mli/1qf7wr2evPP8AhDdVWYNHJbPGCCrFyCR9McV6HX12DpyhzcyPLxc4ytysKKKK7TjMzW/EOh6Iu7VtWs7LjOJZQDj6da+eviH8RNEvPFN7JoKz6wXZQhgQhMhQOSf8K9r8TfDnwj4k11NZ1zS1vblUCbZHOwgdMrXnfi7S9O0vxNd2unWNvawx7AiRIAANgrCopvyR7OClgaaTlGUpW1WiX6t/geZnSvEfinDa3INN07O4WsZ+d/r/AJ/Cuh+Bvh7wxqniu70nV7Pz/KQtbIXwpweQQOvFbA6ivP8ASNYm8O+O4tWhzm2utzAfxIThh+IJrTDU7N9zmzrGzqxhFpKCey2/4L82fRt5plldGXR5IALKbNu0S8Dy24IH4GmeEvD+ix/DdvDuiammp2tsZI45gQdrhidpx3B4qaK/tHnTUzPHHaEiYys2FVOpJJ6AVyXwxvLfQ/jH4l8L2M0NxpWrxrrNi8DB0Vn++MjgA9a8DIoJyqya1uTiZtKKT0PMdd8JXEOpSap4fuP7P1AE+ZEeI5D3BHavMviTJrGoapAdWtVtbiKLZtB4fk/MK+nviRpgsPEUk0a4iuR5g+vf9a8Z8Q+DtW8ffFOy0LTPkiitVkupyflhj3HJPv6Cvo8DCUa3NCXLa/mjfH5hTrYRQxVP2i0Ss7SXz8vNM2f2V9Tt7bTdX0q6kjgk85Jo97gbwQQQM/QVyf7RvgfW9E8W3XiF7QvpGoMJIriLlVYj7reh/SvoG/8Agd8PYtGj3xT2LWkGZbyKcozbRku/b1rzLTPD/hnxNcz+F/DPxT1JTcKQlnqFs6pcL0+QuMMPpzV0sXVo4qVdxvfe3/BOarl2X4nCRoU6zhbbmjf8Y3/I09F50ezI5HkJ/KpruUw2zyqASoyAaoeI/APxG8H6aklvq+nX1hCoUMY2ygHQEYrk5tU8aSQtFJHp7hhgkcYrz6lbV3TPZpYCMorlrQfza/NIs/EG/kvPBeqW7RoN0PX0+YVxH7Os00fxW0tIrholkEgkUMQJBsJxjvzz+FbWpx+KLrS7uKa3tPJ8lmk2tztHXFcT8PrTVrzxXYL4StbubVlkDQGMfc7EsegGDyTXFUblJM1eAUd6sF8/8kfSX7QHhKPxN4Hnuox/pmlo1zEQOqgZZfy5+oFfN/wPkhg8fzXl3KkMUVvJ87nA5GMZr6PPw38eatMtr4i8cXYjlwssEEfygHqPfvXl1j8N7vQPifqnh7xFaLPYwWwuLOZVIS4UuBn688iiEJ8ydgVLBw+Otf8Awp/m7HQal4406Nzb6VDPqlz0CwqdoPua868btqtzrAuNYt0tppYgyxqei5IGffivZ7GwsrGIR2dpDAg6BFxXmHxd/wCRli/69V/9Cavby6gqtblqarseBxHmywGBc8DHllde87OS9OifmtfMj+FngOT4geIH0cyNBarA7zTAZ2cYX/x7H4A19KaB4d+x+GLXwrqEiyhbf7HO8RwGU5UkZ9jVX9mbw5p+jeBRfw3VvdX2osJbhonDeWo+7GcdMcn8a1fG1xdWmk61dWLSLdQ2s8kBjXc4kVCVKjucgYFeNxXKMq1KUVs7HmcOUJ08JJVHdz959dX/AFqY1x8MZ9C01LfRZmvLeIHCScSAfyNeW+I/B91b6o+paLK2makDl42GEkPuO1dv8M/ij4z1bxdZaTe6dBrWkbFjn1XTIWKrK4ym8HGzGDuFev8AiTS9JvrGWXUoE2xqW8wcMv416dWn7R3Z6+Ax88HZU9rWt0t2a6nz14F+I0vhu9lt/GGlXVqjKFNzAm+MEdz6D6ZrtPF/ivw3r3hlX0rV7S5JlUhQ+GAwex5p/g2K1uNelgkhSaB43wsqhsgdM5qXxB8IvButM72+mHT7t84ktHKZb1I7159anJpxuet7fA1KilOLg/LVfc9V95n/AA31d7S+axc5t5gWA9GA7fWpfGdwbjV9xGMIABXKaF8HvGVprvl6drl9pflbsXLAMvTHHrmtHxD8PfirYQveReINN1UIPm3xtvx64xWeFhUgtU7FVsNhZVL068de91+jX4iUVyLN8QYzgx6ZIfY4x+dJ5vxAPH2fTV993Suz2nkw/s5/8/Yf+BHX0orkPs/xAm4a/wBKgH+yhJqN/DPiW7GL/wAVTbD1SJcCjnfSILA018daK9Lv8kdXd3lpaKWurqGEDrvcCvLvifrmnahe240+4Fx5SFXKg4Bz611ln4B0ZGD3st1fN/01kO0/UVg/FCwsrH+zobO1igi2N8qLgda1o+0lNW0/EyxLwFGm271P/JV+r/I80LAfd60ixyzErHG8jY6KpJ/Srs1mrEmM7T6dq6L4UxOnjSNZE48l+oyO1dypqknLd9zxMRjqmMcabtGC2itEv835vU+gfD6snwZRWVlYaNLkEYI/dtXyjBczKi/Nngda+xL8f8UDfKo/5hs+B/2zavjZQVUAjBAr5/h3WVf/ABf5hj1y8i8j0z4F2FtfeKP7Surqa1WzYH910ckcA+2a9s8Z+PdC8P2wW4knmeUYHlRFlT3Y9AP1rxf4Hf6jVP8AfT+VejyRxyIUkjR1PUMMiu/EUIuo7aHp4XFOpCDxF5JK2+tvXUoadrmkagga01C3kz234P5Grt2gksp1PKtEwP0INYOp+C/D985kFobaUnJeBtpJ96zJPBt9ZxyNpfiS9hG0na/PbpUNzW6O50MFUXuVXHykv1X+R5tKoSV0XorED86bTJVuFlcGRWIY5JHU5pB5/wDsGvJaPnnlUX8NeD+bX5pGz4Q/5GnTP+vpP517XXhOgf2h/bdl9jEP2nzl8rf93dnjNekfZ/iBN96+0qAeyMTXbhJWi9D0sDlvJB3rQ/8AAr/kjr8Zrok+IU+kaJFYmS1hMKkebK/OPpXlT+GfE12MX/iqYIeqRLgVNaeAdHRw97NdXzeksh2n8K6lOfRHc8Hg1/FrX8opv8XY0PE3xMS9nMcU93rFznAjhB2A+/b9DWGNH8QeKHWXX5fsFgDuW0iPzN/vV19hp1hYRiOzs4YFHQItWaORy+JlRxtLDq2FhZ/zPV/Lov61IbK0t7Ozjs7WNYoY12qo7Vw3jZW11vG2pN88Oj6JHaxnsGyvT8Q3513Go3Mdnp9xdyttSKNnJ+grB0zTWh/Zz8UalcJifVI5Lhyeu3eoA/TP4152YyUHT73S+9oMPJww1es92uX79X+C/E+X/Dsoi1OLd91wUP40y/sZ4rydI4JXRGPzKhIx9aYIXidJI+dpDY78V9B/C57OX4b+IHaKN5REzncoJAKHFenWn7Kalbc4cPBYnL5R605X+UlZ/ikfOdGSOhIqxdw7WZ0HGTkelVq6jxTsdM0O51iTTba0j2hrYNLIeijceTXo7NpPgvQcDGew/jmf/P5Vk+FNXs9E8DRXl0RvxhEH3nOBxXHTS6r4v14AAs7H5VH3YlqYbFS3CeXVvF+ugBSzscKo+7Etem6Jpem+FtIdmdVwu6adurH/AD2o0TS9O8LaO7M6rtG6edurH/PavN/GniefXbny490VlGfkTP3vc1RIvjTxPPrlyYo8x2SH5E/ve5rnKKKBBRRRQAUUUUAel6Z/x62v+4n9K7+SRUVnYjCgk/hXA6P/AKqy/wC2f9K9o+J9xDp3hC+kjhjEsuIY8KMlmPavEq7nu4Kk61SNNdWkV/2bgZ5PEGosPmnljwfYbsVl+Po49O+OCMqhUv44mY+r56/oK9D+EelppHhi3tAoD+SjSHHJY5PP51yfx8gNveaXr0SjfY3EZdv9knv+OPzrxqb/ANvl6f5HuQqxr42pBbTTivu938kfSsX+qT/dFOrybTfEWrNb2/k6hL5RVdo9q9Zr62jXVW9kfGVqEqT1CiiitzEK8Z+If/I43/1T/wBAFezV4z8Q/wDkcb/6p/6AKiex04b4mYI615d4kXbrd4AMfvDXqFeZ+LV2+IL0AYG/j8qvDfEzLNP4a9T6H8HW0F54a0u0uokmt5rdI5Y3GQ6ngg+xFdL4N8DeFfB5mk0DSYLOSYASSDlio6Lk9h6Vx2k38mleAbfVIkR5LSw89Vf7pKqSAcduK818M/EDxZ4u1i9k1PUGS0SMbYIfkjUk9OOvHrXgZEnau/7xvXXM4R8j2P4p3mk3NgkC3Ub30L5VUOcA9QcdK+WPFPjHWvCnxZn1XRLpoJrYRxuufllTaGKsO45r2AdRXzj49n+0eMtVl/6eCv8A3yAP6V9dlMVUqy5lpY8zOm6OHiovW59lfD7x34e+LXg2+00P9mu5rV7e+tCcOgdSpZfUc9a8v+Inw88VWOjaVpd5Lea7LYK8Hh+TSrNllhl/5ZvPKBhVX6+9fPPh3W9U8PavDq2j3klpeQnKSIf0PqPavsz4IfF7S/HtklheFLPXok/ewE4EuOrJ/hV4zAul70NY/kcuCx6q+5PSX5noek2902gWttrHlz3X2dFuuMqz4+b9a8V+IXhfTNP194tKuQsbfM8PURH0r0/x54nTSLY2dqwa9kHH/TMep968mkd5JGkkYs7ElmJySa8eok9D3sNGS94wb7TWt9LvnMobNrIvA/2a9G/ZdsfBUfw9gvPC8ateN8moSSYM4lHUN6D07Vx2pLu065X1hcfoa8N+EvxA1D4d+Mv7Rt8y2UkhjvbbPEkeeo9x1Fc7nGlNNrQ6KsHUjZM+vPHXxAurPxPF4L8JadHqniWWLzmSdvLgt4/77t3+gqr4J1aT4meE79NY06Cx1jTbt7SVoW3xiRT1Ru6mqfxP8LWfxS8DW3ibwffeRrUcBk0+8hfYzKR80TEc4PI9jXVfB+zSy+H2mQL4ebQJBH++s2HKv/ESTycnnJrt0aPNTcWeYajZ3Gn3stpdRlJY2wR/WvIfi5/yMsP/AF7L/wChNX1R8UNNsJtM+3yTJBdR8Jn/AJaD+7Xzd8WNDMlpP4i+0qq2luAYSOX+bsfxrfBVYYerz1HZWOTPMNWx+B9nRjeV1p/w5xfhvxJrfhu9W90XUZ7SVTn5W+VvYjoRX1f4a1prrw9Ya/q0iKWgW5uXC4UAcscemBXxO2sJtP7lunrX134aT+0PhDbRKfL+06Q6AnnbuRhmvG4nx2Exao+xldqWuj2OPhzLMwwDqLEQaTWiunr8mekeB9O8L2OktN4ThsksLyQ3Ba1IKOzdTxWH8VtYMNpHpMLYeb5pcdl7D8a8x8FPqHhbTLe0s7590Q+Zl4Vvwq7qt/calfSXl026WQ846D2FejUkrtR2Pew1GdoyqKztqvM0/AzbfEUXOMowr1bSBFliT+87A+leR+D22+IrX3bFemKSpBBwR3rlcuWdzWsrmrrx1JdFvDoywtqPkt9mExwnmY+XPtmuV+HXjmTXJptB8RaedF8TWi5uLKT7si9PMiJ++h9q6S21ONdsdywUsdqt2P1pviHw/pWvxwDUIC7QSrLFJG5R1KsGADDnGRyOhrqjNSWhxSi1uYnjHwZDqW6804LBddWXosn+Bry+7t5rW5e3uI2jljO1lYcg17L4v12HQtMMmQ1w42wp6n1+leNXU811cSXE7l5ZGLMx7mona524dya12IqKKKg6Argvi8p2ae3bLCu9rh/i6v8AoFg/P+uYf+O1rQ+NGGK/hM85rpvhmf8Aiqox6wv/AErma6b4Z/8AI1x/9cX/AKV3VPgZ5dD+JH1Poq8/5EW8/wCwdN/6LavkC+j+VJB6YNfX95/yIt5/2Dpv/RbV8kzpvtce2a+b4c3r/wCL/M7cx3ieg/BFSNO1BuxlX+Veh1wXwVTGg3cmPvT4z+Fd7Xq1vjZ0YZfukFIyhlKt0IINLRWZsU9M+EPh/ULQXbX98hkYkqMYHNS3PwY8Ow28kp1K/wDlUntXceDJN2mun9x6ueIJNmlyerED9a8ypBRk9CI4Si/snjkHgfSdHvItQW4uZWtz5iq2MZHStb+17b+7J+VWdau7fM1u0mHKbeRWDDbec+yOVCcZrppe7BcprGjCDairI2INTgmlWNVfLHAyKu1zln5cVzHI0y4U5OK2o7+1kcIkmWPTitoSvuEl2LNFFFaEnL/FC6MHhZ7dTh7qRYfqCea7Tx5YrpvwE1KxQYEWkqpHv8uf1rg/Gq/bvFXh/Szyhm86Qf7IP/1q9K+Lf/JHte/7Bw/mtfP5s269L/Ev0PTxD5MDTp9+aT/JfkfEY6V6T8LtZWz0PXLWVwEn06VVBOMuBkfpmvNh0rotI3w+HZbmPqWkjz9Vr38Sk4r1POyV81SpS/mhL70rr8Uc8eSaz5l2SstaFVb1eVb8K6TyEdS2m3mqTaVYWqlmNqpPovJyTXpeiaXp3hbR2Z3Vdq7p5m6saqeDntbDw0L26KRBI1DSHrt2g4/WuC8Z+Jp9cujHEWjskPyJ/e9zUU/hRU/iDxp4mn1y68uItHZRn5E/ve5rnaKKsgKKKKACiiigAooooA9M0fiGyJ4GI/6V6d8R7601TxJoOjRXULweebichwVwPu5/I15hpf8Ax62v+4n9K6G0X7V4yupuq20YX8T/AJNeJV3PqMo92U6v8sW/nsvxZ9B+Ebq1uDcC2uIpQoXOxgcda5v4uLZXmk6lp01xCkr2wZUZwDuHK8fUUfB37+p/SP8A9mrO+I0ay+OEif7rpEp+hJrxaf8Av8vT/IwpVHSmpro7k/w4vDfeEdKmLb3Eaxuf9peDX0LXkX7Nkz2dr4k8MSfKdL1Nwieityf1r12vqsJT5Y3vucec2WLnFLS916PVBRRRXWeUFeM/EP8A5HG/+qf+gCvZq8Z+If8AyON/9U/9AFRPY6cN8TMEda8w8US+drt4/bfj9K9NdtqM3oCa8lvpPNup5P7zsf1rTDLVswzSXuRie+3P/JJLj/sDyf8Aos15b8KbcR6HPcd5Zv0HFepXP/JJLj/sDyf+izXA+A4fI8K2Yxgupc/jXz+SO0K3+I7mrzg/I3Gbapb0BNfMWuyedrd9L133Mjfmxr6auQ7W0qxjLlCFHvivD4Phf461CaWS20J5F3nLedGOp92r6/KatOm5uckttzxs9pVaqgoRb32RxNWNNvrzTb+G/sLiS2uoHDxSxthlYdxXa3Hwh8dW6hrjS441Jxkzr/SoB8L/ABVu2mO0X6zf/Wr2fruGenOvvPAWX4rf2b+49h8Laleav4estS1C4e4up4g0sj9Wbua0qzPCdhPpfhyxsLnZ50MQV9hyM1p18lVtzyttc+6opqnFS3sjE8d6mukeEtQvCcMIiiD1ZuB/WvmnJJyxyT1PrXt/x4kK+FLePdgNdDI9cA/414hXmYqV52N47Hrf7O3xck8B67Fous3Dnw9fSbX3HItnPRx6D1r688Q+KtN0qwWdJkuZJUDQojZ3A9Dn0r82NZ+7H+NfWXhtGi8O6bC5YmO1jX5jkgAdK2wlWVnExq0Iyakb2t6te6xdm5vJSx/hUfdUegFeWfHTWBa+HotKjbEl4+X/ANxf8T/KvRK8Q+PcjHxXbR/wraKR+LNU4+bjRdup04aC50jza7k8u2kf/ZOK+2Ph7/ySbSP+wZ/Q18R6kN1vt7E819u/D/8A5JRpP/YM/oa+WxC0h6nVX3OeorL1W9nt7kRxlcbc8iqn9qXfqn5V9i6iTscKizufBds1x4ggYcCHMh/CvSK4P4Rs1xbXl1LjeGCAgdq7ys5O7Oar8VjD8TXTRQSbf+WaE/jWP4T8aXWmf6Pfb7m17c/On09queL2xbXX0ArhanDPWUvMtQUo2Zo+IdWuNZ1J7y4OM8Ig6KvpWdRRXSaJJKyCiiigArjvizHu0K2f+5cZ/MYrsa5n4mx7/Ccr45SVD+bAVpSfvoyrq9OR5PXS/DUgeKos/wDPJ/6VzVdF8Ov+Rqg/3H/lXoVPhZ5NH+JE+i5jnwFdk8/8S6b/ANAavlFPuL9K+qwc/Dy5PX/iXT/+gNXykTiDP+z/AEr5vhz4q/8Ai/zO3MN4+h6d8Ho9nhZ27POxrs65f4WR+X4LtSRy7M3611FenU+NnTQVqcQoopVXcwX1IFQana+FLZrfSlZusp3fhUXiq4xHHbj13NWzbqEgjQcAIB+lct4ok3X0v+yuK82b5n6m9M4K8s7ye6lmMX32J60/TrK5iud8keBtI61s0V3KmkZuTOdGm3mP9V+tTWVjdR3UbvHhQck5rcooVNBzMWkoorQg5CQ/aPivCp5FrZ4Htnn+tek/Fv8A5I9rv/YOH81rzWL938WZN3HnWa7PwAFelfFv/kj2u/8AYOH81r5/NP4tH/F+qPTzHSNNf3F+v6nxGOldxo1nG/wxmvAzGQal5ZXsFMbHP5iuHHSu40S4WP4Y3EO7DNqQbHsI3/qRX0GK/hnm5D/v0Pn+TOIPU1FcjMYH+0KlPU/WmOpeWGNerSAfrW/Q8nqdL4turiOG004SEW4hWQoOhbpn9K52t/xwManCB0EA/wDQjWBUUfgRdX42FFFFaGYUUUUAFFFFABRRRQB6XpWPs9pnptTP6V6J8O9Bt9SbWb2SaVVN+8UZGMlV6E8e9ec6fxY25/6Zr/KvXvg583hWRzyzXUhY+pzXiVdz6fB6YOs/8K/N/od74B0mHS2vPJkkfzAmd+OMZ9PrVPxbotvd+I1vnllV1VMKMY4P0rd8NdZ/+A/1qtr/APyET/uCvFp/7/L0/wAjl6HLfDzxH/ZHxn8VeZbF/wC0FWcorYAYkcivoOvl60O344T7ed1hHu9uK+oa+owU5STTFnkEqlOS6wj+SQUUUV2nhhXjPxD/AORxv/qn/oAr2avGfiH/AMjjf/VP/QBUT2OnDfEznpl3QuvqpH6V5JcrtmlX0Yj9a9e68V5RrCeXqV0nTEhrTDPVnPmi0iz3i5/5JJcf9geT/wBFmuU0q3+y6Za23/PKJV/IV22nxLP8O4oW+7JpxU/Qqa5Kvm8mf8Vf3j1EtIvyCuo8DyfJcR98g1y9dD4IP+mTj1QV61b4GWtzR8Vt+6hT1YmuPkOXJ966jxbJ+/jX+6hP5/8A6q5Y9axwy1bNKnwoSiiiusxPN/j7/wAi9Y/9fB/lXi1eyftA/wDIG0z/AK7v/IV43XnYn+IaR2M7VgZJIo16nI/Ovr60UJaQoowBGoH5V8lwR+f4j06DjD3Ea8+7AV9boMIo9AK0wn2gnsha8Z+P9tt1qwu/+ekBT8if8a9mryf9oLbt0s5+b5+Pbinj1egy8M/3iPG73nYvrX3J4aiNl8M7KIDmLS84/wCAE18RW6CbWLKFsbXmjU592Ar7sgiH/CIiAH5fsRTI9NhFfNYqPuQfmb1n7x5Lc3S3EnmSQ/NjHDUsqwJBFIIiS4ORv96v/wBjRf8APZ/yFSSaZG8UcZlcBM4OOtfV8kjlujtfg46tpt6qptAlHfPau8rjvhZaLa6ZdKrlsy55HsK7GoascdR+8zkvGLYtZ+erAVxVdf4yb/RpPeQVyFGF+F+ptDYKKKK6SgooooAKxPHUfmeFL5cZwm78ua26o+IIvP0O9i/vQt/Kqi7SRNRXi0eH10Xw7/5GmH/rm/8AKudrf+H7bfE8B6/I/wDKvSqfCzxaXxo+h7Vt3w1nI6f2dcf+gvXynMdtoT/s19U6ed3wwlb1024P/jr18q3Cs9sI1+8+FH1NfN8O/FiP8X+Z24/7Hoe2eBoTb+D9LjIw32dSw9zWzUVlEsFnBCgwqRqoH4VLXot3dzuirRSClzjn0pKKQz0exkEtnDIP4kH8q47XpN93cN6vxXV6M2NHtnPaPJritQbJPqWJrzor94l5m8fhbKdFFFeiYBRRRQAUUUUAcd49WbTNV03xNBGXW1Pl3AH/ADzJrv8A4ialY6t8EdavNPuI54X00HKnOOV4PoaoSRxzRtFKiujDDKwyCKw/iV8N9L0rwTqmu6RfXlmkdr5stmHzFL0yPYc14maQj7Wk27a/5HqQqUMRQVOtLllFNJ2urdn10PltAWwFBJ9BXSWtndx+FLyV2Kww4Yj0ZmC4+vNZY1PYv7m1ijPrXRad9pn+GWuXLrvQXEKs2ehLDt+FezUc5WurK6OGjPC4OMnRnzzaaTtZK6131bscbU2lR+drthH2MwJ+lQ1oeFY/M8SwZ6IjN+Nbzdos8WCvJF/xz/yFIf8ArgP/AEI1gV03jGzurjUYngtppVEIBKISAcmsT+zNR/58Lr/v0aijJci1Lqp87KlFW/7M1H/nwuv+/Ro/szUf+fC6/wC/RrTmXcz5X2KlFW/7M1H/AJ8Lr/v0aP7M1H/nwuv+/Ro5l3DlfYqUVb/szUf+fC6/79Gj+zNR/wCfC6/79GjmXcOV9ipRVv8AszUf+fC6/wC/Ro/szUf+fC6/79GjmXcOV9jv9N5tLYf7CfyFdd4K1S+09tQ0yG7kiMdwz7RjkHvXJ6arCC1QqQ2EGD68V3WteC/EC341TTYFW5Xh4zIuJB+deNV3PpstlCUJ0Ju3MlZ9Lra/4o9N+FN9d3j6h9quHl2iPbu7Z3VQ8d6heW/jOO3junjgKxblyMcnmuW8EeMNS8MyXkepeFNVaSXaP3URI4z3/GqviqXxV421tpbPQbrSLaREjeW6GxgvcjPXr2ryYUprGObWlv8AI3WWVvttRXe6t+evyO2+GWm6Z4t+MnifWbdZF062iSCEo2ASPQ17/XD/AAs0Pwz4L8MppunalDKZm82WWVwHdj6j26V3FfVYeCjHzPDzXERr1/3d+WKSV+yVvxCiiitzzQrxn4h/8jjf/VP/AEAVpfE/4yWvgfxMdEl0GW9YRLJ5q3SoOR0wVNeReI/i5aatrNxqC6JLCJdvyG6U4woHXb7U5UpyWiNaFWEJPmZ1NzKILaWYjIjQtj6DNfN9zr+pX+r3l1cfaVeWVirBGxjsK9X/AOFlWnfSHI7g3C4P6V0lv8dLOC3jhTw1KFRQoC3qqB9BtrzcdRxPIo06bl6NKx1xxVLmT5tPS53Vldy2vwlW+CeZLDpDShSD8xCE4rhPDHiTTtejxbM8dyozJA6kMv8AiKVvjxAOV8LTE/8AYQUf+yVVPxqt5rkzyaHfR85CDUVK/wDoFeNgcLmWEcrUea/95I2+s4aWjnb5P7joqxYfH8Phnxytjexk6e8IWZwOUYnIb6Yrn5fibbSSvI2kMpdixC3AwCTnjjpXH+MdYt9e1JL2K3+zMIwjBpA27B69q+vwuHjKVq60aPFzbFVlQUsG7yTXzR9J6rcabqumf2vY39tNBHGWd1cEbBySfpXGz6lp0d3Bb/bIS1wpeH5hhwPQ/jXhNrcXFoZPst48HmKUfy5Cu5SMEHHUU/zoTp8NqYYlaOQuZlY7yD/D1xj8KunlVGEm1U09DhefY+UVH6tr6/1/wD3yivMvD3jqPS9NW1uLe4vHBP7x7gZx6citH/hZVr/0CZP/AAIX/CuaWHmm0tT3aWMhKClLR9uxlftAk/2fpa9vMc/oK8eZlUckCvSPiTraeLrS1hhi+xGB2Yszh92cccYx0rgpvD9wFyl1FI3oeK5pYCc5czKljYLSOpnWlw9tr9lqEUYlNtNHKE/vlWBx+le76F8WfDt8RHqCTabNnBEgyoP1ryTw5BrOga5Z6zp8lmLq0kEsRkw67h6gjBqW7sbjWNbvdU1qVBNdyGZzbFVG8nnjGAPpW1PCciskYvGSb3PpCwvLS/tkurK4iuIH+7JG2VNfNnxq8Xz3HxLvNPn3ixsQsMa+jbQWb8SfyArvPAXiS18K6VJp6wT3cbSF1LTKNvt0rj/Hel6X4m8S6lr3k+RPdRRCFC4IjlTALNj7wIAGKJ4R1IuMlozR4xJKUXqcnIjz2/2q3SVgo3BlQ9ufSvt7wXdPP8LdNu7mQlm0zc7MMdFPJ/KvN9H+OH9naPZ2H/CLbzbQJEWiv1jQlQBkLsOBx61Yi+PStIPN8IyIvdhqaN/7JXylfLcfNpKk7J90dksfRnu/zN0KxAO1sfSkrn5vjRZSXXn/ANjX68g7Bfrt/wDQax7n4n2s1xJN/Y7pvYttFwuBnt0r6DC/XKjarUeX5p3Mp4jDpLlnf5M9z+Hf/IKnP/TX+gq54n8XeF/DNv5+v69YaenYSzAFvYDvXyf4+8ZeLtaEdt4c8QXGgWO397FFJ8zt671wRxivI9U8Ga1c3huJNSivppOZJppDvJ9yck11fVJN3ZxzxEXLQ+jfHn7RPgk3YtNMhvtRjEuZJ40wqr6jPWr3hb4h+EfEZSPT9XhW4bpBKdjk+gB6186eH9K8TaJpmr6faro0kWq24gnaZVd0UMGyhIypyOopdH8EQwLBc3F/NDeROHBidSqsDkEZFXDC8kbRQRxbR9aUVwMXxJt1jVW0uRmAAJ+0Lyfyp3/CyrX/AKBMn/gQv+FL2FTsdP1ql3O8org/+FlWv/QJk/8AAhf8KP8AhZVr/wBAmT/wIX/Cj2FTsH1ql3O8rP8AEOp6bpGkXF7qt1HbWqqQzOeuewHc1yf/AAsq1/6BMn/gQv8AhXnnjrUNY13x1pHijStShsDpLLJbW1xH58YkH8RU/KfypqhPsTPF00tGZbeJvDrMWXWLRQTkBpMEfUdq6b4d6lZXXiSA2k63HyP/AKsEj7p/wry/xB4H1DXPEV7rt/rdl9rvbl7mYRWmxN7NuOFBwBk9K+m/DvxotdL0Cw0yTw+zta26Qkw3QRDtUDIXacDjpmjF1sVCK9lS57+aX5nDSjS5rylY9D0uRf8AhU7zN8q/2VOxyOg2Oa+UrDWtF/tDT2mv41iWeNnbBOAD9K95/wCF7WWc/wDCOT5/6/V/+JqpP8arWW6E/wDZGoJyDsXUF28f8BrwMDDMsG6jWHvzu/xJWO2bw9Zx5qlreTNq1mhuLeOe3lSWJ1BR0OQRUleTeFPGH9jy6vJc2cUi3+oSXcUNs3lR26uc7FU54rd/4WVa/wDQJk/8CF/wr3lQqNK6KWKpdzvKivZvItJZv7ikj61xH/CyrX/oEyf+BC/4VHP8RrSaB4m0qTDqV/4+F/wqZ0KvK+VamlLFUFOPM9L6+h6v4B8X2V7YR6fqEyQXaDaNxwsg9ven+IbSGzmRGnTZMSYst1PpXhC+IbMj5kce2QasN4pt5IUhlmuGijOURjlV+gzxXzlOOY00lKi211Pq69PJq1RzpYlRT6f5Xseow3EMzOscisyHaw7g1JXld74stPtxuLG3aFT/AArJjH4nJrWT4k2yoqnS5CQMZ+0Dn9K9rCLFVE/a07fr8t0eDj5YGjJewrc3yenz2fyO+org/wDhZVr/ANAmT/wIX/Cj/hZVr/0CZP8AwIX/AArr9hU7Hn/WqXc7yiuD/wCFlWv/AECZP/Ahf8KVPiZaq6t/ZMhwc4+0D/Cj2FTsH1ql/Md6FbI+VvyrX+LrBfg5rzNwBpwzx7rXJL8drIKB/wAI5P8Aher/APE0o+O1kDkeHJ8/9fq//E187jMNmGJlCXsLcrv8SL+s0LNc35nyV9qgC5LkDH9xv8K6/SNasE+E2tWv2iMmW9gIbPGBk9fwr3e5+M9tI8si6PeMWBxHLfK0RyMYZdvK+orwm48I+EprGe2aPUv9JuDcyr9qUIJPmxtUKMAbiMc17OHli6yftqPLa1tU7nJL2MPgnfTs0cV/amm/8/1v/wB91v8Aw7urG78RSQxXtu07x4iTeBu9cVgv8L2LnbrkIXPAMJ4H50R/DGaORZE16EMpBBEJ4P8A31XbOhKUWjCFWMZJntP9kah/zw/8eo/sjUP+eH60+w8TLb2NvBNCZpI4lR5PNA3kDBP41N/wlkP/AD5t/wB/R/hXmfVMT/L+X+Z6H1ih/MVv7I1D/nh+tH9kah/zw/WrP/CWQ/8APm3/AH9H+FH/AAlkP/Pm3/f0f4UfVMT/AC/l/mH1ih/MVv7I1D/nh+tH9kah/wA8P1qz/wAJZD/z5t/39H+FH/CWQ/8APm3/AH9H+FH1TE/y/l/mH1ih/MVv7I1D/nh+tH9kah/zw/WrP/CWQ/8APm3/AH9H+FH/AAlkP/Pm3/f0f4UfVMT/AC/l/mH1ih/MVv7I1D/nh+tH9kah/wA8P1qz/wAJZD/z5t/39H+FH/CWQ/8APm3/AH9H+FH1TE/y/l/mH1ih/MQwaTfrPGzQ4AdSee2a9p/t7S2YlZ2bnshNeOf8JZD/AM+bf9/R/hXUeDPita+H7WeB9Fe481w25blVI4xg8HI/+vWNbC4tRvGnd+qKjiqC+0eueDb62vWufIZm2Bc5Ujrmna8D/aJwD9wdq4D/AIXtY/8AQuT/APgav/xNV7343WVzEI/7Bu4sHOUvlB/9BryVl+Yxrut7HfpzL/M0ji6DdnL8GdzF/rV/3hXs9fNUHxQ8MXFvZh479LksPMHkhsEnpuBG764r6VHSvey+NVQbqQcW+jOXF1ITa5HcKKKK9A4zPv8ARNFv5/tF9pGn3U2MeZNbI7Y9MkZqD/hF/DP/AELukf8AgFH/AIV5boHjfxRrPja+09vFSWUUGtXNmlmvgu8nj8qKZkGb1X8kEqoJJ4BOCK62D4n6Y903n6JrVrYSRzyWOoyxx+RfeT98R7XLqeOPMVN3bNF7JMco2k49UdL/AMIv4Z/6F3SP/AKP/Cj/AIRfwz/0Lukf+AUf+FZukeNrG88Cv4yvtPvtH0wQC5U3pi3PCVDLJhHYAHOPmIPHIA5rC8LfGDw34isb26sbedjYtE1zFDeWl00cDtjz2MEzqEHVgTuA52027Nxe6/r+vn2J0tc6/wD4Rfwz/wBC7pH/AIBR/wCFH/CL+Gf+hd0j/wAAo/8ACuU1/wCK+k6ToMOuNouqT2NxcNHbzmW1t4pYwOJvNnmjjVGPChmDk9FqtffGXw/BZRX9po+t6jZnTItWnntoottvaydJG3SAtjuqbm44BFJNvb+tL/kO39f1/TO0/wCEX8M/9C7pH/gFH/hR/wAIv4Z/6F3SP/AKP/CuWl+KVjDDKtz4Z8QwXyajFYJYtFCZpGlTfG42yFAjD1YEdwKz7n4qRprul/aLWXR7BYNROsW1+ifaLWW3+zlV3I7JgrMDkFgQy8jBo5vP+rX/AA69tLgo32/r+radzuf+EX8M/wDQu6R/4BR/4Uf8Iv4Z/wChd0j/AMAo/wDCsD4afEzw/wCPZry30pliubVVkaE3trcM0bZ2vm3lkAHHRiGHcV0Wra7Z6XqumafdrKp1GR44ZcDy1ZI2chjnIyqtjjtTba3ErPYZ/wAIv4Z/6F3SP/AKP/Cj/hF/DP8A0Lukf+AUf+FcR4k+NPh3QtN03UrrS9U+w6hD9oiuJHtrdPLzwR58qeYxHzbI9z46qKZF8R5IfGGoWOpXUcOn2+pPBA0dpu3RLaxTfOxcFTmQ4IU54GB1pXet+n+aX5sLbf10b/T8juv+EX8M/wDQu6R/4BR/4Uf8Iv4Z/wChd0j/AMAo/wDCuIsvifdTatezXfhjW9P0220dNQjgntke5uFZ2CunlyMApA5D7WXBLBRzVS2+Mcet22lTeG9Curp5tcj029hW7s5zEjxO+8SRTtGfu9A5I2nI5GRNv+vO35jaWv8AXTm/I9C/4Rfwz/0Lukf+AUf+FH/CL+Gf+hd0j/wCj/wrjLH4oRjSIZYdH1vxDdss888djawxPBBG+0uyvNg4JACqzO3ZaluPi5oo1OW3stF1vULG3+ytd6lBHELe3S4AKOwaQORg8hVYj0oi+ZJr+v6/R9hSSi2n0/r/AC+9dzrv+EX8M/8AQu6R/wCAUf8AhR/wi/hn/oXdI/8AAKP/AAql418Ww+GWsoF0jU9Yvb1n8m009IzIVQbnb53UYA7ZyewNcrrvxMu9F8d6jp8uhajqOj2+l2d6ZLSFFkthLJIpeXzZFJHyr8qgsMHIp38/6/rr5PsNry/rY7f/AIRfwz/0Lukf+AUf+FH/AAi/hn/oXdI/8Ao/8K5C7+Mng+28br4Xa4TzPOS3kuWvbVFjldQyoYWlE7ZDL8yxlfm68HDdY+JUk3gfxPrej6PqFn/ZljNc2N5fwr9mu9m4Fl2uTgMvKvsbHIGOaNbX/r+uvprsKy/rzOx/4Rfwz/0Lukf+AUf+FH/CL+Gf+hd0j/wCj/wrjdR+L2h6f4ftNXayu722vJY7ezuYZraGC9lKFn8qSaVE2rg/MxUMeELGtbxz4wvNK+E1/wCMdL0m7N1FYfaYrS5jEciHGcSKzDGO+D9M03dFQjzuMV1Nz/hF/DP/AELukf8AgFH/AIUf8Iv4Z/6F3SP/AACj/wAK4Gx+Kd/beKdbsta8N6mmnWdzZxGeJISLATW0UhE5807jvdh+6DgDH1N+9+LejweMLnwp/Zd+moKJVtjJNbKbiRELYWEy+eFO1gHaNUOPvYIJlysr/wBd/wBRJJ/h+Ox1/wDwi/hn/oXdI/8AAKP/AAo/4Rfwz/0Lukf+AUf+FZHg3xZeaj8NYvFWr6PfW0/kySyWkcaySttJwEWNmBzjjn64qL4Z/EbRvHp1CPTbeW2nsGQTxPdW0+AwOPmt5ZEB4OVJDDuKp3UnHsSmnFS6M3P+EX8M/wDQu6R/4BR/4Uf8Iv4Z/wChd0j/AMAo/wDCubtPidps+r/ZX0PWrew/tGTTTqkscQthcoxTZ/rPM+ZhgNs288kVBafFjR3ie6vtF1vTbGSykvtPu7mKLy9QgQZLxBHZl+Uq2JQhww464m+l+n9P8tfTXYvl1sdX/wAIv4Z/6F3SP/AKP/Cj/hF/DP8A0Lukf+AUf+FcDL8WLrUNK8PanoXhfU3h1LW47Bw8trKHiaN2LxyxztE/K/wucbGBAOAeh034i6ZeWmq6hJpOsWmm2CM8V7NApivQrmNvK2sTkONu1wpOQQCOabvG9+n9f18+zFbRPv8A5tfobv8Awi/hn/oXdI/8Ao/8KP8AhF/DP/Qu6R/4BR/4Vy6/FCzSC5jvfDPiCx1WMw/Z9Kljha4uxKcRmIpK0Zyeu5xt6ttrF/4XJaaTpd7feJbCWyuDqstjaafNPbW0w2Alg8ksywZABORJg/w5pc2tv66f569uoW/r73+nz6HoX/CL+Gf+hd0j/wAAo/8ACj/hF/DP/Qu6R/4BR/4Vz+reOre7+EV9438NSwzCOzeaHcVlVXXhlJRirYII+ViDjgkc1TsfihB/Yd/d6j4a160vbC2guXtXjh33EUudkqESFEQlW/1jIVx8wHFDbTkn0t+N/wDIEk0n3v8Ahb/M6z/hF/DP/Qu6R/4BR/4Uf8Iv4Z/6F3SP/AKP/CuEX44eF5PC0GuW9ldTtNqR0xbWO+scmcIHwJvtH2dvlK4CykknAGQQOi8ceK7nS/hhdeK9OtZoJo4o5Vgu7dg65dVKsnXOCenXjGaJNxTb6f5X/IStdLubP/CL+Gf+hd0j/wAAo/8ACj/hF/DP/Qu6R/4BR/4Vx938XNH0vRry68QaTqWi3tq0KfYb6W1ieYyjKFZDN5IB/wBqRcd8VVvPjl4Nt/DdjrCyLNJeTSQraDUrFWV4/vgzPOIDj/ZkOe2aObz/AK/rft1D+v6/Tv0O6/4Rfwz/ANC7pH/gFH/hR/wi/hn/AKF3SP8AwCj/AMK4y4+MWiN5LaRous65C2nR6lNNYfZ2jggd2TLM0qhiGRgQm7pxmuk8b+OND8JeFYvEWozA21w0aWy+bHCZncblUPKyIvAJy7KOOucCm20NK9rdf+H/ACL/APwi/hn/AKF3SP8AwCj/AMKP+EX8M/8AQu6R/wCAUf8AhXGWfxj0PUtO0+bQ9H1TWr2+mmt1sdPmtJnSSJQzq0om8n7rBsiQjtnPFQQ/Fu2bWFvpdNu7fwt/wj76s9/KI18sq4BVh5m4Y5XhTyRzjJo11/ro3+SE7JX/AK3sd1/wi/hn/oXdI/8AAKP/AAo/4Rfwz/0Lukf+AUf+FcNpnxt8M6hpMt3a2V3cXSXkFoLC1vLK6mZpmCxndDO8YBJA5cEdxU158Z/Clj4si8OX6tZ3W6OK6M9/ZobSZ1DCJ4zP5rEAjLRo65/iNPW9v6/rb70txNpK52f/AAi/hn/oXdI/8Ao/8KP+EX8M/wDQu6R/4BR/4VyUPxEudS8XaRpunaHqNvpd5dzwDULqKPyrsRZDeVtcuuGBGXRdw5XI5qXxX8RLXwz4l1Kyu4NQvhbwWXlWlpaIXaS4klRMO0g3ZKAYIUL13EE4lNu3mVb4vLf8jqP+EX8M/wDQu6R/4BR/4Uf8Iv4Z/wChd0j/AMAo/wDCqnhPxVH4i0m+u4tI1Gxu7CeS3uLC68oTLKgztyrtGc5GCHx715n4b+L/AIluf7BuLzwjqF0l9oEmoz2dkkHnbllC+YrNMEEe3JAJ3e2eKd99f6s3+hSg2rpHq/8Awi/hn/oXdI/8Ao/8KP8AhF/DP/Qu6R/4BR/4VxGu/HDwTpGq2llNch45oILiWdry1h+zpMoZCYpZUlfKsp/do/XHXIr01WDKGUggjII703zIjTT7zJ/4Rfwz/wBC7pH/AIBR/wCFH/CL+Gf+hd0j/wAAo/8ACteildjsZH/CL+Gf+hd0j/wCj/wo/wCEX8M/9C7pH/gFH/hWvRRdhYyP+EX8M/8AQu6R/wCAUf8AhR/wi/hn/oXdI/8AAKP/AArXoouwsZH/AAi/hn/oXdI/8Ao/8KP+EX8M/wDQu6R/4BR/4Vr0UXYWMj/hF/DP/Qu6R/4BR/4Uf8Iv4Z/6F3SP/AKP/Cteii7Cxkf8Iv4Z/wChd0j/AMAo/wDCj/hF/DP/AELukf8AgFH/AIVr0UXYWMj/AIRfwz/0Lukf+AUf+FH/AAi/hn/oXdI/8Ao/8K16KLsLGR/wi/hn/oXdI/8AAKP/AAo/4Rfwz/0Lukf+AUf+Fa9FF2FjI/4Rfwz/ANC7pH/gFH/hR/wi/hn/AKF3SP8AwCj/AMK16KLsLHFXfwo+Ht1fyX03hm28+R/MYpLIg3eyqwA+gFdrRRQ22FgooopAYvhXw/FoNhfWi3L3KXl/dXrFlA2meVpCox2G7GfauSh+GE5lNtd+Kbu40e2iuI9MsPs6r9lMwIJZwcy7QTtyBit7T/H3h281TVLFZrmEaYrtNcz27R27hGKuY5CNr7WBBweCKzIvix4TOnXt7cLq1j9kWORoLvTpYppI5CRHJGjDLoxBAYcEjFTpJ3/r+uxTbu2+/wDwWbKeErNvh3B4LuLiWW2i0+Oy88fK52KAH9AcqDWFpfw81GPR7rTNW8VyX8V2EgnWLT47dXthndEVU/ecHDP1I4wKtN8TvDUc9zDcRatbNaQLNdGfT5EFvux5aOSPldywCqeWOQKQfE/w7/YU2qPaa3HJFOtudOfTZRfM7Asu2DG8gqrtnHRGPY1Uvebk+u/3/wCb/ESvZW/rT+n+JmXfwtljj0yLRvEX2CHS3kjs4ZdPS5jhtnH+qVWOMjoH6gZFNs/hFZ23hu70NdcumjuNAj0USGFdyogwJOvLe1bFj49t7/4g6f4bsrG8ms77SW1CO9W2fyx8ygKW6DgnOe+B3rK1f4lSab8QdU0m6sZodG0q2jM0zWE7TXVxL/q4rcr8rkkgbfvE9Kd3Bru7/hdf5/P1FH+aPS36W/Qi+I/gXXL7ULXUPDWoPDeTazZXM0pRCLWKGMoXCsRv7fL71I3wmtbuSO51jXLm+vXS8+3TrCsX2iS4EC7woJCbBbx4AyK0U+Kfhh7S1kWHWDdXNzJaiw/s6X7XHKgBKPDjcp2srDI5Ug9KrP8AGDwl9pa3ht9duX3TxReRpUzieaFykkMZA+eQYJ2DnaM9KVkk13v+K1+//LyGm1Zrpp+f/B+5ljw74R8ReHtOuDH4lGpXztBFC39nxQRxwrIN4KKcM5TcC5OemBxitb4i+E4fGfhabRZr640+RyrRXdt/rIWB6r9RkfQmsjUPiv4Ts7Wxul/tS7hu7f7Sz2thJKLaLdtLz4H7oAhgd391vSr3hPxmuveM/EGgx6deRRaUITHdPbusc4dScq54PbGOoz6U2nLR9P0f+f4kqSja3X9V/kYnjT4Wf29eM1lr39mWc+nDT7mD7CkzGIcDynY/uj9B15p0nwo0+41aW+u9UnmSa5aeSHylAO63jhxnt/qw31Natv8AEjw3P4lk0JF1ISJJLCLprJxaySRgl0WXG1mGDwKp6H8WvB+rWlxeRyajaWkViL9Li8sZII7iA/xxMwxJ+HqKjRp9n/nf89SkndW6f5cv/AMtvhTqN5ZX0OteNrzUZZbCKwtpGs0QQxxSb0LKG/eNn7xON1WNP+GN7bYupPFO/Uv7Qtr4zx6bHHHuiWRCoiBwAySEdeCM1reBfHC+K/EOq2MGm3tjb2Vtbyhb61kt7jdIZMho3AIGEUj1zV4+OfDq2NteS3UkUU9xPB+8iZTGYQ5kZwfuKAh+Y8cr/eFU9Pz/ABvf79+/UmNpK69Pwtb7jmF+Ft7Y2MMfh/xhdaVdeVNb3VwLRJfOhlfcVCkgIwPRxkjnirlt8L9NtLPWrKz1G4it9TjtI1QoGMKwIFGD/FnGTmpovip4XbSbvUriPVrOK2aEeXdafJHJMssixo8aEZdCzqNw4+YVz3iz4r31nFPFoemTT30l7Y2kEFxpV1utTcANm4VeQcZwF74B5pwi0uSPkvxVvxf59xys+acvO/4X/T8Ds/HPha616XT77Stck0TVLBnEN0tuswCSAK6lGIGSBwex5qnfeAYbq81a5fV7otqWl22nOXUMyiFmYSE/xM2/mqui/EvSJINHt9QmkuL3UB80tjYzG3hzIUDSFhmNSykAt1xV2b4j+HYvFLeHmj1MzCc2wuRYyG1efZu8pZcbS+ARt9QR2qXaUXHo7/8AB/P8QTd0+3/DmfbfDeaz8UNqNj4ikt9MnnS5urH7FG0kkyoqZWc/MiEImUA7Hnmmw/DW4Hh7XPDk3iq8l0e/tJbSytfs6gWSSksxJz+9bJ4JxgZFU/CvxYs9TtYL7VIn0mEwX0skFzZyxysILhIlKE8HO9RjqXOB0NaQ+LHhVdMmvLiPWbWaG4it2sLjTZY7zfKGMWISNxD7WCnHJGBVttf158v/AAF9yFZK6/rTX9bsj1f4bNNo11pWk67/AGfazSLILaSxS4t8lCkoaJiAyuDnGRtOCKvxeALKL4Uy+AI72VLeWya2NyE5UsOWVScAZPC5wOla/hTxRpXiTRH1awa4ihikeKeO6haGWB0+8kiNypHcGuS1n4r6Yvgi+8SaPbXLLZzwpJHfWskBaOQjEiggFlKnKkcGpbtdPy/4BUXZqS6bfmW/+FdGay1yO+12We51ma1muZltlQB4IYoyVUHADeVnHbdjtVG3+FckfiRNQk8SPJYw6nLqENr9hQSbpVkDq82dzj95xnoFArVj+J3hx9Fn1HyNYWaC6+yPpz6dIt95xUOFEBG8kqysOOhBp9z8TPDEFrpdwx1FxqJYKkdlI724V1RjOoGYgGZVJbHJo3dv61S/RInRf12uv1ZJbeC5B8N7jwbea1JcCSOSNLtYBGyKWLKCoOGx0PPzDPrUfw98E3PhjUb/AFK91tdTu72KKKTy7FLWNRGCF2ohIHBOfWmaX49t5PEesaPfRBZLTUVtLZLZWkkkQxqzSuB91V3ct0AxV3wb480PxXez2mmR6jG8aGWNrqzeFLiMNtLxMww65wMj1ojLmfMt/wDgf5MGlFcv9b/5o5Dwj8PPEEt9eN4m1h10ga/dajbaSsKHdmYvC5mVs46Nsx7GtLRfhldWc8IvPF17eWum2T2WiRLbpE9jGwC5ZwSZW2qgywHT3rN1/wCLz6Xr2oaedBv/ACrHWrfTWdrOXM6yAZMWB+8fJ+VR1HNdBP8AFLwzHoNnqyQ6xcG7mmhSyg06V7tXhYrKGhA3LsI5yOKafu3W3+aX6PfpsPmbm+//AAX/AJPQw9I+EMlhG10PEcY1dtWg1Jrq30yOGJjErrtMAbblhI+WBB5HpWvp3w6kt7HVdIufEl7caLco62NkIlT7GXk80tvBzIwflScYHFT+H/iDaa543i0GwsL97SfSI9RjvDauIwWd1KM3RWG3GDzkMO1YXiP4svpWqaraf2HfeXpur2tg8j2kmJllQsTER9984AUdc1MpbRfXT/23/gA3o/LX/wBu/Utj4Z6lOk99qfjK6u9fUw/YNRWzSNbMRNlQIgdrbujZPzDjioZPhXetZJcf8JdK+vpfyXw1GbT45I90ilZEMBO3aVJwM/L1rY/4Wf4bbQo9Uih1iaR7l7X+z49Pka9WVBl1MGN42ggnjgGtm68W6HbeC5vF8t0w0iG2N1JKEJZUAycqOcj0oslf+t7P8dL9+obtL+u34dO3Qq3XhH7V8Pbjwnc6rPK1zbtFLeGNQxZjlmCDgDPRegGBWT4o+G6az9plh1qS1uJLSzt4ma3WWNGt2kZWZCQHB8w5U8cCp4vif4Zawv7qVNVtpLN0T7LPYSR3FwX/ANWYYyN0oc8KVzkg1DN8V/C0elQ3vk6zJPJNLC2nppsrXkLRgGTzIcbkCqyMSR0dT3p2u2+9v+B+YL4Uumv/AAfyM7/hVt6vh7UtPj8Uo11qV8by6lm0qKS3kLQrEyG3J27cIpHOQc+tbKfD2wi+Fcfw/t7+6htEhSIXC8yDDh8jPTkcen4VRHxS0tPEOr2k9jqI06x02zvYrpLKRhOZ2ZQi8fMxOwKo5J3j+GtK7+I2g2+g2GrLbaxdNflhBY22nSyXny/fzABvG3vkcZHrRN6NS2dvw0X3At1/XmYtx8L7q9tLi41PxVNd6800UttqJskVIBF9xfIyVYEZDZPze1PvvhnfT2GmyxeK2j1yyeRjfSabFJDIsn3k+zn5VUfw88e9TeJ/ix4b03QI9S043eqNcafJfQfZbSSZI41H+smKj90gPBZsY5q2PiVoUF5ZWF4l4biWKJrmeC1eS1tGkUMFllHyxnBB+bsQaIx1aS1/V6fpr36hJ2Sb/q1vyvp26EcHw6ijuL64k1q6mlvNGh0uRnjXPySSOZOO5Mp+XoABV/xZ4Mj1zwrp2kR6g1pdaY8U1leGBZfLljQoGaNvlYFWYFT61W+Ivjg+ENY0G3k0+4vbfUmnV0tYHmuMoqkCONOWJyePamXfxR8LQabY30X9pXiXaNIY7WyeWS2RWKO0ygZjCsrAluhVvSle935pfdqvzY7NNen4bfpYXQfAc1jf6RqV/r02oXtg9w7uLZIY5DKoXCovEagKMAZ5J9ayY/hLbrpttpba9cmyTRpdKnRYFDyh33rIGz8jKwB4yDitDUfiZoel6hcx3lw91GZ7eCzisLOWaaSSWKSRVwMh8rE2Nvpg9RUx+J/hn+zdOvIo9Wna+Z1FtFp8j3EATiRpowN0aqcBi2MZFNytf+ulvyYk9Ld9fuf+aKFv8Nb2azt49a8UvfT2+p2t8jw6fHbRgQOHCeWpxkkctnNWLr4dzN4vudXs/EMlrp17cC5vLD7HG7vIFCnZMfmjUhRlQOueea6FPFeiN4Oi8WfaiNKlt1uI5GQhmRhlcL1yfTrWDN8VPDEGirqVxBrMDtdrZLYyadKLszMMovk43fMORxzTbs7Pdfrb/JfNCsnG3T/h/wDNkWjfDu90/wARWV4/iq6uNJ024mnsNOa2UeT5pJZWkzlwCx25AwOKn8SfDy31rxTPrz6pNC8xscxLECB9llkkHP8AteYQfTFUk+K2l3HiHw/Z2tjqIsdUt72S4uJrKSM2TWzIGWYEfu8Zbdu6fL/eFW7b4qeFZbC+vpRqlpBaRpKGubCSP7REzqgkhBH7xNzp8y8fMvrQrq0u2v3dfwKcbpx6S0f37fedD4d0GPRp9WlS5eb+0r17tgygeWWAG0eo4rlfCXwyGhPaNLr0179j0mXSYc2yx4haTepODyyjAz361cl+J/h2G5tLea11qNpkV5y+myAWSscKbg4/cg8kbscAmq2tfE7T4fElpoWlWt3dSvqsOnzXTWsgtQzOFdEmxtaRecrnjHNLlv7nfT9P1/EPauKcr+b/ADKSfCiW0urZtJ8UTWNsbW2t9QQWMcktyYI1jV0kbmFiiKDtz0r00DAA9K5XxX4y0/w3rHk6ldRx2yWD3kiLBI8rBTj5SPlP+71NaPhHxJYeJ9OkvLGG+tzFKYZre9tmgmicAHDIwBGQQR6gg0+dzu99/wA7fmTZRtHtZfh/kbNFFFIYUUUUAFFFFABRRRQAUUUUAFFFFABRRRQAUUUUAFFFFABRRRQAUUUUAef2fgXVxb63oN5rlu3hm+Fwbe3htttyrzOzsZJCSGClvlCqvHXNZd78N/FGuRTTeJPEmmy3ix29va/Y7FooliikLlnDOxaRs4JBCjAwvWs2D4wa42sWMD+ENReKXVtUsWt4rdGuJ1tidhi/e7c8YbcQMg445re1j4zeE9NtdMmaK9me+tVu3hD28UlpEWK7pRLKnRlcEIXOUPHTIlZxl10t+Nv1+W46kPipvz/yf4pfMseJ/hwmvW3i63ur6Ixa+1s8aPbh1jaHBAdWyHUkDIwOCR71i6P8K9T0rTFu9NPg3Sdet75Lu0Gl6CLWwBWKSL95GjCSQlJpOsnB24A5z3fiHxXp2k+GoNdjhutUiu/LFlBYqry3RcZURhmUElcnkjgGsvV/iJp9jp+nT22ha/ql5fwyXEenWdqv2qOKMgSO6yOoAViqn5iSWGAetJLlulp0f5/pr5Aru3z/AB0JLHw1rkHjHSdfudZtbwwaXJY6h5lrtknZmVw6bSFTlehB4/OqfirwLearqeo6rZapDbXkk1pdWXmQF0jmt8FRIAQWQkcgFTjoRUF58XfDUMNxdW9lq99ZW2m/2lcXdtAhihgKM4LbnBz8pGADzjtzUWsfGLw7o72sWp6bqlpPMnmzQzvbRyWsWcCSQNMMqeo2bjjsOlOW8W9LN29df+D/AEhLT+vT/gf0xND+HusR+JbPxPrWtWdzqpvpry+FtatHAxaGOFEiUsWUBIlzuLEkmrfh3wDcaVHpatqkUv2HVL6/bEJG8XEjuF68Fd+M98dqvr4906fxFc6LY6bqt35ERb7dFArWrSeWsgi37s7yrqeQBz1qHwl45N/8Mz4z1zS73TEiWWSaB4l3hEcjIVXbPA9eoPFJ2s77af1+C+WvUG+a0d7/APB/zf5dDiPEPwX1PU9Li0ttU0G+tRZzQBdU0xrn7JI0kjia2UuFjkPmKGYgnCDBFegeEvDOo6J4m1O/kv7WexvbW2jEQhZZVliUqW3bsFSD0xketZtp8U9Gksbq4utG16wmijhkt7S5tkE16szbYzCFcg7mwPmKkZGcVBefFzQrPSUurrR9bhv2vfsJ0mVII7pZdpcA7pRHyqkghznHGTxV8zV/63ev479upMkpNX/rT/JfMxYPhLqR8c/8JDdahoczRXk1xDeHTmfUZUkyPKluGc5RVbCqgVRgDGOKvn4VyyeEtE0KbWVB0zQl0vzo4eWkVVAlAJIxlfunP1qaT4pRw+IriOfQtVj0WLQk1UXLWwVyWPEe0uCG/h2lfvd8c1q3PxEsodDsr7/hH/EEl/eTSQQ6OttGL0vGcSfKzhML1zvxgjBNTbkVv6urx/z/ADKvztp/19r+vmu5J4G8PeJLDXdT17xRq2m319f28EBSwtHgijERfoHdjzvzyeue2AMu8+GEF74j8SX1xqkn9n6xZSwRWqxjNtLMqLPICcg7hFDgEYG1uu41HrXxZ0yPQBeaJo+saneNZXFzJBFbKWsfKLIftAZ12gSI6/KWyUbGRzUUPxi8P2i6Laavn7beWdtPeSwSwpDaNMoKhlklEmCTxtV/em1f8vvv/kCXIvx/r+tvJmPovwamtdGuLNh4Q02Yy2flyaLoCWnmJBcxzEzMCXd2EQHDBcknb0x0958P7ifxVqWtDVIlS81TTr4ReScqLUAFc55LY69veu9VlZQykFSMgjuKWmpNP+u6f5pE2Ti49GeZeH/h54i8O3WnTaL4isof3X2fUmlsi7vCJWkHk/NhH+bBLBh7Cqd38KdQvPiJB4lur7RJktdVGoQXUmns+pBNrD7MZ2chYhu4VFUcDOTkn1mipj7trdCraNdzyMfCTUriJYb/AF20KW0N5HaGC1ZWHm3cV1EXyxB2vFhsY3A8Y61fg+HviK/1WLXfEmv6dPqi31pMVsrNordYYA+FVWdm3sZDkliOBgDmvTaKd3p5a/O97/f/AJbA9VJd9/mrfojmfDfhX+zdP1+yuroXEer6hc3R2JtKJN/D1OSPWueXwL4nu/Br+HdY8R2EyQy24sWgsigjiiI+/liWdsckEL6AV6PRServ6fhsEnzO78/x3PLvHHwrbxDearqHnaNdT3GqRahbW2q6cLq0+W2igZJYyfmz5W4FSpGak0z4d65ocGlS+GtU0DSb2JJIb1bfR0itvKeRXIgijKhGGCAX35B5ycGvTaKSVndf1pb8tAm+fc8+svh3JYeM9S8WWOowQ6nfXqySSi2GZbXywjQSc/NyN6njDAcYyDX+Gvw5vvCniy/1iS+02K1niMa2elWz2kMzFgfOmhDmEy4GNyImcnOa9Jopx93YJe9ueeX/AIA1S68ZTasNWs1sH1a11NIfszecGiUKylt2CDjj5ePes3xT8L9S1O0SCG/0W8hOp3l5NZavYvc2cqzyFl3RB1DSJk7WbIB5AFeq0UraW/rZL8kgj7rbX9b/AOb+88/8BeA9R8KanpskWpWE1nb6X/Z80YtCjHbNJJGyYbaoAkIIwegxjpSav4D1O+8SXV8urWcdhNqlrqSxG3Yyh4lZWUtuwQQVxxkc9a9BooaTak+jv873/MVvdcejVvla35Hkvin4RSarJPeh/D2o3X9sXF/Db61pQvLPZMiqUeMsDuG0EMpH5ZFanjDwrfad8BNY8MaJbQXGoDSpYoIrGzjt0eUqcBIkAVRnoK9GoprT8PwL5vfUmeYXPw/8UarJJrur69pf/CRQtbnT3trJ0tYxCxdRKjOWfLMd2GXjpis/xB8Kdb1vRriTUtR8O3+t31+15dtc6W5to28uOJGt9sgnhdEhTDLLkktnPAHr9FO/9fd/kiY3ilZnl8vwz1kidV8Rx3Ak06yjE15HJNMbq1meRHZy+WjO8qQfmwB82ea07/wx42lh0rWYPEOjt4ps0milln09zZPHLgsqxK4cYKLglyeuc13tFEm5b/1/W3oJJLb0PKJ/hj4isdKNl4d8T2cT32nNY6tNfWRlaTd/y1iCsoRxkgA7l9QarX/wZWbxWNUWPwpdRXAtzdz6joMV1ewtEip/o8r5VAQucOr4JOK9gopQSg7xVv6b/NhJcys/62/yOP8AiB4Z1rWdU0XWPD+qWVhf6QZmiF3bNNFKZFUYYKynHy9iD05riNZ+Cj3YsboSeGNU1DyZYr59c0NL2IGSZpTJboSPLZTI4GSwI27gxGa9nopJIrmdrHmlv8MJbfxRZatFqsCw2t/a3QhW0CZENtcQlQEwq5M4PAAG3GOa5/xdoviDwXfx6p4dj1DUdQu5bxZvs2jtdxCCZlfaQJUKSAquGyV65Wva6KJa/wBfL9BRsreX+bf5tnnyeA5dU+CVh4H1aSGO6j06GGRmiWaMSoB95GG11yOQeCKy/D/wpnsE06Zv+EX0ye21iHUJYdC0RLK3ZI1wFABLFj13OzY7ACvVaKtybqOp1ev43JUfcUX0PNrr4b30upW866vbCAvqcd2jW7FmgvNmQh3YV1MY5IIOTxXP6H8FJbHSL2w/4pCwdoYbe3uNJ8Px200qJPHIWuJASzuREo+UquSSVPGPaaKiK5YqK2St8jRyb373/G/5nlHjD4RprXjV9ejh8K3KXkcEd2+raFHe3Nv5XG62d+EJBOQ6uMgcVcX4feIItahgt9e05fDlvrKatFbNZMbrf5m9ozIH27M9PlyOMk16XRVJtWt0/wCA/wBDNwTTTW+n6HE+OvBE3iTWH1BLyzRTpclj5F1ZLcRuWbOXR8qy+qkfjTvhJ4OvPBmiXVleX0EpnuTNHa2nnLZ2ikAeXBHLI5jTIJ2htoJOABxXaUVMVyqy/rW/5lPV3f8AWlgooopgFFFFABRRRQAUUUUAFFFFABRRRQAUUUUAFFFFABRRRQAUUUUAFFFFAHn2k/Di4svFVvrEmvrNb2uo6hfW9sLLay/bOXRn3ndtYkg7RxgY71lal8IHeazuNO1rTUuY7drW5fUNDjvQ8fnPKpjDOPKcGRhuywPHy8V6tRTvt5Dcm22/61v+ZzXibwvJqXhyw0/T9SFlfaZJFNY3c1uJlSRFKhnjUoGBVmyAV68Y6Vkan4K8SSR6Zf6Z40Fv4htLWa0n1C70wXEc8crK7fuRIm0hkTadxwAQQc5rvKKXfz/4b8gTtY8zX4R2kPhvXdDtdamjg1XRU0oO8AdogFYGQ/MNxJYnHH1qfxf8M21jxCmsWOqadaySW6W92LzRo71mVOjQs7Dynxxkhx/s16LRQ9d+9/m7/wCbBtv+vT/JHG2Hg3UdP8U3N9Y+IjDo12fNudO+xqXkmESxhvO3YCbUB2BOuee1Vb3wrrFh8JNV8M216up3pinFm8cAgIDuWRTlyCRn72QDjoK7yilJc0XF9rCSSaaPL9O+HGvX2kRXfiLxQkuvRW1sllPBp4ijszEQ4DR+Y3mksMMdyggYG3rTtT+GGp6noV/DqXiTT77V9RuBLeT3WiiS0kQIyCMW/m7lAV2wyyhgcHJ6V6dRVN3v5/53/wCH79SYxSafVf5W/rt0PMYfhQ8NnFZR+JJDbjRhp0vmW5kkaRW3pMrtISAGA+Q7sjjd3rSvvBfiS6sdMvX8YwN4n0+aaSLUX0vNuFlwGj+ziUHbtAA/eEjGcmu8oou/6+/+vu2HFKO39aW/I8uf4V6pbWTLo3jD7JfX1nNa6xdXGnCf7YJJJJNyKJF8oq80m3lvlIBzjNN/4VEYdTsriz1qwWFba1hvPtWixXE8hgUKHhlZv3JYABgVcemDzXqdFL+v6+/bYptvcrWMV1CZhcXMUyF/3ISHYY0xwp5O4+/H0qzRRQIKKKKACiiigAooooAKKKKACiiigAooooAKKKKACiiigAooooAKKKKACiiigAooooAKKKKACiiigAooooAKKKKACiiigAooooAKKKKACiiigAooooAKKKKACiiigAooooAKKKKACiiigAooooAKKKKAP//Z"/>
          <p:cNvSpPr>
            <a:spLocks noChangeAspect="1" noChangeArrowheads="1"/>
          </p:cNvSpPr>
          <p:nvPr/>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3" name="AutoShape 4" descr="data:image/jpg;base64,%20/9j/4AAQSkZJRgABAQEAYABgAAD/2wBDAAUDBAQEAwUEBAQFBQUGBwwIBwcHBw8LCwkMEQ8SEhEPERETFhwXExQaFRERGCEYGh0dHx8fExciJCIeJBweHx7/2wBDAQUFBQcGBw4ICA4eFBEUHh4eHh4eHh4eHh4eHh4eHh4eHh4eHh4eHh4eHh4eHh4eHh4eHh4eHh4eHh4eHh4eHh7/wAARCAEfAjI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LooooAKKKKACiiigAooooAKKKKACiiigAooooAKKKKACiiigAooooAKKKKACiiigAooooAKKKKACiiigAooooAKKKKACiiigAooooAKKKKACiiigAooooAKKKKACiiigAooooAKKKKACiiigBGZVG5mAHqTWPe+J9GtZTG915jDr5a7sflWN8SY5Vjt5luWWM/I0W/APocd64iuGvipQlypHZRw0Zx5mz1TRNestWmljtd4MYDfMMZFM8YrHN4eu4y6Bgu8AsOxz/SvJNWur+z0y4m0+6lt5tnLRnBK5GRXCrqV9PexSXN5cTEOD88hPesvrl4cslqarCWndM9EopByAaWuI7DU8KIsmv2u5lUBt2ScDgV6nvTaW3AqBnINfPvjKVotJG1irNIACDg96x/DOsa0upQ29vql2qMcMvmkgrjkV1UMSqStY5q9B1He57yvjLSN7LIZkIJH+rJBrW07VdP1Bd1rdRue65wR+FeR06JmWVWRyjZ4YHGPxq442d9URLBwtoz2eiq2lxvDp8EckplcINzk5yfrVmvSWx573CiiimIKKKKACiiigAooooAKKKKAMbxHqVzp7wm3jMu4HKDqeaRr6628MAcccVF4p/wBfB/ut/MV5lB/wlM1uEjn1Rbg27i9dwNiy5+XyuOefTPFeFHEzeLrUnLRWt92p3xpRdOLselWuqXjSFHce3y1NPqF4IiyOAR/s15lY32vW/iCJtXivUtw00MvlxFlZgqBXGAcAkMR9a3dGh1kW+tfa7q5lMO6CyJXG9NgYP7tl9v8AwCssJOs6cqM5u6vrfUupSgmpJHSf2vff89B/3zR/a99/z0H/AHzXm9pL4mtbpRfLeyRWrQCRlTPmqUl3EAc9SgI9hVG9j8Xm3umhnv1ZrVQgAGVbazZHvlVX8a8X2mLUnF1vxZ0KlT/lPVv7Xvv+eg/75o/te+/56D/vmvKrlvFQv79oZb91xcBECEBPkOwgkYPOMAGluovEs0Vomn3d4xCTNMzho+QBtHK8nrgd/Wj2mK0/ffiw9lT/AJT1M6xfAE+YD/wGtLwxf3N/byyXKlGUgBT2615boza2PFUbSyahLZvEN6zRhET92nzDrnJ3ccEHPHevT/C33Lj6r/WuvK6+IeMhGdRtNPr5MxxNOEaTstTaooor7E8sKKKKACiiigAooooAKKKKACiiigAooooAK+ff2hviX4u8I+PIdK0O+igtW0+OYq0Ksd5eQE5Psor6Cr5M/a5/5Klb/wDYKh/9GS1tQSc9RMyf+F6fEb/oLQf+Ay0f8L0+I3/QWg/8BlpfDvg+x8V+G/DV9p9vHC0OofYtZZSfuH5xI3oNqsM+9XbXwHovjG51PVNHuJdLt2ef7DbpakwqkQONzsRktj+EGur932JKP/C9PiN/0FoP/AZaP+F6fEb/AKC0H/gMtbUfgvS7rQ7RrWytY528Ki8kZ0Lb5skbhyMH3/SqN74H8O6R4V8TQfb21DWtPhthJvgKrA8nJ2EE7uuDx2pfu+wFP/henxG/6C0H/gMtH/C9PiN/0FoP/AZa19M+E+jpLot5d6veS201/Fa3UL2nllt67htyc4PTJAPfFLq3w60y/tDbaFcwJG/iV7ETy25WSKNYndhnccqNvTHJovT7AY//AAvT4jf9BaD/AMBlo/4Xp8Rv+gtB/wCAy0yz+HGl6tdaVLoviKWXTL67ls5J5rXY8UqIzH5cnKkKec1g+NvC9houj6RrGlapLqFnqPmoDLB5Tq8bFW4yeMg1SVNu1g1Ppv8AZw8Xa54x8I6hqGvXCT3EOoNCjLGFwgjRsYHuxr0+vEv2O/8Akn+rf9hZv/RMVe21xVUlN2KQUUUVmMKKKKACiiigDy79pDxdrng3wnp2oaDcpBPNqAhdmjDZTy3bHPuorwf/AIXp8Rv+gtB/4DLXrX7Y3/IhaP8A9hZf/RMteHeAdGsfEfhzxDpaWqNrcMAvLGTncyocyRgd8qDXbRjHku0SzX/4Xp8Rv+gtB/4DLR/wvT4jf9BaD/wGWtS4+H2kXxi02NmtP7FsIW1W4t4/MlmuZuQoBIGFzg88YrKl+Gulafp+sajrHigQwafei1h8m2837QWRXToeM7sEdqv932EL/wAL0+I3/QWg/wDAZaP+F6fEb/oLQf8AgMtdbpvhLwpYWfia61G3tZbu1TTo4kNoTFD54+8Bv5LHOeeMZ71z3ib4e6LZ6xqd1rGsrpNkNQWxtRbWhdfMMe/JG7KqMdsn2pJ077D1Kf8AwvT4jf8AQWg/8Blo/wCF6fEb/oLQf+Ay03wf8MrfxB4eub7+2J4rlFneFRaHymWME8uxHJA7A4710M/gXwuk2mQ6XKJppvDrXsq3FuSGbGRICG4Oe3am/ZroLU4C++Ini6+1Eahd6q804OVLKCF+g6CpP+FkeLP+f6P/AL8itS7+HVlFZXNrDrrya9Z2Ed/cWpt8RCNwDtV88sAwPTHPWpPEXw30/TdC1W6tfEEl1faXb21zPA1rsQpMuQA2TyPpUOjh29Yr7jRVZrqanww8U614k1m80/VLhJYRZM6gIF+bco7fU0sqmKdl6FWIrlvhDq1jo/iG7ur+UxxGzZQQpJLb0OOPoa1td8TWk+pTzWNtIY3bI8zA5+gzXg5jSUa7UFZHpYad6d5M9csX8yzhcd0BqavI4PiFq0FtFBFb24WNQoJBJNCfEXXATmO2Yf7prj5Gb86O08eSfLawj1Zj+mP61X8D2++9luCOI02j6n/9VcTqfjK81GZJLq2iyi7cISK6Twb4w0W2t2gu2ltpXbJZlyv5ik4Mamj0KsDxnfeRYi1Q/PN97/drWtL6zu4DPbXMU0YGSyMDiuC1q8a+1GWck7c4Qeg7VJR0HhDx7rnh6RIxMbu0B5gmbPHseor1218faVqWgPe2DMLrhTA45Rj6+or56toJLidYYVLOxwAK9C0ixj0+zWBMFurt6mtqeIqQVrmM6EJu7R6h4X8URX4W1vSsVz0B6K/+Brpa8VaQRqZGbYF53Zxiu8+GXiKXxBp1y0h3LbSCNJD1cY6mu3DYhzfJLc5MRQUfejsddRRRXacYUUUUAFcvrXjbT9K1Oawmtbl5IsZZAMHIB9feuorxn4h/8jjf/VP/AEAVMnZG1CCnKzOx/wCFjaT/AM+d5+S/40f8LG0n/nzvPyX/ABry+is+dnV9XgenN4gtdfPm2sMsYh+VvMxznnjH0rn/ABnruqaZFaW+jwSzXDu0smyIyYiUZIx2z0zTPA3/AB7Xf/XRf5V0sDbZVb8DXx2Jr+xzOUntdfkjpUEqdkcdr3iPV49U2whmtLiaIWriLO1THuYH8wRV3wvrWqXFhdu159sEenrN5giA8uYgkpx1xgVa8b+Jm0XULGzhhikWQGS43KSVTIAxjuTn8qqt4mmtdM1e5jS3L2l6lvGp6MhMY3H/AL7P5V6dRexxUZJaS0b/AAX6Ga96mUtd8Q3clno01hqNurTKRduduFYLnByeDQbjXDda6q6o3l2dpFNbEQA7mZGY89+VFaXinX7i0v7uC2Wy8m0hhmAkB3XBdyu1Mdxj8yKxE8Xak8gRbGEDz47ViQeJXPT6AZz74rz8wotVbxgtfTun/wAD5mtL4Rlnq+uf2vY21zqMaxSWkcz70VCzt1Ayf0qpp+u+KJLG7lurpLZjGGt2kgyD87AnjOBgAc9KvWXibWLjSGvpLeyiLTJFHuU7Rl8Emtjwzqt9qN1cRXMNuIodyCWLO12WRlJGe2AK4qnuJtwX4f5GqLnha8ub7Qre5uwwmbcGLLt3YYjIHoQMj1Faq+JbTQPkuoJpDNyvl44x9T702uX8c/621+jf0rTJ5f7dFpW3/JmdWKlFpnV/8LG0n/nzvPyX/Gj/AIWNpP8Az53n5L/jXl9Ffb87OT6vA9Q/4WNpP/Pnefkv+NH/AAsbSf8AnzvPyX/GvL6KOdh9Xgeof8LG0n/nzvPyX/Gj/hY2k/8APnefkv8AjXl9FHOw+rwPUP8AhY2k/wDPnefkv+NH/CxtJ/587z8l/wAa8voo52H1eB6h/wALG0n/AJ87z8l/xo/4WNpP/Pnefkv+NeX0Uc7D6vA9Q/4WNpP/AD53n5L/AI0f8LG0n/nzvPyX/GvL6KOdh9Xgeof8LG0n/nzvPyX/ABo/4WNpP/Pnefkv+NeX0Uc7D6vA9Q/4WNpP/Pnefkv+NfN37S+sW+ufEOC8to5I0GmxR4kxnIeQ9vrXoNUdQ0bSdQnE99p1tcShQoeSME4Hb9a1o1uSV2RPDRa908c8MeLda8OWGp2OlzokGpQ+VcKy549R6HGRn3rS0D4ja/oui2+l2kdi6WxkEEssG6SNZPvqD6HJr0j/AIRjw7/0BbH/AL8ij/hGPDv/AEBbH/vyK6Xi6b+yZfVJdzzOP4heIo7UW0cluqLpv9mjEXIhzn8/ep9T+JPiC/06ezkh0+M3KRLczx24Es5ixsZm7kAAV6L/AMIx4d/6Atj/AN+RXJfEXwfCLWO/0WzSJo8JJDEuAQTwcD61UMRTlJKxE8NKKuZuo/FPxPeGMlbGFkuIrotFAAWmj4Dn1JHB+lR3vxN8RzPE1uljY+VqP9pKLeAKDPtKkn1BDHIrr/C/gzS7PSIo9RsLe6um+aRpEDbSf4R9K1P+EY8O/wDQFsf+/IqXiaadrFLCyavc84n+I2uNfWNza2+n2KWTvJFb20ASIyOCGcjuxBNYWpa9f6homn6PcNGbWweV4AFwQZGLNk9+Sa9k/wCEY8O/9AWx/wC/Io/4Rjw7/wBAWx/78ihYuC6D+qS7l/8AZg8VWWg+CtStrm3nkd9SaQGPGMeVGO59q9Y/4WNpP/Pnefkv+NeTafYWWnQtDY2sVtGzbmWNQoJxjP6VZrkqVeaTaNo4aKWp6h/wsbSf+fO8/Jf8aP8AhY2k/wDPnefkv+NeX0VHOyvq8D1D/hY2k/8APnefkv8AjR/wsbSf+fO8/Jf8a8voo52H1eB6h/wsbSf+fO8/Jf8AGj/hY2k/8+d5+S/415fRRzsPq8Ct+1B4qste8G6ZbW1vPG0epCQmQDGPKkHY+9eGeFtd1Hw1rtvrWlSLHd25Owsu5SCMEEdwRXueoafY6jEsN9axXMatuVZFDAHGM1R/4Rjw7/0BbH/vyK66WKjGHLJGM8Ld+6zy/SPHOtafq2pagyWt5/abb7uC5j3RyNnIOPY1BqvjLWtS0+9sbp4DDeXwvpQseMSAADHoMAcV6v8A8Ix4d/6Atj/35FSQ+EtBmzs0SxOOv7pap4ymtWifqku55bc+PvEFwmoJI9vjUPsvn4i6/Z/9Xj068+tXYPih4jW9vLq4h068a5uFutk9uGWKZV2iRB2OK9J/4QzRP+gHYf8Afta851j4e6mviwWNlbE2c2ZEfdwiDqCe3WiGMoTuTPCzjYZpfxQ8TafpqWUYsZdglVZpYA0gSTO5c+nNRR/EjXksrS3WGw821smsUuPIHmmAjG0n2rr08BFVUf2TZnHclTmpPE1toOg6NG114X037dLlYwIlKkjua5v7Uot/AzT6lJdTiLr4ha7caM2nvHZLLJbpazXqwgXEsKfdRn7gYFV77xxrl5HqcczQbdTggt7jEeMpEMJj0qpJDA8jP5ES5OcKoAH0FN+zwf8APFPyq/7Spfymf1WXco6V/wAfDf7n9RWnTI4o4zlI1U+wp9ediqyrVOZI6aUHCNmFFFFc5oFFFFAE1rd3Vqxa2uJIiRg7WxkVs6brgYiO8wp7OOn41gUUmkylJo9t8H6bHDarfMQ0koypHIC1vOyohd2CqBkk9q8a8FeKrzRbpLeRmmspGAaMn7pPcelekeI7fWL5jb28Spbg8/vAC5rGUbG0ZXMjxJrTXrm3t2K24PJ/v/8A1q9R/Z6/5AGof9fC/wAjXlP/AAjerf8APGP/AL+CvTvhBeQeHNJvLfVWMUkswZQo3ZGPatsLJRqJsyxMXKm0j1ais6HXdIljR11CAbgCAzgH8RWjXsKSezPKcWt0FFFFMQV4z8Q/+Rxv/qn/AKAK9mrxn4h/8jjf/VP/AEAVE9jpw3xMwKKKKyO03/DN1Hb2Vyv2qK3kZ1Kl+4xzXQ/2tpv/AD/Q/nXn9FeNiclpYirKrKTuzRVGlY9LTVdDkUvLdWhdkCOW6sB2PHSs+6fwu1w8gGnP5oAkPlg7hxweOeg/KuEorrrYCNWmoOT0tqZxXK7no8d34YVYdr6cvk/6rEY/d/Tjj8KqyXmhh2Cz2hHmeZwP4v73Tr71wVFTi8uhiYpSbVgh7rO0B8MhXUJpwEn3x5Q+b68c1YhvtFhx5M9rHhQo2jGB6dOlcHRXC8gpPeb/AANPaM9AOrabg4voQe3Ncz4muUuFtcXMdw6h9xTtyMVi0VvhcnpYaqqsZNtA6jasFFRPcQJ96VB+NOiljlBMbhgPSvVU4t2uTyvsPoooqiQooooAKKKKACiiigAooooAKKKKACiiigAooooAKWoL66hsrSW6uG2xRruY1wV78QLtpj9is4Uizx5uWY/ljFJySA9DorjvDXjZb68Szv7dIZJDhJEPyk+mD/jXZUJpgJRRRTAKKKKACioTd2wJHnJmj7Za/wDPdKV0OxNRQOlFMQUUUUAFFFFABV7Susn0FUantbjyC3y7s474rKtFyg0iluatFN0lbnUboRxQBYQCZJS/3fQAY5Nb/wDYtvj/AFsufXivOcGnZmlzCrzr40/6vTf95/5V3Xi25uNAlj3WnnwSfckEm3n0IxXmHxL1j+1Esh9nMPllv492f0oj8RM/hPI/F99d2uoRJb3DxqYgSFOOcmsX+1tS/wCfyb/vqtLxz/yE4f8ArgP/AEI1P4J8Lza3cC4nUx2KH5m7ufQV7FGK5FoeVUk+d6l3wTpusa3cC4nvJ47FD8zbuX9hXSeNdY03Q7b7PBbxS3zr8innZ7mpfFfiCz8NacthYIn2nbtjjXpGPU1wvhrRL/xRqj3FxI/k7szztyT7D3rTkj2I5n3LPhKz1vX70n7ZPFao372QH9B7132uz6PoOmedcxK5A2xqeWc1JqF1pvhXQxtj2RRjEcaDl2/z3ryLXtVvdZv2urosT/Ag6IvoKXLHsO8iS+17ULq7knWZoFY/LHGcKo9Kg/tbUv8An8m/76qG1s7q6P7iF3HqBxUc0bQytG+NynBwc1KdNy5Va5TjUUVNp27lr+1tS/5/Jv8Avqj+1tS/5/Jv++qpUVfJHsRzS7np2kszJZsxyT5ZJ/KvpB/vn61826SdtvaN6BD/ACr2lvFw3H/iXnr/AM9v/rV41Xc9alsdRRXLf8JcP+gef+/3/wBapLfxUJriOH7CV3uFz5vTJ+lZGp08X+tT/eFez157/wAIXqgmDRzWrx5BVixBI+mOK9Cr08HTlC/MjzsXOM7crCiiiu04wrxn4h/8jjf/AFT/ANAFezV4z8Q/+Rxv/qn/AKAKiex04b4mYFFFUtb1XT9F06XUNTuUt7aIZZm/kB3PtWTdjtLtFeU3vxw8Pxz7LXTb6eMH75AXP0BOa6zwh8QPDXidhDY3nk3R/wCXecbXP07H8KzVWDdkx2Z1VFFFaCCiiigAooooAK5+/vJZpWXcVQHAAroK5y9t3iuzEFJLH5PfNebmbmoLl2OrCqPM7kmi2P8AaWqQWPm+V5rY34zjiuu1Hwza6PArxXjTS7gXQkDA7HHWuj8O+HdPs9JszNbIbyI+YZP4txqxrFrCRPd3Vw4h+z+WY8cA5yG9c9q58LRVNqUtx1qrlotjhaKWqurX0OmaXdajcHENtE0r/QCvaOQtCg18Z+OPjJ4z8QalK1pqk+mWG4iK3tm2/L23Huab4Q+LXxF027X7Pql1qkS43W9wDIuP5ircLK7MFiIt2SPs2isPwFrsviXwpZazPZtZyzr88JOdpHWtyoubhSgE9BmqOvalb6Pot5qt0cQWkLSv9BXx946+MPjLxLeS+VqU2m2GSI7a2baNvbcR1NVGLZnUqqG59hX2qadY39rYXl5BBdXZIt4pHAaTHXA71dr4n+G3g/XviFqNxJDrQhax2s0s8rs43Zxt/KvsHwfaXth4bsrLUdQfULqCMJJcMMGQjuahzgp8l9R05Smua2hrUUUUywooooAKKKKAMnxNaR6imn6ZNL5cd3fRRsc44zzWx/wjPwy1XUBY2tuwnhiYlYN4DBepJIIJ+lc545hvnh0y6sY9xs7xZnO4DavHNeyaW2nmKO8ggt28xPvQlSOevPeufERtZhGWrR5ndaN8P9Q0K5h8P2yJf2qLMkrI6uNrdy2B6irIV1VRIpDbRkH6V13jCwWTQplsLeKNpHj81hhSIw4Zv5Vy93Iss7OgIToufSihfXsUyGiiiugkKb5kef8AWJ/30KdXMTJJ5z/K33j296iUuUpK4skErSvhM5Y4596abeYHBjINV7y7XT0W4nDABhgd2PoKxrrxPJNdPKtsFVmzgtXJOrCG7NlFvY9Fjkj2L+8Tp/eFSVwOm6zb3cixNmKQ9ATwT7V3kX+qT/dFdNKqqiujKUeUdRRRWpAUUUUAFFFXdLAJkyAeBUVJ8keYaVzV8Pavpmm6JczXl1HGsMo83HLLuHy8DnnBxU3/AAnPhv8Asg6st3O1oJxbl1tZThyDxjbnt1rn/DzWml+MtWk1cxRWupxwC2eTHll492VJPAb5hj1wfSvQFhsfs32ZbWPy2bdwF259cVy1Er83cabON8ZX1r4i8F/btKLXESyhtxQqQB1ODg9K8W8V/dt/qa+i9ZW3t7RIo41RdxIRRgHivHPjNGiR6bsRVyz5wMdqw+0VL4Tyw+GZNd12KaYlLKKICRh1Y5J2ius1fUtP8OaUkaKFYDZBAgyfrXO6j4mj0LSHhhw97K5ManoowBuNZ3g+z1rxZIWmlWG1hb9/dn7xzztX3rrryqqhH2fzfl5HNho0nWftOmy8/Mbovhu68XeI5Li4gmtbJV3PIw+Z/Ye/P5V6HqM/h7wfoyJIFjiChY405Zz3P/16j1bVdO8N6ZFHAfKiiXZDGD80h715Fr17c61qUtzeTE84hXPyqvYCojCUIpTk1pt1LnOM5OUIp679DU8R+KLfVhItw0kqBxsRV2gqO3tVOTXdPkiKfZWjydvyqPufWsGZI03Lh9w79qBGuIjhjvUnA9ckVH9m4eSTld633/rsaf2niYu0bLS239dzp31LT5rNIbdo4Y2ymxiV2+h461m32h+XAJYJCVAJZ5CAG+mMms5UjTdIhy0eGAboaW81K8u+Jpjt7IvCj8Kzo4GpRmvq8rR63NK+Pp14P6zC8raWGWdstwJC1xFDsGRvP3j6VX71t2FrpU1mk0m7eoIkQP8AMT6gelYr7d52ghc8Zr0KFf2lSa107o86vQ9lThLTXs/6selaZ/x62v8AuJ/SvQCRk8iuB0f/AFVl/wBs/wClfRrwQ7j+5j6/3RXn1dztpbHl+R6irGnEf2hbcj/Wr/MV6P5MP/PGP/vkUCGEHIijz/uiskantcX+qT/dFOrym11zVoxFCl/MEXCgZ6CvVq9mjXVW9keRWoula4UUUVuYhXjPxD/5HG/+qf8AoAr2avGfiH/yON/9U/8AQBUT2OnDfEzArxb9p2e6WPR7dXYWr+YzqDwWGMfoTXtDsERmPQDJrhPilpln4r8LzWscZF7D+9tmI6MOo/EZFctbWDR3x3Pmm2tbi53+RE0mxdzYHQV1/gfSbeHXNJurh5g5nRiFOMc0vh+3k0+xMUibZWz5g7g1qaXaSX2qWtrD/rZJVCHGdpz1r52eJk5qMO56MKEVG8j6NkdY42kdgEUEknsK8+n+IV3danJbaLpkc0UQZmklYj5V6tx0Fdtc200uiyWbyb5mg8suBjc2Ov515T8PLeH7brGjXX7u7mt2hj3cHcCcj+Vevi6tSM4Qi7X/AKsctGEWnJ62Gat8RNeu5c2jx2cXZUUEn3yeat+HPH3iNpxDNa/2mvcRx4cD8P61U+F3gqTxX4zXRrpngt7clrtlHIUHGB7mvpHwh4D03wRa6mmgF5ZrptyNOwyoA4Td1xXm4d4mpLn52l/XQ3qyow922pw+i6lb6tp0d9bbgj9VYYKnuDVyruu2EWn6xdJDEkYkfzCFGBk1Sr6CDbir7nA7X0CuVk+JnhfRfFcVtfWb38MRxLPHz5LeoH8WKrfF/V7rS/DCx2cxhmupRGWHXbjnH6V44dPjZQfMbceSTXsYDLqdeDnV1XY8HNMzqUJ+yo6Pqz7Z0LU9N17TI9T0W9ivbSQcPGckexHY1g6zr1rdWUlskDljwC3Y+tfJ/hjxJr/g3VheaLfSW0mQWUcpIPRl6GvcfBniY+K9I/tSVI47lnInSP7qt7e1cuMylYZ88XeJ0Zdmv1p+zkrSNqs/xLp66t4d1DS26XVu8f4kcfrWhTZJEiRpJGCqoySa4721PWtzaHwEdHuIfEjaLcqY5o5zFICMEYPP6CvQLXQrDSbqV7HfiWNRy2cfQ13fxM0GDUfFE/iG106FHkwHkjzlyOjEdjjjj0rL8O+FtY183A023Vzb7fMDNtxnp/KvFxmLliGo0X7v5no08qqYJc1eNuzPVvgLfNceDWtJf9baS7W5yOeRg16FWF4D0P8A4R7w1bae+0z43TMB1Y/zrdr1aEZRpxUtzgqNOTsZXjDSv7c8K6po5JH2y2eIH3PT9RXxHoHhPUtS8cxeFWhZLr7SYpgRjYFPzH8v6V93XM0NtbyXFxIscUalndjgAV5foXi74bXnjq7vrqw/sy/lxDHrGMpIv+2vb/eHbrWrc1B8i1OWrGDlHndje8N+BvDfhK6e50C1MDXMEcc2JCQxTPzY7Ek10uio8MbRFty7ic4xjPardzot5DDHcp5dxZyjdHcwtujYduRTbSDyQ+cEsRnFeThqdZ1uadz0pypqnywJ6KKK9Y5AoorT8OWMd/fGOZSY1XcQDilJ2V2MzKK3/F+n6bpOjzanuaGOHBfJyMV4J4h8WalqV3IbeeS2teiRo2OPU+9XQj7ZXiY1q0aW56dqerabp8eb26jQH+HOSfwr0LwfpGn6foUVxpNq0NrfAXIyTtJZRyM9OnSvlSFmd2Z2LMepJyTXpWp+IvEt78EtPi0rVGtI9Kv/ALNcqj7JJA53RHI5wCWH4VWJo8lNu4Ze3jcTCjpG/Vnofxe8TL4TstOW+gmEF+zjeo5G3b29Pm/Sua0rWdL1SBZbG8ilBGducMPqO1ecfHHW9Y1HWdK0vWLxbqfS9Pjjkdehkf5mP12lB+FcnZkrDGykhgOCOorWnhk4LuctTFSp1ZR0aTPoKivKvBXiDUIdbtba4vJZLaRtjK7Z69Dz716rWVSm4OzOqjWVVXQUUUVmanIfE2GRrO0mUfu0cq31I4/ka5vwvoNxr9xNb20qJJGm4Bv4jnAFdJ8QdRU2TacIZC25WL44Arq/g14Naztxr2pB1lmTEEJOML/eNeRiYqVfQ6qbtDU4xvhz4ktb+yhuEjia5kZY3Q7wpUbjkjp+NdrErpEiSNudQAx9TXoGuXz2OnSTwLHLICF2s4Xgnk/h6VwbsXdnbqTk114SmoJ2MaknLcbRRSgE9ATXYZiUUUUAFW7CWKHzGlkSMYHLHFc1418Q23hnQJtSuPmcDbDHnl37CvnDWvE+vaw7tfancurk/uw5CDPbA7USpe0i0ZVK6ps+ztO0mDWkSO4tIb2yl/hcBlf6etdTFatCEtY4Cm0BVjC9AOgxXA/s+3nm/C3Q5R/yxUrx7MapeJ5/HC/tD2Udrrmyylj+0QRb8ILZRl1K9CeDWVbCqnGNm9TbL28ZOabUeVN6+R0XiS6a3mu5tQxaw2hbcXOAqL/Ea8l+Kuq6Zqlvp0mm6hbXaBmyYZAwHHtXffFG4d/BXiS6b5nNjO5z3Ow18cRSyRNuikZD6qcVpVwMYtOLOGGMk01JHc3Xh2417X4QMx2scQ82X/gR4HvXY6jfab4U0MKqiONRtjiB5kb/AD3riPB/jQabZXFvqSvN/HEw6k4+6a5nXtWu9Zv2u7pv9xB0QegraEeWKTMZyvJtBrusXmsag95dOcnhEHRF9BVSEybD+9KIOpqKnxybAQVDKeoNE1daBB2epIFkfbGsu5WbaOeKWCKYqZI3I2Lnj0NME5UfKightwI7GnLdMu7aqjIAGM8YrFxqWaSNoyp3u2RNJIwwzkim0UV0JJbHO23uFFFFMR6Zo/ENkTwMR/0r6FfVtL3H/iYW3X/noK+edM/49bX/AHE/pXoJ6mvDq7nsUtj0T+1tL/6CFt/38FKmqaa7BVvrdmJwAHHJrzmp9O/5CFt/11X+YrNGh6h5MsVyI5InR1YBlKnINeyU2H/VJ/uinV7FCh7K+u55Vat7W2mwUUUV0GAV4z8Q/wDkcb/6p/6AK9mrxn4h/wDI43/1T/0AVE9jpw3xM56ZS8TqOpUgVxHiK6i0p/JupkTPUj+VdzXk3xVPmTeZ1Am/pXk5lUcKWhnmF6rp4XmaVR2bW9rN/iQ3elaTrCPLZyIko6tH6+4rtfCei+H7OG0uooIxexxhWc5yWxycV5Z4Odk1tFViAykMPXivSNHk23sanoWFeXgakVUTktzzfrNbJ8fHAVKrlTkla+6vpv2udrXEeIPCc+qeNLW/tY1tokKtNID8zkemO/au18yP++v51qaBCs12d2MjpntXqZrWp0MLKrUV1HX/ACPqaHNz2XU1fAWjaRo91d30cYi1C9I85s8EDoB/Wug1XWrLTZfJuC+8ruAUVlTWjIhZWzj2rH1uEyx/aMlnUAEk54r5XKOI1iKyo4hW5no13fc6a+F05osy7ud7m5knkYlnYnk1DRRX3ZwHmnx43fYdL/u+c354FcAPuj6V6t8Y9Ne+8J/aIl3PaSiQ/wC70P8ASvKV+6PpX02WSTw6Xa58fnMHHFNvqkZurn98g9BXc/ArUWh1y70xm/d3EW9R/tr/APWzXBamc3bewAre+Fkxh8c6eQcb2KfmMV14yCnh5LyOLA1HTxUJLv8A8A+gq57xjIWWG03lVbLMB3roa5bxe2NUt855jI/Wvz7NJOOGlbyP1TJIKWMjfpd/gc/cWwRCynI7g1N4Jht7DxB5kZaMTrsKA/KT2OKkmXdEw9qzo3ZHV0JVlOQR2NfL0a8sPUU4n3NWl9YoypS6qx6hRVTSLv7dp0Vx0YjDfWrdfbQmpxUo7M/M6lOVObhLdHkX7Qeq3KNp+jQzukUyl5lU4D84GfavNX0q3K4BdTjsa7X9oAH/AIS7T2xwbYf+hGuaPWuiOx5VZ++y34K+IHiTwW76bDfSS6VIw8+1c7l25BJXP3T9K+hrG5hvLOG7t2DRTIHQ+xr5P1g5vn9gBX0B8E79r7wHbIxy1s7RfgOlKaNcNLVxO2ooorI7ArZ8IS+XqwXs6EVjVV1TxAvhm2/tXyRM0bALGWxuJ96UouS5UDkoq7PQPGaaa/he/wD7YjMlksJaVQcE45GD65r5NmKNM7RqUQsdq5zgdq9B8afFTUvEWkS6XHp8NnBNgSEOXYj07V580brGrlSFb7p9a68FQlSi+bqeXi60aslyhG+xs1Yu766TR5rWGUi3ldHkT1K5wfwzVZcbhnp3qyyq8JT+EjFb1qanFxfUMDipYTEQrRV3F3MiSSfU717m6mLyNjcxPJwMD9BVxVCqFHQVmQpILnYuQynk1qVpFWRyyk5NyfUfDI0UySpwyMGH1Fe6adcLdafb3KnKyxq4/EV4RXqvwyvPtPhwQM2Xt3KfgeRXPiY+6mdmCnaTj3OpoooriPSNCDQdOuvJurq2E8q/Mu4kgH6dK6C3uZrfAU/L/dPSobM4iRf9kfyqaRdymvyDEY2vUxEq6m73dvLyPajCKio2OY1JZFu5PMYncxbPrmq1bWswGSESKOU6/SsWv0nJcw+vYSNR/EtH6r/M8yvT9nNroFdNFpdx/wAI8i2qJ50x3SE9SvoK5odfWu70fU7S8hiijkRJtuPKLDcceg716FZtJWMkcNNFJDK0UqlXU4INRswVSzHAAyTXn3xs+JraT8Qvs+gzxXkMEYjvI2GU8z2Yd6wfEnxYs9R8HXEFjBNa6pOPKKNyqqfvMG78fStoJySZhKtBNq+xyHxY8VyeJPEDRQNjT7QlIAD9893P1/lXG0UrqyMVdSrDqCK3SsefKTk7s9t+AHxYtfD1rD4V1yHZZNIfs90gyUZj91h3HuK9N8SabqMvxo0zV45m+yLp7srDoF2lSPx3ivF/2a4/CcnjVh4iwb0BTpqy48ovzuz/ALXTH4+1fT3i9lg0Wa6wA8S4U4554x+eKqaThzS2Wv3G2ExM8PUkoLWacfv0PNfFGoTatbX2lyv/AKFcBomVeCUPBGa4P/hXvhn/AJ9Zf+/prqycnJ6mivkp42vKTfO/vPoI4SjFJcqOSk8AeF442ka2lCqCxPmnoK8d1A25vp/silbfzGEYJz8ueK9w+IN+2n+FLyRM73Xy1x2z3rwgdK9fK5VJxlOcmzysxjCElGCsFFFFeqeaFFFFABRRRQAUU6JQ0qKehYA12o8N6Xgfu5P++6zqVYw3NIU3PY1dJG6CzX1EY/lXuTeE7Hcf9IuOvqP8K8SskWOW3jX7qugH0yK+jX++frXj1dWepS2Oe/4RSx/5+Lj8x/hToPDFlFMkqz3BKMGGSOx+lb1FZmp2tr44URxxyaeS+AGKyYGfYYrtK8Yi/wBan+8K9nr1MJVlUvzM83FUowtyoKKKK7DkCvGfiH/yON/9U/8AQBXs1eM/EP8A5HG/+qf+gConsdOG+JnO3P8Ax7yf7p/lXlPxBjYacSwORIDXrNcR8WbXzNIMsa5fbzj0BH/168nM6fNR5uxOOh79Gr/LOP3PT9Tznwd/yHI/90/yrvY/vr9a888LSGPW7c9mJU/jXpWmruv4F6/OK8Kgr2R83xhTk80p+aX5s07ZZPtEfytjcO1d94dP7xvXcKx60NDk2Xe3+8OPrXpZ9Qc8uqxj2v8Ac7n3mHl+9R103+qf/dNZDKGQq3QjBrWl+aBv92sqvyWm2tUerHY5uePy5njznacVHU16c3cv+8ahr9vw0pSowlLdpfkeHNWk7FXWVWTSLxXUMphbIP0rwCvoO/TzLG4j/vRMP0r5+mXZK6f3WI/I19Jk70mvQ+Zz9e9B+piX4xdvWt8Pv+Rz0v8A67is3VRi6z6qK1Ph4rN410sL188V7FZ/upejPAw6/fw9V+Z9FVzfjWEj7LcgfdYqa6SszxQqnQ7gsAdoBHsc1+f4+mp4ea8r/cfqeVVXSxdN+dvv0OUcZQj1FZnTitNDlQfas+4XbK31r4yaP0Sm7HdeFV26HB75NalUtCQx6PaqRg7Aau19vho8tGC8kfmuNlzYio/N/meUftCaazQ6XqqqSI5DC59M8j+tefnrX0D4x0uHWPDV7YzjhoyynHKsOQRXz8QQxVuoODXZB6Hj4iNpX7nN3zbruU/7Ve0/s5zF9B1SDPEVwhx6ZU/4V4tertupB/tV7F+zd/yDdc/67w/+gtTnsTh/4iPWaKKKxPQCuK+LQk/sq0Zc+WJju+uOP612tVNX0+21SxezulJjfuOoPqKunLlkmZ1YOcHFHiVlbTXl3Ha267pJGCqK6Dx5YR6XJp9jGciODk+rdzXe+HfDGm6I7SwB5pzx5snUD0HpXHfFj/kNW/8A1xrrjV55pLY8+dB06Tctzjakhk28HpUdFdByCyRKkrOo+/zmkpckrjqB0pKEAds12nwovPL1a4smbiaPco9xXM2SJJpGobly0YjdT6ZcL/Wp/CEzQ+J9OdWI/fqre4PWs6i5otGtJ8k4s9pooorzT2jpLKTdbxP7CroORkVkaKxa1IPZuK04W/hP4V+PY+j9WxlSl2bPbg+eCkQagNtvMenynFczXYSxrJGyOMqwwaxrzR2XLW7ZH9019HwzmGHwinTqys5PTscuKpynZoyK57xx4bk8Q2cJtdQm0++tmLQTxsRjI5Bx2PFdEQQSCMGhVZjhVJPoK++TPNaTVmfNHifwH4o0aaSS5spLuIkk3EH7wH3PcfjXKurIxVlKsOoIwRX3DpHg7WtRAc232eE/xTccfTqal8V/Bfw3e6BdT31pFd3qIWVggUjHXBHOcVqpPscVSnBPRnyR8J/DX/CReJkM6brK0/ezejY6L+NYPio58S6l/wBfUn/oRr6Y8MeG9I8NWcttpNu0SSHc5dyzMcepr5n8Ug/8JJqZwcfapP8A0I0Rd2FSnyQRnIzxurxsyOpyrKcEH1r6E8CfELVvFfgwaVqil57ORVa5z/rlAOAfccV89V7X8MbWKw8J27O6LJcEysCeRnpXHmVVwoNLroa5fTU6yb6anV0+GN5pkhjUs7sFUAdTUHnw/wDPaP8A76FavhXVNN0/Woby9ZXjj5G1h8p7Gvmoxu0mfQylZHenwvpdj4S1GG4to55JLKQzNIN3IQnj05r4ZiyY07kgV9b+Lfi3ol3o13Z6EktzLKHgaR1KqvY9eteBR+HdPjvRcLuwDkR/w5r6LCzjRTR4WKi6rTTOK8mb/nk//fJo8mb/AJ5P/wB8mvTMD0H5UYHoPyrb635GH1bzPM/Jm/55P/3yaPJm/wCeT/8AfJr0zA9B+VGB6D8qPrfkH1bzPM/Jm/55P/3yaPJm/wCeT/8AfJr0zA9B+VGB6D8qPrfkH1bzPNoIZfPj/dP94fwn1r3P4ZafY6jq9xDf2sdxGtsWVXGQD61yuB6D8q7T4R/8h67/AOvVqh1faTWhcafJF6nHREiVCOoYfzr0lta1bcf+JhP19a82hGZYwOpYAfnXqDeHdW3H/R16/wDPQVw1Oh10+pX/ALZ1b/oIT/nU1jq+qPewI99MytIoIJ6jNL/wjurf8+6/9/BUtnoGqR3kMjwKFWRWP7wdAazW5oz37/hEdGkcTeXMhbDbUkwo+groqzbXWtKkt4mXULcblGAzgH8RWlXu04wXwnjTc38QUUUVoQFeM/EP/kcb/wCqf+gCvZq8Z+If/I43/wBU/wDQBUT2OnDfEzBUbmCjqTiqGv2Fle38WmtNM0yxSSNGqf6wBSdqk8AnHerks0dvE08riOOMbmYnAArndf8AiNZ614OOlWcdxHdLLteXYAjKM8qffivOxUZ1HGnFX5tPTz+R0YvDxqYWcqkbwVr/AKI9a0vwr4OtfC8Gn2+g2gYKCZGjBY+5brmvPDoul2V8szG4gAumigViH81Qfv8AHQV1t2zR/CK5ljd1ddHkcMGIIPlnnPWuS+Gv9o+F/Adt4m1CM39jewFYFt13SREZOGJ7E8Y9a+fwinUlUaV3C2i0vZ/mTXwdLESpTqRu76X6dTRuYjDM0ZIOOhHcdjTBeW2n/wCnXkyw28PzSSN0UeprL8N+IIPEViL1HHn/APLePujd+PSuP+N+syWmiw6TC+1rwky4/uDt+f8AKvrKOG+uRVFv4lZ/dqa46pLAKUqi1j08z3ywuIbyxhureRZYZUDI69GB71xdx478Jwag9jLrEK3CSeWydw2elZf7Ouvaj4h8J3thdRrGmnKkFtMg55Ddc9SMCvnrWJLq18W3M2pb3uYrwtNkYLENXyuVcAe0xFalip2UduV6/PS2xzYziF0qNKrSj8W9z6WdtzluuTmm02B1khjkQ5VlBB9sU6vqYxUUorodd76mB8QtVOjeEL68Q4l2eXH/ALzf/WzXiULF4kckksMknua9W+NltJceBZWjPEE6SuP9kZH9a4L4deF9W8ZO1noqxSSwIGl8x9u0E4zXpZVXjTrSjN2Vjxc7oyqU4OKvqcrrq8xOPcVqfCxGl8d6b1O1y35Cug+Lnw/1DwXpWnz6pfWcs91KVWGFiSoA5Oe4/wAax/g2Ffx/ZpwWEcjY+imvNzKopY1um9HY7cspyjhYxqLVX/M+ga5L4m6n9m0hNNh/196wUc4wuetdbXknxUunfxUY8kC3jQL9euf1ruwFJVK3vbLU4s/xM8Pg37P4pNRVt9ex1vhLS7C7EenPfXElzAreaRHhXIBO1Se/QZ+te1WWg+Fz4Yjsf7Ht3d0G93QFjkc5avnbxR8Sop/hBH4ftluYNU3hZ5lQKjLkkkEdzx+VeyaAzR/BSORXcONFkcNvO7d5bHOetfC42NWliXZW520vRvdbfI+jliqrwUKdZ601Zq/VLZ76233EvNP0+1ti6vJFEr+XFg7gw9RWdcxGCZoywbHQjuPWs/4Ya+NL8Fw3N1FNcolu21Ixuf1wM1W8N+IofEdl9sDAXP8Ay3i7o309K+hpRrUa86NR3S2ff+uupz4ZSxGFjiYx0dr+V0bmn2MmpXS2cY5kBBPoMda+bvENqbHXr+zOf3NzInPsxr61+HEKm8uLg9UUKPxrx/xr8I/FOreOtXvbWK0tbCa5Lxz3E2xSCATj8c12wl7zRx4m7aOC8P8Awc8V+L9G/t/Rmsnt5JGjCPJh8jGf5133ws8D+IPA9tqNt4gt0gkupUeII+7KqCCf1r1/4MeF5vCXhBtLl1S31HdcvLvhUhUJCgrnPPSoviI3/E0gX0iqXUblboFGFpJnMUUUUzrCiiigArzP4sf8hq3/AOuNemV5x8W0UajZv/E0ZB/Ot8P8ZzYz+EziUUu6qOrEAV22heEdPu5byDzLu8vLSMMYUXy0kbuoY+n1rz37bsmIC5weCDXpN38TLWb4ZR6AizwavuPmTqgClcnkEc5Ixn6danH1KycIUd2/u8/T7jlw2Hcqc6zXux6+b2R7noPhjwjD4Pt7BNCtizxqztKgZjkZOW9e1eLeLPBuhafBeXeb+0jjvDDCFxL5y9SwA6AfyzXqvhs7PhJFJGzAjSpXDBjnOxjnNeN/CnxzB4Yu5m1iOe6tWgYRhFDOjMQTgnnBxzXzuBqYubq1ISu4NK3e1/x+86qkad4Qa3MGexk01dXsjIsg8iJldejr5ikGs7SJPK1W0k/uyqf1q/Y3F54hvdUmw891OhbaByfmyAB9K9U+E/gO2Tw5eXviDSj9sdmWNJhyijuPevp/rCjSUpO7djnqYOrCu6UlZxNI9TSUifcXr0ptzL5NtLN18tGf8hmuU9G5xfi/xvq2kasbHR7qNERR5u6JW+b8RWG3xF8WM2f7QQfSFB/SuYvJ2urua5c5aVyxP1NQ185WwuHrVHUlTTb8keLPHV23yzaXqen/AA+8beIdS137NfXyyx+WzBDGoyR9BXpljrUfnr9shymedp4FfP8A4Hna38V2DL/HKIz9G4Ney10UMqwVWKcqaumengcVVlTd5Nnfm20zUIgfLilQ85Xg1s6nceHPBXhG68STWHlQWkXmNhd0h7AAnuTXmei3rafqlvdr0RwWHYjvXsPiTSNP8V+FLrSLvcbO/t9pZDhlBGQR7jg17VCnyN66E4qTsjyvxd8R/G03ii/j8J2djHp2i6bFqV5DeoRNcRuMlR/dIFeuaDqVvrnh+z1WDm3vbdZlz/dYZrzvw/8ACtLKDXZPGHieXWX1W1jsnlCfZtluhyq8McngZPf0ror3xh4Y8M6SlnZlWt7SIRokfCIqjAGTXQ2kcsISm7RVzj77RrWLV7q1/eswbciYwCrcjn6GtHU/CHgq40AaafDNlJ5hPmuIV3HPVt3XNczbfES28W6dfNZ2VxbFZSiueY2UHgqfpisn4rfEHUvBelaUNHt7e6uTYm4njnBICYUBuCO+78q+TxU8XKVov4m0vlbVdvI96OCm6ns5q0krv5K+pwviD4XafB58Wj+FZ/sEEzpc3VzcEuqEcSRnOMIRyD1BrwO4RY7iWNWDqjsob1AOM13fhz4oa+3hTxB4ecRSx6k8lwzuWZ495ywTngdOK87W4jx1I+te7gYVoOUarva3/DnlYmjy04VEtJX/AAdiaimCWM9HFOBB6EGvQOM2dN1u402zSCKGKRWy2Xzkc+30qx/wll7/AM+tt/49/jWHL/q4v90/zNXvD2jXetX62tqpA6ySEcIPWs/ZQerRp7SS0TOg8PalrGtX62trZ2+BzJId2EHr1rrNfi0zRdPN1eXUu7GEQYy7egqZm0jwXoWBjOOB/HM9ecTS6t4v1wAAu7H5VH3Ilpexp9h+1n3NHSNZ1bVtQW0sbGBmY9Tuwo9TzXdT6XZ2dibm+vGjEa5kYYC59s07RdL03wtpDOzquFzNO3Vj/ntXnHjTxNPrlyYoyY7FD8if3vc0exp9g9rPuSX3iphdyCyt0a3B+Rpc7iPU4qD/AISy9/59bb/x7/Gufoo9jT7C9rPudFH4qvGkVTa2+CQP4v8AGvWfhhfWdjrFxLe3MVujWzKGc4BPpXg8H+vj/wB4fzr0gTQYH76Lp/fFc9aKptOKN6MnNNSZYtv+PmH/AK6L/MV9Fv8AfP1r5zgbE0bDkB1P15r2RvF6bif7Pbr/AM9R/hXBU6HbT6nqfh63062ikN1b+c7L8pbnFZGt2kMZaWIBfUDpVbwRr2m62kzW7BL2MhZ4fMLFR2PpzVDxP4i0u01EaXaMlxdtKEuUEh3RHI6g14FKtWliFTfT+tf0Oh0pRu7Mli/1qf7wr2evPP8AhDdVWYNHJbPGCCrFyCR9McV6HX12DpyhzcyPLxc4ytysKKKK7TjMzW/EOh6Iu7VtWs7LjOJZQDj6da+eviH8RNEvPFN7JoKz6wXZQhgQhMhQOSf8K9r8TfDnwj4k11NZ1zS1vblUCbZHOwgdMrXnfi7S9O0vxNd2unWNvawx7AiRIAANgrCopvyR7OClgaaTlGUpW1WiX6t/geZnSvEfinDa3INN07O4WsZ+d/r/AJ/Cuh+Bvh7wxqniu70nV7Pz/KQtbIXwpweQQOvFbA6ivP8ASNYm8O+O4tWhzm2utzAfxIThh+IJrTDU7N9zmzrGzqxhFpKCey2/4L82fRt5plldGXR5IALKbNu0S8Dy24IH4GmeEvD+ix/DdvDuiammp2tsZI45gQdrhidpx3B4qaK/tHnTUzPHHaEiYys2FVOpJJ6AVyXwxvLfQ/jH4l8L2M0NxpWrxrrNi8DB0Vn++MjgA9a8DIoJyqya1uTiZtKKT0PMdd8JXEOpSap4fuP7P1AE+ZEeI5D3BHavMviTJrGoapAdWtVtbiKLZtB4fk/MK+nviRpgsPEUk0a4iuR5g+vf9a8Z8Q+DtW8ffFOy0LTPkiitVkupyflhj3HJPv6Cvo8DCUa3NCXLa/mjfH5hTrYRQxVP2i0Ss7SXz8vNM2f2V9Tt7bTdX0q6kjgk85Jo97gbwQQQM/QVyf7RvgfW9E8W3XiF7QvpGoMJIriLlVYj7reh/SvoG/8Agd8PYtGj3xT2LWkGZbyKcozbRku/b1rzLTPD/hnxNcz+F/DPxT1JTcKQlnqFs6pcL0+QuMMPpzV0sXVo4qVdxvfe3/BOarl2X4nCRoU6zhbbmjf8Y3/I09F50ezI5HkJ/KpruUw2zyqASoyAaoeI/APxG8H6aklvq+nX1hCoUMY2ygHQEYrk5tU8aSQtFJHp7hhgkcYrz6lbV3TPZpYCMorlrQfza/NIs/EG/kvPBeqW7RoN0PX0+YVxH7Os00fxW0tIrholkEgkUMQJBsJxjvzz+FbWpx+KLrS7uKa3tPJ8lmk2tztHXFcT8PrTVrzxXYL4StbubVlkDQGMfc7EsegGDyTXFUblJM1eAUd6sF8/8kfSX7QHhKPxN4Hnuox/pmlo1zEQOqgZZfy5+oFfN/wPkhg8fzXl3KkMUVvJ87nA5GMZr6PPw38eatMtr4i8cXYjlwssEEfygHqPfvXl1j8N7vQPifqnh7xFaLPYwWwuLOZVIS4UuBn688iiEJ8ydgVLBw+Otf8Awp/m7HQal4406Nzb6VDPqlz0CwqdoPua868btqtzrAuNYt0tppYgyxqei5IGffivZ7GwsrGIR2dpDAg6BFxXmHxd/wCRli/69V/9Cavby6gqtblqarseBxHmywGBc8DHllde87OS9OifmtfMj+FngOT4geIH0cyNBarA7zTAZ2cYX/x7H4A19KaB4d+x+GLXwrqEiyhbf7HO8RwGU5UkZ9jVX9mbw5p+jeBRfw3VvdX2osJbhonDeWo+7GcdMcn8a1fG1xdWmk61dWLSLdQ2s8kBjXc4kVCVKjucgYFeNxXKMq1KUVs7HmcOUJ08JJVHdz959dX/AFqY1x8MZ9C01LfRZmvLeIHCScSAfyNeW+I/B91b6o+paLK2makDl42GEkPuO1dv8M/ij4z1bxdZaTe6dBrWkbFjn1XTIWKrK4ym8HGzGDuFev8AiTS9JvrGWXUoE2xqW8wcMv416dWn7R3Z6+Ax88HZU9rWt0t2a6nz14F+I0vhu9lt/GGlXVqjKFNzAm+MEdz6D6ZrtPF/ivw3r3hlX0rV7S5JlUhQ+GAwex5p/g2K1uNelgkhSaB43wsqhsgdM5qXxB8IvButM72+mHT7t84ktHKZb1I7159anJpxuet7fA1KilOLg/LVfc9V95n/AA31d7S+axc5t5gWA9GA7fWpfGdwbjV9xGMIABXKaF8HvGVprvl6drl9pflbsXLAMvTHHrmtHxD8PfirYQveReINN1UIPm3xtvx64xWeFhUgtU7FVsNhZVL068de91+jX4iUVyLN8QYzgx6ZIfY4x+dJ5vxAPH2fTV993Suz2nkw/s5/8/Yf+BHX0orkPs/xAm4a/wBKgH+yhJqN/DPiW7GL/wAVTbD1SJcCjnfSILA018daK9Lv8kdXd3lpaKWurqGEDrvcCvLvifrmnahe240+4Fx5SFXKg4Bz611ln4B0ZGD3st1fN/01kO0/UVg/FCwsrH+zobO1igi2N8qLgda1o+0lNW0/EyxLwFGm271P/JV+r/I80LAfd60ixyzErHG8jY6KpJ/Srs1mrEmM7T6dq6L4UxOnjSNZE48l+oyO1dypqknLd9zxMRjqmMcabtGC2itEv835vU+gfD6snwZRWVlYaNLkEYI/dtXyjBczKi/Nngda+xL8f8UDfKo/5hs+B/2zavjZQVUAjBAr5/h3WVf/ABf5hj1y8i8j0z4F2FtfeKP7Surqa1WzYH910ckcA+2a9s8Z+PdC8P2wW4knmeUYHlRFlT3Y9AP1rxf4Hf6jVP8AfT+VejyRxyIUkjR1PUMMiu/EUIuo7aHp4XFOpCDxF5JK2+tvXUoadrmkagga01C3kz234P5Grt2gksp1PKtEwP0INYOp+C/D985kFobaUnJeBtpJ96zJPBt9ZxyNpfiS9hG0na/PbpUNzW6O50MFUXuVXHykv1X+R5tKoSV0XorED86bTJVuFlcGRWIY5JHU5pB5/wDsGvJaPnnlUX8NeD+bX5pGz4Q/5GnTP+vpP517XXhOgf2h/bdl9jEP2nzl8rf93dnjNekfZ/iBN96+0qAeyMTXbhJWi9D0sDlvJB3rQ/8AAr/kjr8Zrok+IU+kaJFYmS1hMKkebK/OPpXlT+GfE12MX/iqYIeqRLgVNaeAdHRw97NdXzeksh2n8K6lOfRHc8Hg1/FrX8opv8XY0PE3xMS9nMcU93rFznAjhB2A+/b9DWGNH8QeKHWXX5fsFgDuW0iPzN/vV19hp1hYRiOzs4YFHQItWaORy+JlRxtLDq2FhZ/zPV/Lov61IbK0t7Ozjs7WNYoY12qo7Vw3jZW11vG2pN88Oj6JHaxnsGyvT8Q3513Go3Mdnp9xdyttSKNnJ+grB0zTWh/Zz8UalcJifVI5Lhyeu3eoA/TP4152YyUHT73S+9oMPJww1es92uX79X+C/E+X/Dsoi1OLd91wUP40y/sZ4rydI4JXRGPzKhIx9aYIXidJI+dpDY78V9B/C57OX4b+IHaKN5REzncoJAKHFenWn7Kalbc4cPBYnL5R605X+UlZ/ikfOdGSOhIqxdw7WZ0HGTkelVq6jxTsdM0O51iTTba0j2hrYNLIeijceTXo7NpPgvQcDGew/jmf/P5Vk+FNXs9E8DRXl0RvxhEH3nOBxXHTS6r4v14AAs7H5VH3YlqYbFS3CeXVvF+ugBSzscKo+7Etem6Jpem+FtIdmdVwu6adurH/AD2o0TS9O8LaO7M6rtG6edurH/PavN/GniefXbny490VlGfkTP3vc1RIvjTxPPrlyYo8x2SH5E/ve5rnKKKBBRRRQAUUUUAel6Z/x62v+4n9K7+SRUVnYjCgk/hXA6P/AKqy/wC2f9K9o+J9xDp3hC+kjhjEsuIY8KMlmPavEq7nu4Kk61SNNdWkV/2bgZ5PEGosPmnljwfYbsVl+Po49O+OCMqhUv44mY+r56/oK9D+EelppHhi3tAoD+SjSHHJY5PP51yfx8gNveaXr0SjfY3EZdv9knv+OPzrxqb/ANvl6f5HuQqxr42pBbTTivu938kfSsX+qT/dFOrybTfEWrNb2/k6hL5RVdo9q9Zr62jXVW9kfGVqEqT1CiiitzEK8Z+If/I43/1T/wBAFezV4z8Q/wDkcb/6p/6AKiex04b4mYI615d4kXbrd4AMfvDXqFeZ+LV2+IL0AYG/j8qvDfEzLNP4a9T6H8HW0F54a0u0uokmt5rdI5Y3GQ6ngg+xFdL4N8DeFfB5mk0DSYLOSYASSDlio6Lk9h6Vx2k38mleAbfVIkR5LSw89Vf7pKqSAcduK818M/EDxZ4u1i9k1PUGS0SMbYIfkjUk9OOvHrXgZEnau/7xvXXM4R8j2P4p3mk3NgkC3Ub30L5VUOcA9QcdK+WPFPjHWvCnxZn1XRLpoJrYRxuufllTaGKsO45r2AdRXzj49n+0eMtVl/6eCv8A3yAP6V9dlMVUqy5lpY8zOm6OHiovW59lfD7x34e+LXg2+00P9mu5rV7e+tCcOgdSpZfUc9a8v+Inw88VWOjaVpd5Lea7LYK8Hh+TSrNllhl/5ZvPKBhVX6+9fPPh3W9U8PavDq2j3klpeQnKSIf0PqPavsz4IfF7S/HtklheFLPXok/ewE4EuOrJ/hV4zAul70NY/kcuCx6q+5PSX5noek2902gWttrHlz3X2dFuuMqz4+b9a8V+IXhfTNP194tKuQsbfM8PURH0r0/x54nTSLY2dqwa9kHH/TMep968mkd5JGkkYs7ElmJySa8eok9D3sNGS94wb7TWt9LvnMobNrIvA/2a9G/ZdsfBUfw9gvPC8ateN8moSSYM4lHUN6D07Vx2pLu065X1hcfoa8N+EvxA1D4d+Mv7Rt8y2UkhjvbbPEkeeo9x1Fc7nGlNNrQ6KsHUjZM+vPHXxAurPxPF4L8JadHqniWWLzmSdvLgt4/77t3+gqr4J1aT4meE79NY06Cx1jTbt7SVoW3xiRT1Ru6mqfxP8LWfxS8DW3ibwffeRrUcBk0+8hfYzKR80TEc4PI9jXVfB+zSy+H2mQL4ebQJBH++s2HKv/ESTycnnJrt0aPNTcWeYajZ3Gn3stpdRlJY2wR/WvIfi5/yMsP/AF7L/wChNX1R8UNNsJtM+3yTJBdR8Jn/AJaD+7Xzd8WNDMlpP4i+0qq2luAYSOX+bsfxrfBVYYerz1HZWOTPMNWx+B9nRjeV1p/w5xfhvxJrfhu9W90XUZ7SVTn5W+VvYjoRX1f4a1prrw9Ya/q0iKWgW5uXC4UAcscemBXxO2sJtP7lunrX134aT+0PhDbRKfL+06Q6AnnbuRhmvG4nx2Exao+xldqWuj2OPhzLMwwDqLEQaTWiunr8mekeB9O8L2OktN4ThsksLyQ3Ba1IKOzdTxWH8VtYMNpHpMLYeb5pcdl7D8a8x8FPqHhbTLe0s7590Q+Zl4Vvwq7qt/calfSXl026WQ846D2FejUkrtR2Pew1GdoyqKztqvM0/AzbfEUXOMowr1bSBFliT+87A+leR+D22+IrX3bFemKSpBBwR3rlcuWdzWsrmrrx1JdFvDoywtqPkt9mExwnmY+XPtmuV+HXjmTXJptB8RaedF8TWi5uLKT7si9PMiJ++h9q6S21ONdsdywUsdqt2P1pviHw/pWvxwDUIC7QSrLFJG5R1KsGADDnGRyOhrqjNSWhxSi1uYnjHwZDqW6804LBddWXosn+Bry+7t5rW5e3uI2jljO1lYcg17L4v12HQtMMmQ1w42wp6n1+leNXU811cSXE7l5ZGLMx7mona524dya12IqKKKg6Argvi8p2ae3bLCu9rh/i6v8AoFg/P+uYf+O1rQ+NGGK/hM85rpvhmf8Aiqox6wv/AErma6b4Z/8AI1x/9cX/AKV3VPgZ5dD+JH1Poq8/5EW8/wCwdN/6LavkC+j+VJB6YNfX95/yIt5/2Dpv/RbV8kzpvtce2a+b4c3r/wCL/M7cx3ieg/BFSNO1BuxlX+Veh1wXwVTGg3cmPvT4z+Fd7Xq1vjZ0YZfukFIyhlKt0IINLRWZsU9M+EPh/ULQXbX98hkYkqMYHNS3PwY8Ow28kp1K/wDlUntXceDJN2mun9x6ueIJNmlyerED9a8ypBRk9CI4Si/snjkHgfSdHvItQW4uZWtz5iq2MZHStb+17b+7J+VWdau7fM1u0mHKbeRWDDbec+yOVCcZrppe7BcprGjCDairI2INTgmlWNVfLHAyKu1zln5cVzHI0y4U5OK2o7+1kcIkmWPTitoSvuEl2LNFFFaEnL/FC6MHhZ7dTh7qRYfqCea7Tx5YrpvwE1KxQYEWkqpHv8uf1rg/Gq/bvFXh/Szyhm86Qf7IP/1q9K+Lf/JHte/7Bw/mtfP5s269L/Ev0PTxD5MDTp9+aT/JfkfEY6V6T8LtZWz0PXLWVwEn06VVBOMuBkfpmvNh0rotI3w+HZbmPqWkjz9Vr38Sk4r1POyV81SpS/mhL70rr8Uc8eSaz5l2SstaFVb1eVb8K6TyEdS2m3mqTaVYWqlmNqpPovJyTXpeiaXp3hbR2Z3Vdq7p5m6saqeDntbDw0L26KRBI1DSHrt2g4/WuC8Z+Jp9cujHEWjskPyJ/e9zUU/hRU/iDxp4mn1y68uItHZRn5E/ve5rnaKKsgKKKKACiiigAooooA9M0fiGyJ4GI/6V6d8R7601TxJoOjRXULweebichwVwPu5/I15hpf8Ax62v+4n9K6G0X7V4yupuq20YX8T/AJNeJV3PqMo92U6v8sW/nsvxZ9B+Ebq1uDcC2uIpQoXOxgcda5v4uLZXmk6lp01xCkr2wZUZwDuHK8fUUfB37+p/SP8A9mrO+I0ay+OEif7rpEp+hJrxaf8Av8vT/IwpVHSmpro7k/w4vDfeEdKmLb3Eaxuf9peDX0LXkX7Nkz2dr4k8MSfKdL1Nwieityf1r12vqsJT5Y3vucec2WLnFLS916PVBRRRXWeUFeM/EP8A5HG/+qf+gCvZq8Z+If8AyON/9U/9AFRPY6cN8TMEda8w8US+drt4/bfj9K9NdtqM3oCa8lvpPNup5P7zsf1rTDLVswzSXuRie+3P/JJLj/sDyf8Aos15b8KbcR6HPcd5Zv0HFepXP/JJLj/sDyf+izXA+A4fI8K2Yxgupc/jXz+SO0K3+I7mrzg/I3Gbapb0BNfMWuyedrd9L133Mjfmxr6auQ7W0qxjLlCFHvivD4Phf461CaWS20J5F3nLedGOp92r6/KatOm5uckttzxs9pVaqgoRb32RxNWNNvrzTb+G/sLiS2uoHDxSxthlYdxXa3Hwh8dW6hrjS441Jxkzr/SoB8L/ABVu2mO0X6zf/Wr2fruGenOvvPAWX4rf2b+49h8Laleav4estS1C4e4up4g0sj9Wbua0qzPCdhPpfhyxsLnZ50MQV9hyM1p18lVtzyttc+6opqnFS3sjE8d6mukeEtQvCcMIiiD1ZuB/WvmnJJyxyT1PrXt/x4kK+FLePdgNdDI9cA/414hXmYqV52N47Hrf7O3xck8B67Fous3Dnw9fSbX3HItnPRx6D1r688Q+KtN0qwWdJkuZJUDQojZ3A9Dn0r82NZ+7H+NfWXhtGi8O6bC5YmO1jX5jkgAdK2wlWVnExq0Iyakb2t6te6xdm5vJSx/hUfdUegFeWfHTWBa+HotKjbEl4+X/ANxf8T/KvRK8Q+PcjHxXbR/wraKR+LNU4+bjRdup04aC50jza7k8u2kf/ZOK+2Ph7/ySbSP+wZ/Q18R6kN1vt7E819u/D/8A5JRpP/YM/oa+WxC0h6nVX3OeorL1W9nt7kRxlcbc8iqn9qXfqn5V9i6iTscKizufBds1x4ggYcCHMh/CvSK4P4Rs1xbXl1LjeGCAgdq7ys5O7Oar8VjD8TXTRQSbf+WaE/jWP4T8aXWmf6Pfb7m17c/On09queL2xbXX0ArhanDPWUvMtQUo2Zo+IdWuNZ1J7y4OM8Ig6KvpWdRRXSaJJKyCiiigArjvizHu0K2f+5cZ/MYrsa5n4mx7/Ccr45SVD+bAVpSfvoyrq9OR5PXS/DUgeKos/wDPJ/6VzVdF8Ov+Rqg/3H/lXoVPhZ5NH+JE+i5jnwFdk8/8S6b/ANAavlFPuL9K+qwc/Dy5PX/iXT/+gNXykTiDP+z/AEr5vhz4q/8Ai/zO3MN4+h6d8Ho9nhZ27POxrs65f4WR+X4LtSRy7M3611FenU+NnTQVqcQoopVXcwX1IFQana+FLZrfSlZusp3fhUXiq4xHHbj13NWzbqEgjQcAIB+lct4ok3X0v+yuK82b5n6m9M4K8s7ye6lmMX32J60/TrK5iud8keBtI61s0V3KmkZuTOdGm3mP9V+tTWVjdR3UbvHhQck5rcooVNBzMWkoorQg5CQ/aPivCp5FrZ4Htnn+tek/Fv8A5I9rv/YOH81rzWL938WZN3HnWa7PwAFelfFv/kj2u/8AYOH81r5/NP4tH/F+qPTzHSNNf3F+v6nxGOldxo1nG/wxmvAzGQal5ZXsFMbHP5iuHHSu40S4WP4Y3EO7DNqQbHsI3/qRX0GK/hnm5D/v0Pn+TOIPU1FcjMYH+0KlPU/WmOpeWGNerSAfrW/Q8nqdL4turiOG004SEW4hWQoOhbpn9K52t/xwManCB0EA/wDQjWBUUfgRdX42FFFFaGYUUUUAFFFFABRRRQB6XpWPs9pnptTP6V6J8O9Bt9SbWb2SaVVN+8UZGMlV6E8e9ec6fxY25/6Zr/KvXvg583hWRzyzXUhY+pzXiVdz6fB6YOs/8K/N/od74B0mHS2vPJkkfzAmd+OMZ9PrVPxbotvd+I1vnllV1VMKMY4P0rd8NdZ/+A/1qtr/APyET/uCvFp/7/L0/wAjl6HLfDzxH/ZHxn8VeZbF/wC0FWcorYAYkcivoOvl60O344T7ed1hHu9uK+oa+owU5STTFnkEqlOS6wj+SQUUUV2nhhXjPxD/AORxv/qn/oAr2avGfiH/AMjjf/VP/QBUT2OnDfEznpl3QuvqpH6V5JcrtmlX0Yj9a9e68V5RrCeXqV0nTEhrTDPVnPmi0iz3i5/5JJcf9geT/wBFmuU0q3+y6Za23/PKJV/IV22nxLP8O4oW+7JpxU/Qqa5Kvm8mf8Vf3j1EtIvyCuo8DyfJcR98g1y9dD4IP+mTj1QV61b4GWtzR8Vt+6hT1YmuPkOXJ966jxbJ+/jX+6hP5/8A6q5Y9axwy1bNKnwoSiiiusxPN/j7/wAi9Y/9fB/lXi1eyftA/wDIG0z/AK7v/IV43XnYn+IaR2M7VgZJIo16nI/Ovr60UJaQoowBGoH5V8lwR+f4j06DjD3Ea8+7AV9boMIo9AK0wn2gnsha8Z+P9tt1qwu/+ekBT8if8a9mryf9oLbt0s5+b5+Pbinj1egy8M/3iPG73nYvrX3J4aiNl8M7KIDmLS84/wCAE18RW6CbWLKFsbXmjU592Ar7sgiH/CIiAH5fsRTI9NhFfNYqPuQfmb1n7x5Lc3S3EnmSQ/NjHDUsqwJBFIIiS4ORv96v/wBjRf8APZ/yFSSaZG8UcZlcBM4OOtfV8kjlujtfg46tpt6qptAlHfPau8rjvhZaLa6ZdKrlsy55HsK7GoascdR+8zkvGLYtZ+erAVxVdf4yb/RpPeQVyFGF+F+ptDYKKKK6SgooooAKxPHUfmeFL5cZwm78ua26o+IIvP0O9i/vQt/Kqi7SRNRXi0eH10Xw7/5GmH/rm/8AKudrf+H7bfE8B6/I/wDKvSqfCzxaXxo+h7Vt3w1nI6f2dcf+gvXynMdtoT/s19U6ed3wwlb1024P/jr18q3Cs9sI1+8+FH1NfN8O/FiP8X+Z24/7Hoe2eBoTb+D9LjIw32dSw9zWzUVlEsFnBCgwqRqoH4VLXot3dzuirRSClzjn0pKKQz0exkEtnDIP4kH8q47XpN93cN6vxXV6M2NHtnPaPJritQbJPqWJrzor94l5m8fhbKdFFFeiYBRRRQAUUUUAcd49WbTNV03xNBGXW1Pl3AH/ADzJrv8A4ialY6t8EdavNPuI54X00HKnOOV4PoaoSRxzRtFKiujDDKwyCKw/iV8N9L0rwTqmu6RfXlmkdr5stmHzFL0yPYc14maQj7Wk27a/5HqQqUMRQVOtLllFNJ2urdn10PltAWwFBJ9BXSWtndx+FLyV2Kww4Yj0ZmC4+vNZY1PYv7m1ijPrXRad9pn+GWuXLrvQXEKs2ehLDt+FezUc5WurK6OGjPC4OMnRnzzaaTtZK6131bscbU2lR+drthH2MwJ+lQ1oeFY/M8SwZ6IjN+Nbzdos8WCvJF/xz/yFIf8ArgP/AEI1gV03jGzurjUYngtppVEIBKISAcmsT+zNR/58Lr/v0aijJci1Lqp87KlFW/7M1H/nwuv+/Ro/szUf+fC6/wC/RrTmXcz5X2KlFW/7M1H/AJ8Lr/v0aP7M1H/nwuv+/Ro5l3DlfYqUVb/szUf+fC6/79Gj+zNR/wCfC6/79GjmXcOV9ipRVv8AszUf+fC6/wC/Ro/szUf+fC6/79GjmXcOV9jv9N5tLYf7CfyFdd4K1S+09tQ0yG7kiMdwz7RjkHvXJ6arCC1QqQ2EGD68V3WteC/EC341TTYFW5Xh4zIuJB+deNV3PpstlCUJ0Ju3MlZ9Lra/4o9N+FN9d3j6h9quHl2iPbu7Z3VQ8d6heW/jOO3junjgKxblyMcnmuW8EeMNS8MyXkepeFNVaSXaP3URI4z3/GqviqXxV421tpbPQbrSLaREjeW6GxgvcjPXr2ryYUprGObWlv8AI3WWVvttRXe6t+evyO2+GWm6Z4t+MnifWbdZF062iSCEo2ASPQ17/XD/AAs0Pwz4L8MppunalDKZm82WWVwHdj6j26V3FfVYeCjHzPDzXERr1/3d+WKSV+yVvxCiiitzzQrxn4h/8jjf/VP/AEAVpfE/4yWvgfxMdEl0GW9YRLJ5q3SoOR0wVNeReI/i5aatrNxqC6JLCJdvyG6U4woHXb7U5UpyWiNaFWEJPmZ1NzKILaWYjIjQtj6DNfN9zr+pX+r3l1cfaVeWVirBGxjsK9X/AOFlWnfSHI7g3C4P6V0lv8dLOC3jhTw1KFRQoC3qqB9BtrzcdRxPIo06bl6NKx1xxVLmT5tPS53Vldy2vwlW+CeZLDpDShSD8xCE4rhPDHiTTtejxbM8dyozJA6kMv8AiKVvjxAOV8LTE/8AYQUf+yVVPxqt5rkzyaHfR85CDUVK/wDoFeNgcLmWEcrUea/95I2+s4aWjnb5P7joqxYfH8Phnxytjexk6e8IWZwOUYnIb6Yrn5fibbSSvI2kMpdixC3AwCTnjjpXH+MdYt9e1JL2K3+zMIwjBpA27B69q+vwuHjKVq60aPFzbFVlQUsG7yTXzR9J6rcabqumf2vY39tNBHGWd1cEbBySfpXGz6lp0d3Bb/bIS1wpeH5hhwPQ/jXhNrcXFoZPst48HmKUfy5Cu5SMEHHUU/zoTp8NqYYlaOQuZlY7yD/D1xj8KunlVGEm1U09DhefY+UVH6tr6/1/wD3yivMvD3jqPS9NW1uLe4vHBP7x7gZx6citH/hZVr/0CZP/AAIX/CuaWHmm0tT3aWMhKClLR9uxlftAk/2fpa9vMc/oK8eZlUckCvSPiTraeLrS1hhi+xGB2Yszh92cccYx0rgpvD9wFyl1FI3oeK5pYCc5czKljYLSOpnWlw9tr9lqEUYlNtNHKE/vlWBx+le76F8WfDt8RHqCTabNnBEgyoP1ryTw5BrOga5Z6zp8lmLq0kEsRkw67h6gjBqW7sbjWNbvdU1qVBNdyGZzbFVG8nnjGAPpW1PCciskYvGSb3PpCwvLS/tkurK4iuIH+7JG2VNfNnxq8Xz3HxLvNPn3ixsQsMa+jbQWb8SfyArvPAXiS18K6VJp6wT3cbSF1LTKNvt0rj/Hel6X4m8S6lr3k+RPdRRCFC4IjlTALNj7wIAGKJ4R1IuMlozR4xJKUXqcnIjz2/2q3SVgo3BlQ9ufSvt7wXdPP8LdNu7mQlm0zc7MMdFPJ/KvN9H+OH9naPZ2H/CLbzbQJEWiv1jQlQBkLsOBx61Yi+PStIPN8IyIvdhqaN/7JXylfLcfNpKk7J90dksfRnu/zN0KxAO1sfSkrn5vjRZSXXn/ANjX68g7Bfrt/wDQax7n4n2s1xJN/Y7pvYttFwuBnt0r6DC/XKjarUeX5p3Mp4jDpLlnf5M9z+Hf/IKnP/TX+gq54n8XeF/DNv5+v69YaenYSzAFvYDvXyf4+8ZeLtaEdt4c8QXGgWO397FFJ8zt671wRxivI9U8Ga1c3huJNSivppOZJppDvJ9yck11fVJN3ZxzxEXLQ+jfHn7RPgk3YtNMhvtRjEuZJ40wqr6jPWr3hb4h+EfEZSPT9XhW4bpBKdjk+gB6186eH9K8TaJpmr6faro0kWq24gnaZVd0UMGyhIypyOopdH8EQwLBc3F/NDeROHBidSqsDkEZFXDC8kbRQRxbR9aUVwMXxJt1jVW0uRmAAJ+0Lyfyp3/CyrX/AKBMn/gQv+FL2FTsdP1ql3O8org/+FlWv/QJk/8AAhf8KP8AhZVr/wBAmT/wIX/Cj2FTsH1ql3O8rP8AEOp6bpGkXF7qt1HbWqqQzOeuewHc1yf/AAsq1/6BMn/gQv8AhXnnjrUNY13x1pHijStShsDpLLJbW1xH58YkH8RU/KfypqhPsTPF00tGZbeJvDrMWXWLRQTkBpMEfUdq6b4d6lZXXiSA2k63HyP/AKsEj7p/wry/xB4H1DXPEV7rt/rdl9rvbl7mYRWmxN7NuOFBwBk9K+m/DvxotdL0Cw0yTw+zta26Qkw3QRDtUDIXacDjpmjF1sVCK9lS57+aX5nDSjS5rylY9D0uRf8AhU7zN8q/2VOxyOg2Oa+UrDWtF/tDT2mv41iWeNnbBOAD9K95/wCF7WWc/wDCOT5/6/V/+JqpP8arWW6E/wDZGoJyDsXUF28f8BrwMDDMsG6jWHvzu/xJWO2bw9Zx5qlreTNq1mhuLeOe3lSWJ1BR0OQRUleTeFPGH9jy6vJc2cUi3+oSXcUNs3lR26uc7FU54rd/4WVa/wDQJk/8CF/wr3lQqNK6KWKpdzvKivZvItJZv7ikj61xH/CyrX/oEyf+BC/4VHP8RrSaB4m0qTDqV/4+F/wqZ0KvK+VamlLFUFOPM9L6+h6v4B8X2V7YR6fqEyQXaDaNxwsg9ven+IbSGzmRGnTZMSYst1PpXhC+IbMj5kce2QasN4pt5IUhlmuGijOURjlV+gzxXzlOOY00lKi211Pq69PJq1RzpYlRT6f5Xseow3EMzOscisyHaw7g1JXld74stPtxuLG3aFT/AArJjH4nJrWT4k2yoqnS5CQMZ+0Dn9K9rCLFVE/a07fr8t0eDj5YGjJewrc3yenz2fyO+org/wDhZVr/ANAmT/wIX/Cj/hZVr/0CZP8AwIX/AArr9hU7Hn/WqXc7yiuD/wCFlWv/AECZP/Ahf8KVPiZaq6t/ZMhwc4+0D/Cj2FTsH1ql/Md6FbI+VvyrX+LrBfg5rzNwBpwzx7rXJL8drIKB/wAI5P8Aher/APE0o+O1kDkeHJ8/9fq//E187jMNmGJlCXsLcrv8SL+s0LNc35nyV9qgC5LkDH9xv8K6/SNasE+E2tWv2iMmW9gIbPGBk9fwr3e5+M9tI8si6PeMWBxHLfK0RyMYZdvK+orwm48I+EprGe2aPUv9JuDcyr9qUIJPmxtUKMAbiMc17OHli6yftqPLa1tU7nJL2MPgnfTs0cV/amm/8/1v/wB91v8Aw7urG78RSQxXtu07x4iTeBu9cVgv8L2LnbrkIXPAMJ4H50R/DGaORZE16EMpBBEJ4P8A31XbOhKUWjCFWMZJntP9kah/zw/8eo/sjUP+eH60+w8TLb2NvBNCZpI4lR5PNA3kDBP41N/wlkP/AD5t/wB/R/hXmfVMT/L+X+Z6H1ih/MVv7I1D/nh+tH9kah/zw/WrP/CWQ/8APm3/AH9H+FH/AAlkP/Pm3/f0f4UfVMT/AC/l/mH1ih/MVv7I1D/nh+tH9kah/wA8P1qz/wAJZD/z5t/39H+FH/CWQ/8APm3/AH9H+FH1TE/y/l/mH1ih/MVv7I1D/nh+tH9kah/zw/WrP/CWQ/8APm3/AH9H+FH/AAlkP/Pm3/f0f4UfVMT/AC/l/mH1ih/MVv7I1D/nh+tH9kah/wA8P1qz/wAJZD/z5t/39H+FH/CWQ/8APm3/AH9H+FH1TE/y/l/mH1ih/MQwaTfrPGzQ4AdSee2a9p/t7S2YlZ2bnshNeOf8JZD/AM+bf9/R/hXUeDPita+H7WeB9Fe481w25blVI4xg8HI/+vWNbC4tRvGnd+qKjiqC+0eueDb62vWufIZm2Bc5Ujrmna8D/aJwD9wdq4D/AIXtY/8AQuT/APgav/xNV7343WVzEI/7Bu4sHOUvlB/9BryVl+Yxrut7HfpzL/M0ji6DdnL8GdzF/rV/3hXs9fNUHxQ8MXFvZh479LksPMHkhsEnpuBG764r6VHSvey+NVQbqQcW+jOXF1ITa5HcKKKK9A4zPv8ARNFv5/tF9pGn3U2MeZNbI7Y9MkZqD/hF/DP/AELukf8AgFH/AIV5boHjfxRrPja+09vFSWUUGtXNmlmvgu8nj8qKZkGb1X8kEqoJJ4BOCK62D4n6Y903n6JrVrYSRzyWOoyxx+RfeT98R7XLqeOPMVN3bNF7JMco2k49UdL/AMIv4Z/6F3SP/AKP/Cj/AIRfwz/0Lukf+AUf+FZukeNrG88Cv4yvtPvtH0wQC5U3pi3PCVDLJhHYAHOPmIPHIA5rC8LfGDw34isb26sbedjYtE1zFDeWl00cDtjz2MEzqEHVgTuA52027Nxe6/r+vn2J0tc6/wD4Rfwz/wBC7pH/AIBR/wCFH/CL+Gf+hd0j/wAAo/8ACuU1/wCK+k6ToMOuNouqT2NxcNHbzmW1t4pYwOJvNnmjjVGPChmDk9FqtffGXw/BZRX9po+t6jZnTItWnntoottvaydJG3SAtjuqbm44BFJNvb+tL/kO39f1/TO0/wCEX8M/9C7pH/gFH/hR/wAIv4Z/6F3SP/AKP/CuWl+KVjDDKtz4Z8QwXyajFYJYtFCZpGlTfG42yFAjD1YEdwKz7n4qRprul/aLWXR7BYNROsW1+ifaLWW3+zlV3I7JgrMDkFgQy8jBo5vP+rX/AA69tLgo32/r+radzuf+EX8M/wDQu6R/4BR/4Uf8Iv4Z/wChd0j/AMAo/wDCsD4afEzw/wCPZry30pliubVVkaE3trcM0bZ2vm3lkAHHRiGHcV0Wra7Z6XqumafdrKp1GR44ZcDy1ZI2chjnIyqtjjtTba3ErPYZ/wAIv4Z/6F3SP/AKP/Cj/hF/DP8A0Lukf+AUf+FcR4k+NPh3QtN03UrrS9U+w6hD9oiuJHtrdPLzwR58qeYxHzbI9z46qKZF8R5IfGGoWOpXUcOn2+pPBA0dpu3RLaxTfOxcFTmQ4IU54GB1pXet+n+aX5sLbf10b/T8juv+EX8M/wDQu6R/4BR/4Uf8Iv4Z/wChd0j/AMAo/wDCuIsvifdTatezXfhjW9P0220dNQjgntke5uFZ2CunlyMApA5D7WXBLBRzVS2+Mcet22lTeG9Curp5tcj029hW7s5zEjxO+8SRTtGfu9A5I2nI5GRNv+vO35jaWv8AXTm/I9C/4Rfwz/0Lukf+AUf+FH/CL+Gf+hd0j/wCj/wrjLH4oRjSIZYdH1vxDdss888djawxPBBG+0uyvNg4JACqzO3ZaluPi5oo1OW3stF1vULG3+ytd6lBHELe3S4AKOwaQORg8hVYj0oi+ZJr+v6/R9hSSi2n0/r/AC+9dzrv+EX8M/8AQu6R/wCAUf8AhR/wi/hn/oXdI/8AAKP/AAql418Ww+GWsoF0jU9Yvb1n8m009IzIVQbnb53UYA7ZyewNcrrvxMu9F8d6jp8uhajqOj2+l2d6ZLSFFkthLJIpeXzZFJHyr8qgsMHIp38/6/rr5PsNry/rY7f/AIRfwz/0Lukf+AUf+FH/AAi/hn/oXdI/8Ao/8K5C7+Mng+28br4Xa4TzPOS3kuWvbVFjldQyoYWlE7ZDL8yxlfm68HDdY+JUk3gfxPrej6PqFn/ZljNc2N5fwr9mu9m4Fl2uTgMvKvsbHIGOaNbX/r+uvprsKy/rzOx/4Rfwz/0Lukf+AUf+FH/CL+Gf+hd0j/wCj/wrjdR+L2h6f4ftNXayu722vJY7ezuYZraGC9lKFn8qSaVE2rg/MxUMeELGtbxz4wvNK+E1/wCMdL0m7N1FYfaYrS5jEciHGcSKzDGO+D9M03dFQjzuMV1Nz/hF/DP/AELukf8AgFH/AIUf8Iv4Z/6F3SP/AACj/wAK4Gx+Kd/beKdbsta8N6mmnWdzZxGeJISLATW0UhE5807jvdh+6DgDH1N+9+LejweMLnwp/Zd+moKJVtjJNbKbiRELYWEy+eFO1gHaNUOPvYIJlysr/wBd/wBRJJ/h+Ox1/wDwi/hn/oXdI/8AAKP/AAo/4Rfwz/0Lukf+AUf+FZHg3xZeaj8NYvFWr6PfW0/kySyWkcaySttJwEWNmBzjjn64qL4Z/EbRvHp1CPTbeW2nsGQTxPdW0+AwOPmt5ZEB4OVJDDuKp3UnHsSmnFS6M3P+EX8M/wDQu6R/4BR/4Uf8Iv4Z/wChd0j/AMAo/wDCubtPidps+r/ZX0PWrew/tGTTTqkscQthcoxTZ/rPM+ZhgNs288kVBafFjR3ie6vtF1vTbGSykvtPu7mKLy9QgQZLxBHZl+Uq2JQhww464m+l+n9P8tfTXYvl1sdX/wAIv4Z/6F3SP/AKP/Cj/hF/DP8A0Lukf+AUf+FcDL8WLrUNK8PanoXhfU3h1LW47Bw8trKHiaN2LxyxztE/K/wucbGBAOAeh034i6ZeWmq6hJpOsWmm2CM8V7NApivQrmNvK2sTkONu1wpOQQCOabvG9+n9f18+zFbRPv8A5tfobv8Awi/hn/oXdI/8Ao/8KP8AhF/DP/Qu6R/4BR/4Vy6/FCzSC5jvfDPiCx1WMw/Z9Kljha4uxKcRmIpK0Zyeu5xt6ttrF/4XJaaTpd7feJbCWyuDqstjaafNPbW0w2Alg8ksywZABORJg/w5pc2tv66f569uoW/r73+nz6HoX/CL+Gf+hd0j/wAAo/8ACj/hF/DP/Qu6R/4BR/4Vz+reOre7+EV9438NSwzCOzeaHcVlVXXhlJRirYII+ViDjgkc1TsfihB/Yd/d6j4a160vbC2guXtXjh33EUudkqESFEQlW/1jIVx8wHFDbTkn0t+N/wDIEk0n3v8Ahb/M6z/hF/DP/Qu6R/4BR/4Uf8Iv4Z/6F3SP/AKP/CuEX44eF5PC0GuW9ldTtNqR0xbWO+scmcIHwJvtH2dvlK4CykknAGQQOi8ceK7nS/hhdeK9OtZoJo4o5Vgu7dg65dVKsnXOCenXjGaJNxTb6f5X/IStdLubP/CL+Gf+hd0j/wAAo/8ACj/hF/DP/Qu6R/4BR/4Vx938XNH0vRry68QaTqWi3tq0KfYb6W1ieYyjKFZDN5IB/wBqRcd8VVvPjl4Nt/DdjrCyLNJeTSQraDUrFWV4/vgzPOIDj/ZkOe2aObz/AK/rft1D+v6/Tv0O6/4Rfwz/ANC7pH/gFH/hR/wi/hn/AKF3SP8AwCj/AMK4y4+MWiN5LaRous65C2nR6lNNYfZ2jggd2TLM0qhiGRgQm7pxmuk8b+OND8JeFYvEWozA21w0aWy+bHCZncblUPKyIvAJy7KOOucCm20NK9rdf+H/ACL/APwi/hn/AKF3SP8AwCj/AMKP+EX8M/8AQu6R/wCAUf8AhXGWfxj0PUtO0+bQ9H1TWr2+mmt1sdPmtJnSSJQzq0om8n7rBsiQjtnPFQQ/Fu2bWFvpdNu7fwt/wj76s9/KI18sq4BVh5m4Y5XhTyRzjJo11/ro3+SE7JX/AK3sd1/wi/hn/oXdI/8AAKP/AAo/4Rfwz/0Lukf+AUf+FcNpnxt8M6hpMt3a2V3cXSXkFoLC1vLK6mZpmCxndDO8YBJA5cEdxU158Z/Clj4si8OX6tZ3W6OK6M9/ZobSZ1DCJ4zP5rEAjLRo65/iNPW9v6/rb70txNpK52f/AAi/hn/oXdI/8Ao/8KP+EX8M/wDQu6R/4BR/4VyUPxEudS8XaRpunaHqNvpd5dzwDULqKPyrsRZDeVtcuuGBGXRdw5XI5qXxX8RLXwz4l1Kyu4NQvhbwWXlWlpaIXaS4klRMO0g3ZKAYIUL13EE4lNu3mVb4vLf8jqP+EX8M/wDQu6R/4BR/4Uf8Iv4Z/wChd0j/AMAo/wDCqnhPxVH4i0m+u4tI1Gxu7CeS3uLC68oTLKgztyrtGc5GCHx715n4b+L/AIluf7BuLzwjqF0l9oEmoz2dkkHnbllC+YrNMEEe3JAJ3e2eKd99f6s3+hSg2rpHq/8Awi/hn/oXdI/8Ao/8KP8AhF/DP/Qu6R/4BR/4VxGu/HDwTpGq2llNch45oILiWdry1h+zpMoZCYpZUlfKsp/do/XHXIr01WDKGUggjII703zIjTT7zJ/4Rfwz/wBC7pH/AIBR/wCFH/CL+Gf+hd0j/wAAo/8ACteildjsZH/CL+Gf+hd0j/wCj/wo/wCEX8M/9C7pH/gFH/hWvRRdhYyP+EX8M/8AQu6R/wCAUf8AhR/wi/hn/oXdI/8AAKP/AArXoouwsZH/AAi/hn/oXdI/8Ao/8KP+EX8M/wDQu6R/4BR/4Vr0UXYWMj/hF/DP/Qu6R/4BR/4Uf8Iv4Z/6F3SP/AKP/Cteii7Cxkf8Iv4Z/wChd0j/AMAo/wDCj/hF/DP/AELukf8AgFH/AIVr0UXYWMj/AIRfwz/0Lukf+AUf+FH/AAi/hn/oXdI/8Ao/8K16KLsLGR/wi/hn/oXdI/8AAKP/AAo/4Rfwz/0Lukf+AUf+Fa9FF2FjI/4Rfwz/ANC7pH/gFH/hR/wi/hn/AKF3SP8AwCj/AMK16KLsLHFXfwo+Ht1fyX03hm28+R/MYpLIg3eyqwA+gFdrRRQ22FgooopAYvhXw/FoNhfWi3L3KXl/dXrFlA2meVpCox2G7GfauSh+GE5lNtd+Kbu40e2iuI9MsPs6r9lMwIJZwcy7QTtyBit7T/H3h281TVLFZrmEaYrtNcz27R27hGKuY5CNr7WBBweCKzIvix4TOnXt7cLq1j9kWORoLvTpYppI5CRHJGjDLoxBAYcEjFTpJ3/r+uxTbu2+/wDwWbKeErNvh3B4LuLiWW2i0+Oy88fK52KAH9AcqDWFpfw81GPR7rTNW8VyX8V2EgnWLT47dXthndEVU/ecHDP1I4wKtN8TvDUc9zDcRatbNaQLNdGfT5EFvux5aOSPldywCqeWOQKQfE/w7/YU2qPaa3HJFOtudOfTZRfM7Asu2DG8gqrtnHRGPY1Uvebk+u/3/wCb/ESvZW/rT+n+JmXfwtljj0yLRvEX2CHS3kjs4ZdPS5jhtnH+qVWOMjoH6gZFNs/hFZ23hu70NdcumjuNAj0USGFdyogwJOvLe1bFj49t7/4g6f4bsrG8ms77SW1CO9W2fyx8ygKW6DgnOe+B3rK1f4lSab8QdU0m6sZodG0q2jM0zWE7TXVxL/q4rcr8rkkgbfvE9Kd3Bru7/hdf5/P1FH+aPS36W/Qi+I/gXXL7ULXUPDWoPDeTazZXM0pRCLWKGMoXCsRv7fL71I3wmtbuSO51jXLm+vXS8+3TrCsX2iS4EC7woJCbBbx4AyK0U+Kfhh7S1kWHWDdXNzJaiw/s6X7XHKgBKPDjcp2srDI5Ug9KrP8AGDwl9pa3ht9duX3TxReRpUzieaFykkMZA+eQYJ2DnaM9KVkk13v+K1+//LyGm1Zrpp+f/B+5ljw74R8ReHtOuDH4lGpXztBFC39nxQRxwrIN4KKcM5TcC5OemBxitb4i+E4fGfhabRZr640+RyrRXdt/rIWB6r9RkfQmsjUPiv4Ts7Wxul/tS7hu7f7Sz2thJKLaLdtLz4H7oAhgd391vSr3hPxmuveM/EGgx6deRRaUITHdPbusc4dScq54PbGOoz6U2nLR9P0f+f4kqSja3X9V/kYnjT4Wf29eM1lr39mWc+nDT7mD7CkzGIcDynY/uj9B15p0nwo0+41aW+u9UnmSa5aeSHylAO63jhxnt/qw31Natv8AEjw3P4lk0JF1ISJJLCLprJxaySRgl0WXG1mGDwKp6H8WvB+rWlxeRyajaWkViL9Li8sZII7iA/xxMwxJ+HqKjRp9n/nf89SkndW6f5cv/AMtvhTqN5ZX0OteNrzUZZbCKwtpGs0QQxxSb0LKG/eNn7xON1WNP+GN7bYupPFO/Uv7Qtr4zx6bHHHuiWRCoiBwAySEdeCM1reBfHC+K/EOq2MGm3tjb2Vtbyhb61kt7jdIZMho3AIGEUj1zV4+OfDq2NteS3UkUU9xPB+8iZTGYQ5kZwfuKAh+Y8cr/eFU9Pz/ABvf79+/UmNpK69Pwtb7jmF+Ft7Y2MMfh/xhdaVdeVNb3VwLRJfOhlfcVCkgIwPRxkjnirlt8L9NtLPWrKz1G4it9TjtI1QoGMKwIFGD/FnGTmpovip4XbSbvUriPVrOK2aEeXdafJHJMssixo8aEZdCzqNw4+YVz3iz4r31nFPFoemTT30l7Y2kEFxpV1utTcANm4VeQcZwF74B5pwi0uSPkvxVvxf59xys+acvO/4X/T8Ds/HPha616XT77Stck0TVLBnEN0tuswCSAK6lGIGSBwex5qnfeAYbq81a5fV7otqWl22nOXUMyiFmYSE/xM2/mqui/EvSJINHt9QmkuL3UB80tjYzG3hzIUDSFhmNSykAt1xV2b4j+HYvFLeHmj1MzCc2wuRYyG1efZu8pZcbS+ARt9QR2qXaUXHo7/8AB/P8QTd0+3/DmfbfDeaz8UNqNj4ikt9MnnS5urH7FG0kkyoqZWc/MiEImUA7Hnmmw/DW4Hh7XPDk3iq8l0e/tJbSytfs6gWSSksxJz+9bJ4JxgZFU/CvxYs9TtYL7VIn0mEwX0skFzZyxysILhIlKE8HO9RjqXOB0NaQ+LHhVdMmvLiPWbWaG4it2sLjTZY7zfKGMWISNxD7WCnHJGBVttf158v/AAF9yFZK6/rTX9bsj1f4bNNo11pWk67/AGfazSLILaSxS4t8lCkoaJiAyuDnGRtOCKvxeALKL4Uy+AI72VLeWya2NyE5UsOWVScAZPC5wOla/hTxRpXiTRH1awa4ihikeKeO6haGWB0+8kiNypHcGuS1n4r6Yvgi+8SaPbXLLZzwpJHfWskBaOQjEiggFlKnKkcGpbtdPy/4BUXZqS6bfmW/+FdGay1yO+12We51ma1muZltlQB4IYoyVUHADeVnHbdjtVG3+FckfiRNQk8SPJYw6nLqENr9hQSbpVkDq82dzj95xnoFArVj+J3hx9Fn1HyNYWaC6+yPpz6dIt95xUOFEBG8kqysOOhBp9z8TPDEFrpdwx1FxqJYKkdlI724V1RjOoGYgGZVJbHJo3dv61S/RInRf12uv1ZJbeC5B8N7jwbea1JcCSOSNLtYBGyKWLKCoOGx0PPzDPrUfw98E3PhjUb/AFK91tdTu72KKKTy7FLWNRGCF2ohIHBOfWmaX49t5PEesaPfRBZLTUVtLZLZWkkkQxqzSuB91V3ct0AxV3wb480PxXez2mmR6jG8aGWNrqzeFLiMNtLxMww65wMj1ojLmfMt/wDgf5MGlFcv9b/5o5Dwj8PPEEt9eN4m1h10ga/dajbaSsKHdmYvC5mVs46Nsx7GtLRfhldWc8IvPF17eWum2T2WiRLbpE9jGwC5ZwSZW2qgywHT3rN1/wCLz6Xr2oaedBv/ACrHWrfTWdrOXM6yAZMWB+8fJ+VR1HNdBP8AFLwzHoNnqyQ6xcG7mmhSyg06V7tXhYrKGhA3LsI5yOKafu3W3+aX6PfpsPmbm+//AAX/AJPQw9I+EMlhG10PEcY1dtWg1Jrq30yOGJjErrtMAbblhI+WBB5HpWvp3w6kt7HVdIufEl7caLco62NkIlT7GXk80tvBzIwflScYHFT+H/iDaa543i0GwsL97SfSI9RjvDauIwWd1KM3RWG3GDzkMO1YXiP4svpWqaraf2HfeXpur2tg8j2kmJllQsTER9984AUdc1MpbRfXT/23/gA3o/LX/wBu/Utj4Z6lOk99qfjK6u9fUw/YNRWzSNbMRNlQIgdrbujZPzDjioZPhXetZJcf8JdK+vpfyXw1GbT45I90ilZEMBO3aVJwM/L1rY/4Wf4bbQo9Uih1iaR7l7X+z49Pka9WVBl1MGN42ggnjgGtm68W6HbeC5vF8t0w0iG2N1JKEJZUAycqOcj0oslf+t7P8dL9+obtL+u34dO3Qq3XhH7V8Pbjwnc6rPK1zbtFLeGNQxZjlmCDgDPRegGBWT4o+G6az9plh1qS1uJLSzt4ma3WWNGt2kZWZCQHB8w5U8cCp4vif4Zawv7qVNVtpLN0T7LPYSR3FwX/ANWYYyN0oc8KVzkg1DN8V/C0elQ3vk6zJPJNLC2nppsrXkLRgGTzIcbkCqyMSR0dT3p2u2+9v+B+YL4Uumv/AAfyM7/hVt6vh7UtPj8Uo11qV8by6lm0qKS3kLQrEyG3J27cIpHOQc+tbKfD2wi+Fcfw/t7+6htEhSIXC8yDDh8jPTkcen4VRHxS0tPEOr2k9jqI06x02zvYrpLKRhOZ2ZQi8fMxOwKo5J3j+GtK7+I2g2+g2GrLbaxdNflhBY22nSyXny/fzABvG3vkcZHrRN6NS2dvw0X3At1/XmYtx8L7q9tLi41PxVNd6800UttqJskVIBF9xfIyVYEZDZPze1PvvhnfT2GmyxeK2j1yyeRjfSabFJDIsn3k+zn5VUfw88e9TeJ/ix4b03QI9S043eqNcafJfQfZbSSZI41H+smKj90gPBZsY5q2PiVoUF5ZWF4l4biWKJrmeC1eS1tGkUMFllHyxnBB+bsQaIx1aS1/V6fpr36hJ2Sb/q1vyvp26EcHw6ijuL64k1q6mlvNGh0uRnjXPySSOZOO5Mp+XoABV/xZ4Mj1zwrp2kR6g1pdaY8U1leGBZfLljQoGaNvlYFWYFT61W+Ivjg+ENY0G3k0+4vbfUmnV0tYHmuMoqkCONOWJyePamXfxR8LQabY30X9pXiXaNIY7WyeWS2RWKO0ygZjCsrAluhVvSle935pfdqvzY7NNen4bfpYXQfAc1jf6RqV/r02oXtg9w7uLZIY5DKoXCovEagKMAZ5J9ayY/hLbrpttpba9cmyTRpdKnRYFDyh33rIGz8jKwB4yDitDUfiZoel6hcx3lw91GZ7eCzisLOWaaSSWKSRVwMh8rE2Nvpg9RUx+J/hn+zdOvIo9Wna+Z1FtFp8j3EATiRpowN0aqcBi2MZFNytf+ulvyYk9Ld9fuf+aKFv8Nb2azt49a8UvfT2+p2t8jw6fHbRgQOHCeWpxkkctnNWLr4dzN4vudXs/EMlrp17cC5vLD7HG7vIFCnZMfmjUhRlQOueea6FPFeiN4Oi8WfaiNKlt1uI5GQhmRhlcL1yfTrWDN8VPDEGirqVxBrMDtdrZLYyadKLszMMovk43fMORxzTbs7Pdfrb/JfNCsnG3T/h/wDNkWjfDu90/wARWV4/iq6uNJ024mnsNOa2UeT5pJZWkzlwCx25AwOKn8SfDy31rxTPrz6pNC8xscxLECB9llkkHP8AteYQfTFUk+K2l3HiHw/Z2tjqIsdUt72S4uJrKSM2TWzIGWYEfu8Zbdu6fL/eFW7b4qeFZbC+vpRqlpBaRpKGubCSP7REzqgkhBH7xNzp8y8fMvrQrq0u2v3dfwKcbpx6S0f37fedD4d0GPRp9WlS5eb+0r17tgygeWWAG0eo4rlfCXwyGhPaNLr0179j0mXSYc2yx4haTepODyyjAz361cl+J/h2G5tLea11qNpkV5y+myAWSscKbg4/cg8kbscAmq2tfE7T4fElpoWlWt3dSvqsOnzXTWsgtQzOFdEmxtaRecrnjHNLlv7nfT9P1/EPauKcr+b/ADKSfCiW0urZtJ8UTWNsbW2t9QQWMcktyYI1jV0kbmFiiKDtz0r00DAA9K5XxX4y0/w3rHk6ldRx2yWD3kiLBI8rBTj5SPlP+71NaPhHxJYeJ9OkvLGG+tzFKYZre9tmgmicAHDIwBGQQR6gg0+dzu99/wA7fmTZRtHtZfh/kbNFFFIYUUUUAFFFFABRRRQAUUUUAFFFFABRRRQAUUUUAFFFFABRRRQAUUUUAef2fgXVxb63oN5rlu3hm+Fwbe3htttyrzOzsZJCSGClvlCqvHXNZd78N/FGuRTTeJPEmmy3ix29va/Y7FooliikLlnDOxaRs4JBCjAwvWs2D4wa42sWMD+ENReKXVtUsWt4rdGuJ1tidhi/e7c8YbcQMg445re1j4zeE9NtdMmaK9me+tVu3hD28UlpEWK7pRLKnRlcEIXOUPHTIlZxl10t+Nv1+W46kPipvz/yf4pfMseJ/hwmvW3i63ur6Ixa+1s8aPbh1jaHBAdWyHUkDIwOCR71i6P8K9T0rTFu9NPg3Sdet75Lu0Gl6CLWwBWKSL95GjCSQlJpOsnB24A5z3fiHxXp2k+GoNdjhutUiu/LFlBYqry3RcZURhmUElcnkjgGsvV/iJp9jp+nT22ha/ql5fwyXEenWdqv2qOKMgSO6yOoAViqn5iSWGAetJLlulp0f5/pr5Aru3z/AB0JLHw1rkHjHSdfudZtbwwaXJY6h5lrtknZmVw6bSFTlehB4/OqfirwLearqeo6rZapDbXkk1pdWXmQF0jmt8FRIAQWQkcgFTjoRUF58XfDUMNxdW9lq99ZW2m/2lcXdtAhihgKM4LbnBz8pGADzjtzUWsfGLw7o72sWp6bqlpPMnmzQzvbRyWsWcCSQNMMqeo2bjjsOlOW8W9LN29df+D/AEhLT+vT/gf0xND+HusR+JbPxPrWtWdzqpvpry+FtatHAxaGOFEiUsWUBIlzuLEkmrfh3wDcaVHpatqkUv2HVL6/bEJG8XEjuF68Fd+M98dqvr4906fxFc6LY6bqt35ERb7dFArWrSeWsgi37s7yrqeQBz1qHwl45N/8Mz4z1zS73TEiWWSaB4l3hEcjIVXbPA9eoPFJ2s77af1+C+WvUG+a0d7/APB/zf5dDiPEPwX1PU9Li0ttU0G+tRZzQBdU0xrn7JI0kjia2UuFjkPmKGYgnCDBFegeEvDOo6J4m1O/kv7WexvbW2jEQhZZVliUqW3bsFSD0xketZtp8U9Gksbq4utG16wmijhkt7S5tkE16szbYzCFcg7mwPmKkZGcVBefFzQrPSUurrR9bhv2vfsJ0mVII7pZdpcA7pRHyqkghznHGTxV8zV/63ev479upMkpNX/rT/JfMxYPhLqR8c/8JDdahoczRXk1xDeHTmfUZUkyPKluGc5RVbCqgVRgDGOKvn4VyyeEtE0KbWVB0zQl0vzo4eWkVVAlAJIxlfunP1qaT4pRw+IriOfQtVj0WLQk1UXLWwVyWPEe0uCG/h2lfvd8c1q3PxEsodDsr7/hH/EEl/eTSQQ6OttGL0vGcSfKzhML1zvxgjBNTbkVv6urx/z/ADKvztp/19r+vmu5J4G8PeJLDXdT17xRq2m319f28EBSwtHgijERfoHdjzvzyeue2AMu8+GEF74j8SX1xqkn9n6xZSwRWqxjNtLMqLPICcg7hFDgEYG1uu41HrXxZ0yPQBeaJo+saneNZXFzJBFbKWsfKLIftAZ12gSI6/KWyUbGRzUUPxi8P2i6Laavn7beWdtPeSwSwpDaNMoKhlklEmCTxtV/em1f8vvv/kCXIvx/r+tvJmPovwamtdGuLNh4Q02Yy2flyaLoCWnmJBcxzEzMCXd2EQHDBcknb0x0958P7ifxVqWtDVIlS81TTr4ReScqLUAFc55LY69veu9VlZQykFSMgjuKWmpNP+u6f5pE2Ti49GeZeH/h54i8O3WnTaL4isof3X2fUmlsi7vCJWkHk/NhH+bBLBh7Cqd38KdQvPiJB4lur7RJktdVGoQXUmns+pBNrD7MZ2chYhu4VFUcDOTkn1mipj7trdCraNdzyMfCTUriJYb/AF20KW0N5HaGC1ZWHm3cV1EXyxB2vFhsY3A8Y61fg+HviK/1WLXfEmv6dPqi31pMVsrNordYYA+FVWdm3sZDkliOBgDmvTaKd3p5a/O97/f/AJbA9VJd9/mrfojmfDfhX+zdP1+yuroXEer6hc3R2JtKJN/D1OSPWueXwL4nu/Br+HdY8R2EyQy24sWgsigjiiI+/liWdsckEL6AV6PRServ6fhsEnzO78/x3PLvHHwrbxDearqHnaNdT3GqRahbW2q6cLq0+W2igZJYyfmz5W4FSpGak0z4d65ocGlS+GtU0DSb2JJIb1bfR0itvKeRXIgijKhGGCAX35B5ycGvTaKSVndf1pb8tAm+fc8+svh3JYeM9S8WWOowQ6nfXqySSi2GZbXywjQSc/NyN6njDAcYyDX+Gvw5vvCniy/1iS+02K1niMa2elWz2kMzFgfOmhDmEy4GNyImcnOa9Jopx93YJe9ueeX/AIA1S68ZTasNWs1sH1a11NIfszecGiUKylt2CDjj5ePes3xT8L9S1O0SCG/0W8hOp3l5NZavYvc2cqzyFl3RB1DSJk7WbIB5AFeq0UraW/rZL8kgj7rbX9b/AOb+88/8BeA9R8KanpskWpWE1nb6X/Z80YtCjHbNJJGyYbaoAkIIwegxjpSav4D1O+8SXV8urWcdhNqlrqSxG3Yyh4lZWUtuwQQVxxkc9a9BooaTak+jv873/MVvdcejVvla35Hkvin4RSarJPeh/D2o3X9sXF/Db61pQvLPZMiqUeMsDuG0EMpH5ZFanjDwrfad8BNY8MaJbQXGoDSpYoIrGzjt0eUqcBIkAVRnoK9GoprT8PwL5vfUmeYXPw/8UarJJrur69pf/CRQtbnT3trJ0tYxCxdRKjOWfLMd2GXjpis/xB8Kdb1vRriTUtR8O3+t31+15dtc6W5to28uOJGt9sgnhdEhTDLLkktnPAHr9FO/9fd/kiY3ilZnl8vwz1kidV8Rx3Ak06yjE15HJNMbq1meRHZy+WjO8qQfmwB82ea07/wx42lh0rWYPEOjt4ps0milln09zZPHLgsqxK4cYKLglyeuc13tFEm5b/1/W3oJJLb0PKJ/hj4isdKNl4d8T2cT32nNY6tNfWRlaTd/y1iCsoRxkgA7l9QarX/wZWbxWNUWPwpdRXAtzdz6joMV1ewtEip/o8r5VAQucOr4JOK9gopQSg7xVv6b/NhJcys/62/yOP8AiB4Z1rWdU0XWPD+qWVhf6QZmiF3bNNFKZFUYYKynHy9iD05riNZ+Cj3YsboSeGNU1DyZYr59c0NL2IGSZpTJboSPLZTI4GSwI27gxGa9nopJIrmdrHmlv8MJbfxRZatFqsCw2t/a3QhW0CZENtcQlQEwq5M4PAAG3GOa5/xdoviDwXfx6p4dj1DUdQu5bxZvs2jtdxCCZlfaQJUKSAquGyV65Wva6KJa/wBfL9BRsreX+bf5tnnyeA5dU+CVh4H1aSGO6j06GGRmiWaMSoB95GG11yOQeCKy/D/wpnsE06Zv+EX0ye21iHUJYdC0RLK3ZI1wFABLFj13OzY7ACvVaKtybqOp1ev43JUfcUX0PNrr4b30upW866vbCAvqcd2jW7FmgvNmQh3YV1MY5IIOTxXP6H8FJbHSL2w/4pCwdoYbe3uNJ8Px200qJPHIWuJASzuREo+UquSSVPGPaaKiK5YqK2St8jRyb373/G/5nlHjD4RprXjV9ejh8K3KXkcEd2+raFHe3Nv5XG62d+EJBOQ6uMgcVcX4feIItahgt9e05fDlvrKatFbNZMbrf5m9ozIH27M9PlyOMk16XRVJtWt0/wCA/wBDNwTTTW+n6HE+OvBE3iTWH1BLyzRTpclj5F1ZLcRuWbOXR8qy+qkfjTvhJ4OvPBmiXVleX0EpnuTNHa2nnLZ2ikAeXBHLI5jTIJ2htoJOABxXaUVMVyqy/rW/5lPV3f8AWlgooopgFFFFABRRRQAUUUUAFFFFABRRRQAUUUUAFFFFABRRRQAUUUUAFFFFAHn2k/Di4svFVvrEmvrNb2uo6hfW9sLLay/bOXRn3ndtYkg7RxgY71lal8IHeazuNO1rTUuY7drW5fUNDjvQ8fnPKpjDOPKcGRhuywPHy8V6tRTvt5Dcm22/61v+ZzXibwvJqXhyw0/T9SFlfaZJFNY3c1uJlSRFKhnjUoGBVmyAV68Y6Vkan4K8SSR6Zf6Z40Fv4htLWa0n1C70wXEc8crK7fuRIm0hkTadxwAQQc5rvKKXfz/4b8gTtY8zX4R2kPhvXdDtdamjg1XRU0oO8AdogFYGQ/MNxJYnHH1qfxf8M21jxCmsWOqadaySW6W92LzRo71mVOjQs7Dynxxkhx/s16LRQ9d+9/m7/wCbBtv+vT/JHG2Hg3UdP8U3N9Y+IjDo12fNudO+xqXkmESxhvO3YCbUB2BOuee1Vb3wrrFh8JNV8M216up3pinFm8cAgIDuWRTlyCRn72QDjoK7yilJc0XF9rCSSaaPL9O+HGvX2kRXfiLxQkuvRW1sllPBp4ijszEQ4DR+Y3mksMMdyggYG3rTtT+GGp6noV/DqXiTT77V9RuBLeT3WiiS0kQIyCMW/m7lAV2wyyhgcHJ6V6dRVN3v5/53/wCH79SYxSafVf5W/rt0PMYfhQ8NnFZR+JJDbjRhp0vmW5kkaRW3pMrtISAGA+Q7sjjd3rSvvBfiS6sdMvX8YwN4n0+aaSLUX0vNuFlwGj+ziUHbtAA/eEjGcmu8oou/6+/+vu2HFKO39aW/I8uf4V6pbWTLo3jD7JfX1nNa6xdXGnCf7YJJJJNyKJF8oq80m3lvlIBzjNN/4VEYdTsriz1qwWFba1hvPtWixXE8hgUKHhlZv3JYABgVcemDzXqdFL+v6+/bYptvcrWMV1CZhcXMUyF/3ISHYY0xwp5O4+/H0qzRRQIKKKKACiiigAooooAKKKKACiiigAooooAKKKKACiiigAooooAKKKKACiiigAooooAKKKKACiiigAooooAKKKKACiiigAooooAKKKKACiiigAooooAKKKKACiiigAooooAKKKKACiiigAooooAKKKKAP//Z"/>
          <p:cNvSpPr>
            <a:spLocks noChangeAspect="1" noChangeArrowheads="1"/>
          </p:cNvSpPr>
          <p:nvPr/>
        </p:nvSpPr>
        <p:spPr bwMode="auto">
          <a:xfrm>
            <a:off x="36512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6" descr="data:image/jpg;base64,%20/9j/4AAQSkZJRgABAQEAYABgAAD/2wBDAAUDBAQEAwUEBAQFBQUGBwwIBwcHBw8LCwkMEQ8SEhEPERETFhwXExQaFRERGCEYGh0dHx8fExciJCIeJBweHx7/2wBDAQUFBQcGBw4ICA4eFBEUHh4eHh4eHh4eHh4eHh4eHh4eHh4eHh4eHh4eHh4eHh4eHh4eHh4eHh4eHh4eHh4eHh7/wAARCAEfAjI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LooooAKKKKACiiigAooooAKKKKACiiigAooooAKKKKACiiigAooooAKKKKACiiigAooooAKKKKACiiigAooooAKKKKACiiigAooooAKKKKACiiigAooooAKKKKACiiigAooooAKKKKACiiigBGZVG5mAHqTWPe+J9GtZTG915jDr5a7sflWN8SY5Vjt5luWWM/I0W/APocd64iuGvipQlypHZRw0Zx5mz1TRNestWmljtd4MYDfMMZFM8YrHN4eu4y6Bgu8AsOxz/SvJNWur+z0y4m0+6lt5tnLRnBK5GRXCrqV9PexSXN5cTEOD88hPesvrl4cslqarCWndM9EopByAaWuI7DU8KIsmv2u5lUBt2ScDgV6nvTaW3AqBnINfPvjKVotJG1irNIACDg96x/DOsa0upQ29vql2qMcMvmkgrjkV1UMSqStY5q9B1He57yvjLSN7LIZkIJH+rJBrW07VdP1Bd1rdRue65wR+FeR06JmWVWRyjZ4YHGPxq442d9URLBwtoz2eiq2lxvDp8EckplcINzk5yfrVmvSWx573CiiimIKKKKACiiigAooooAKKKKAMbxHqVzp7wm3jMu4HKDqeaRr6628MAcccVF4p/wBfB/ut/MV5lB/wlM1uEjn1Rbg27i9dwNiy5+XyuOefTPFeFHEzeLrUnLRWt92p3xpRdOLselWuqXjSFHce3y1NPqF4IiyOAR/s15lY32vW/iCJtXivUtw00MvlxFlZgqBXGAcAkMR9a3dGh1kW+tfa7q5lMO6CyJXG9NgYP7tl9v8AwCssJOs6cqM5u6vrfUupSgmpJHSf2vff89B/3zR/a99/z0H/AHzXm9pL4mtbpRfLeyRWrQCRlTPmqUl3EAc9SgI9hVG9j8Xm3umhnv1ZrVQgAGVbazZHvlVX8a8X2mLUnF1vxZ0KlT/lPVv7Xvv+eg/75o/te+/56D/vmvKrlvFQv79oZb91xcBECEBPkOwgkYPOMAGluovEs0Vomn3d4xCTNMzho+QBtHK8nrgd/Wj2mK0/ffiw9lT/AJT1M6xfAE+YD/wGtLwxf3N/byyXKlGUgBT2615boza2PFUbSyahLZvEN6zRhET92nzDrnJ3ccEHPHevT/C33Lj6r/WuvK6+IeMhGdRtNPr5MxxNOEaTstTaooor7E8sKKKKACiiigAooooAKKKKACiiigAooooAK+ff2hviX4u8I+PIdK0O+igtW0+OYq0Ksd5eQE5Psor6Cr5M/a5/5Klb/wDYKh/9GS1tQSc9RMyf+F6fEb/oLQf+Ay0f8L0+I3/QWg/8BlpfDvg+x8V+G/DV9p9vHC0OofYtZZSfuH5xI3oNqsM+9XbXwHovjG51PVNHuJdLt2ef7DbpakwqkQONzsRktj+EGur932JKP/C9PiN/0FoP/AZaP+F6fEb/AKC0H/gMtbUfgvS7rQ7RrWytY528Ki8kZ0Lb5skbhyMH3/SqN74H8O6R4V8TQfb21DWtPhthJvgKrA8nJ2EE7uuDx2pfu+wFP/henxG/6C0H/gMtH/C9PiN/0FoP/AZa19M+E+jpLot5d6veS201/Fa3UL2nllt67htyc4PTJAPfFLq3w60y/tDbaFcwJG/iV7ETy25WSKNYndhnccqNvTHJovT7AY//AAvT4jf9BaD/AMBlo/4Xp8Rv+gtB/wCAy0yz+HGl6tdaVLoviKWXTL67ls5J5rXY8UqIzH5cnKkKec1g+NvC9houj6RrGlapLqFnqPmoDLB5Tq8bFW4yeMg1SVNu1g1Ppv8AZw8Xa54x8I6hqGvXCT3EOoNCjLGFwgjRsYHuxr0+vEv2O/8Akn+rf9hZv/RMVe21xVUlN2KQUUUVmMKKKKACiiigDy79pDxdrng3wnp2oaDcpBPNqAhdmjDZTy3bHPuorwf/AIXp8Rv+gtB/4DLXrX7Y3/IhaP8A9hZf/RMteHeAdGsfEfhzxDpaWqNrcMAvLGTncyocyRgd8qDXbRjHku0SzX/4Xp8Rv+gtB/4DLR/wvT4jf9BaD/wGWtS4+H2kXxi02NmtP7FsIW1W4t4/MlmuZuQoBIGFzg88YrKl+Gulafp+sajrHigQwafei1h8m2837QWRXToeM7sEdqv932EL/wAL0+I3/QWg/wDAZaP+F6fEb/oLQf8AgMtdbpvhLwpYWfia61G3tZbu1TTo4kNoTFD54+8Bv5LHOeeMZ71z3ib4e6LZ6xqd1rGsrpNkNQWxtRbWhdfMMe/JG7KqMdsn2pJ077D1Kf8AwvT4jf8AQWg/8Blo/wCF6fEb/oLQf+Ay03wf8MrfxB4eub7+2J4rlFneFRaHymWME8uxHJA7A4710M/gXwuk2mQ6XKJppvDrXsq3FuSGbGRICG4Oe3am/ZroLU4C++Ini6+1Eahd6q804OVLKCF+g6CpP+FkeLP+f6P/AL8itS7+HVlFZXNrDrrya9Z2Ed/cWpt8RCNwDtV88sAwPTHPWpPEXw30/TdC1W6tfEEl1faXb21zPA1rsQpMuQA2TyPpUOjh29Yr7jRVZrqanww8U614k1m80/VLhJYRZM6gIF+bco7fU0sqmKdl6FWIrlvhDq1jo/iG7ur+UxxGzZQQpJLb0OOPoa1td8TWk+pTzWNtIY3bI8zA5+gzXg5jSUa7UFZHpYad6d5M9csX8yzhcd0BqavI4PiFq0FtFBFb24WNQoJBJNCfEXXATmO2Yf7prj5Gb86O08eSfLawj1Zj+mP61X8D2++9luCOI02j6n/9VcTqfjK81GZJLq2iyi7cISK6Twb4w0W2t2gu2ltpXbJZlyv5ik4Mamj0KsDxnfeRYi1Q/PN97/drWtL6zu4DPbXMU0YGSyMDiuC1q8a+1GWck7c4Qeg7VJR0HhDx7rnh6RIxMbu0B5gmbPHseor1218faVqWgPe2DMLrhTA45Rj6+or56toJLidYYVLOxwAK9C0ixj0+zWBMFurt6mtqeIqQVrmM6EJu7R6h4X8URX4W1vSsVz0B6K/+Brpa8VaQRqZGbYF53Zxiu8+GXiKXxBp1y0h3LbSCNJD1cY6mu3DYhzfJLc5MRQUfejsddRRRXacYUUUUAFcvrXjbT9K1Oawmtbl5IsZZAMHIB9feuorxn4h/8jjf/VP/AEAVMnZG1CCnKzOx/wCFjaT/AM+d5+S/40f8LG0n/nzvPyX/ABry+is+dnV9XgenN4gtdfPm2sMsYh+VvMxznnjH0rn/ABnruqaZFaW+jwSzXDu0smyIyYiUZIx2z0zTPA3/AB7Xf/XRf5V0sDbZVb8DXx2Jr+xzOUntdfkjpUEqdkcdr3iPV49U2whmtLiaIWriLO1THuYH8wRV3wvrWqXFhdu159sEenrN5giA8uYgkpx1xgVa8b+Jm0XULGzhhikWQGS43KSVTIAxjuTn8qqt4mmtdM1e5jS3L2l6lvGp6MhMY3H/AL7P5V6dRexxUZJaS0b/AAX6Ga96mUtd8Q3clno01hqNurTKRduduFYLnByeDQbjXDda6q6o3l2dpFNbEQA7mZGY89+VFaXinX7i0v7uC2Wy8m0hhmAkB3XBdyu1Mdxj8yKxE8Xak8gRbGEDz47ViQeJXPT6AZz74rz8wotVbxgtfTun/wAD5mtL4Rlnq+uf2vY21zqMaxSWkcz70VCzt1Ayf0qpp+u+KJLG7lurpLZjGGt2kgyD87AnjOBgAc9KvWXibWLjSGvpLeyiLTJFHuU7Rl8Emtjwzqt9qN1cRXMNuIodyCWLO12WRlJGe2AK4qnuJtwX4f5GqLnha8ub7Qre5uwwmbcGLLt3YYjIHoQMj1Faq+JbTQPkuoJpDNyvl44x9T702uX8c/621+jf0rTJ5f7dFpW3/JmdWKlFpnV/8LG0n/nzvPyX/Gj/AIWNpP8Az53n5L/jXl9Ffb87OT6vA9Q/4WNpP/Pnefkv+NH/AAsbSf8AnzvPyX/GvL6KOdh9Xgeof8LG0n/nzvPyX/Gj/hY2k/8APnefkv8AjXl9FHOw+rwPUP8AhY2k/wDPnefkv+NH/CxtJ/587z8l/wAa8voo52H1eB6h/wALG0n/AJ87z8l/xo/4WNpP/Pnefkv+NeX0Uc7D6vA9Q/4WNpP/AD53n5L/AI0f8LG0n/nzvPyX/GvL6KOdh9Xgeof8LG0n/nzvPyX/ABo/4WNpP/Pnefkv+NeX0Uc7D6vA9Q/4WNpP/Pnefkv+NfN37S+sW+ufEOC8to5I0GmxR4kxnIeQ9vrXoNUdQ0bSdQnE99p1tcShQoeSME4Hb9a1o1uSV2RPDRa908c8MeLda8OWGp2OlzokGpQ+VcKy549R6HGRn3rS0D4ja/oui2+l2kdi6WxkEEssG6SNZPvqD6HJr0j/AIRjw7/0BbH/AL8ij/hGPDv/AEBbH/vyK6Xi6b+yZfVJdzzOP4heIo7UW0cluqLpv9mjEXIhzn8/ep9T+JPiC/06ezkh0+M3KRLczx24Es5ixsZm7kAAV6L/AMIx4d/6Atj/AN+RXJfEXwfCLWO/0WzSJo8JJDEuAQTwcD61UMRTlJKxE8NKKuZuo/FPxPeGMlbGFkuIrotFAAWmj4Dn1JHB+lR3vxN8RzPE1uljY+VqP9pKLeAKDPtKkn1BDHIrr/C/gzS7PSIo9RsLe6um+aRpEDbSf4R9K1P+EY8O/wDQFsf+/IqXiaadrFLCyavc84n+I2uNfWNza2+n2KWTvJFb20ASIyOCGcjuxBNYWpa9f6homn6PcNGbWweV4AFwQZGLNk9+Sa9k/wCEY8O/9AWx/wC/Io/4Rjw7/wBAWx/78ihYuC6D+qS7l/8AZg8VWWg+CtStrm3nkd9SaQGPGMeVGO59q9Y/4WNpP/Pnefkv+NeTafYWWnQtDY2sVtGzbmWNQoJxjP6VZrkqVeaTaNo4aKWp6h/wsbSf+fO8/Jf8aP8AhY2k/wDPnefkv+NeX0VHOyvq8D1D/hY2k/8APnefkv8AjR/wsbSf+fO8/Jf8a8voo52H1eB6h/wsbSf+fO8/Jf8AGj/hY2k/8+d5+S/415fRRzsPq8Ct+1B4qste8G6ZbW1vPG0epCQmQDGPKkHY+9eGeFtd1Hw1rtvrWlSLHd25Owsu5SCMEEdwRXueoafY6jEsN9axXMatuVZFDAHGM1R/4Rjw7/0BbH/vyK66WKjGHLJGM8Ld+6zy/SPHOtafq2pagyWt5/abb7uC5j3RyNnIOPY1BqvjLWtS0+9sbp4DDeXwvpQseMSAADHoMAcV6v8A8Ix4d/6Atj/35FSQ+EtBmzs0SxOOv7pap4ymtWifqku55bc+PvEFwmoJI9vjUPsvn4i6/Z/9Xj068+tXYPih4jW9vLq4h068a5uFutk9uGWKZV2iRB2OK9J/4QzRP+gHYf8Afta851j4e6mviwWNlbE2c2ZEfdwiDqCe3WiGMoTuTPCzjYZpfxQ8TafpqWUYsZdglVZpYA0gSTO5c+nNRR/EjXksrS3WGw821smsUuPIHmmAjG0n2rr08BFVUf2TZnHclTmpPE1toOg6NG114X037dLlYwIlKkjua5v7Uot/AzT6lJdTiLr4ha7caM2nvHZLLJbpazXqwgXEsKfdRn7gYFV77xxrl5HqcczQbdTggt7jEeMpEMJj0qpJDA8jP5ES5OcKoAH0FN+zwf8APFPyq/7Spfymf1WXco6V/wAfDf7n9RWnTI4o4zlI1U+wp9ediqyrVOZI6aUHCNmFFFFc5oFFFFAE1rd3Vqxa2uJIiRg7WxkVs6brgYiO8wp7OOn41gUUmkylJo9t8H6bHDarfMQ0koypHIC1vOyohd2CqBkk9q8a8FeKrzRbpLeRmmspGAaMn7pPcelekeI7fWL5jb28Spbg8/vAC5rGUbG0ZXMjxJrTXrm3t2K24PJ/v/8A1q9R/Z6/5AGof9fC/wAjXlP/AAjerf8APGP/AL+CvTvhBeQeHNJvLfVWMUkswZQo3ZGPatsLJRqJsyxMXKm0j1ais6HXdIljR11CAbgCAzgH8RWjXsKSezPKcWt0FFFFMQV4z8Q/+Rxv/qn/AKAK9mrxn4h/8jjf/VP/AEAVE9jpw3xMwKKKKyO03/DN1Hb2Vyv2qK3kZ1Kl+4xzXQ/2tpv/AD/Q/nXn9FeNiclpYirKrKTuzRVGlY9LTVdDkUvLdWhdkCOW6sB2PHSs+6fwu1w8gGnP5oAkPlg7hxweOeg/KuEorrrYCNWmoOT0tqZxXK7no8d34YVYdr6cvk/6rEY/d/Tjj8KqyXmhh2Cz2hHmeZwP4v73Tr71wVFTi8uhiYpSbVgh7rO0B8MhXUJpwEn3x5Q+b68c1YhvtFhx5M9rHhQo2jGB6dOlcHRXC8gpPeb/AANPaM9AOrabg4voQe3Ncz4muUuFtcXMdw6h9xTtyMVi0VvhcnpYaqqsZNtA6jasFFRPcQJ96VB+NOiljlBMbhgPSvVU4t2uTyvsPoooqiQooooAKKKKACiiigAooooAKKKKACiiigAooooAKWoL66hsrSW6uG2xRruY1wV78QLtpj9is4Uizx5uWY/ljFJySA9DorjvDXjZb68Szv7dIZJDhJEPyk+mD/jXZUJpgJRRRTAKKKKACioTd2wJHnJmj7Za/wDPdKV0OxNRQOlFMQUUUUAFFFFABV7Susn0FUantbjyC3y7s474rKtFyg0iluatFN0lbnUboRxQBYQCZJS/3fQAY5Nb/wDYtvj/AFsufXivOcGnZmlzCrzr40/6vTf95/5V3Xi25uNAlj3WnnwSfckEm3n0IxXmHxL1j+1Esh9nMPllv492f0oj8RM/hPI/F99d2uoRJb3DxqYgSFOOcmsX+1tS/wCfyb/vqtLxz/yE4f8ArgP/AEI1P4J8Lza3cC4nUx2KH5m7ufQV7FGK5FoeVUk+d6l3wTpusa3cC4nvJ47FD8zbuX9hXSeNdY03Q7b7PBbxS3zr8innZ7mpfFfiCz8NacthYIn2nbtjjXpGPU1wvhrRL/xRqj3FxI/k7szztyT7D3rTkj2I5n3LPhKz1vX70n7ZPFao372QH9B7132uz6PoOmedcxK5A2xqeWc1JqF1pvhXQxtj2RRjEcaDl2/z3ryLXtVvdZv2urosT/Ag6IvoKXLHsO8iS+17ULq7knWZoFY/LHGcKo9Kg/tbUv8An8m/76qG1s7q6P7iF3HqBxUc0bQytG+NynBwc1KdNy5Va5TjUUVNp27lr+1tS/5/Jv8Avqj+1tS/5/Jv++qpUVfJHsRzS7np2kszJZsxyT5ZJ/KvpB/vn61826SdtvaN6BD/ACr2lvFw3H/iXnr/AM9v/rV41Xc9alsdRRXLf8JcP+gef+/3/wBapLfxUJriOH7CV3uFz5vTJ+lZGp08X+tT/eFez157/wAIXqgmDRzWrx5BVixBI+mOK9Cr08HTlC/MjzsXOM7crCiiiu04wrxn4h/8jjf/AFT/ANAFezV4z8Q/+Rxv/qn/AKAKiex04b4mYFFFUtb1XT9F06XUNTuUt7aIZZm/kB3PtWTdjtLtFeU3vxw8Pxz7LXTb6eMH75AXP0BOa6zwh8QPDXidhDY3nk3R/wCXecbXP07H8KzVWDdkx2Z1VFFFaCCiiigAooooAK5+/vJZpWXcVQHAAroK5y9t3iuzEFJLH5PfNebmbmoLl2OrCqPM7kmi2P8AaWqQWPm+V5rY34zjiuu1Hwza6PArxXjTS7gXQkDA7HHWuj8O+HdPs9JszNbIbyI+YZP4txqxrFrCRPd3Vw4h+z+WY8cA5yG9c9q58LRVNqUtx1qrlotjhaKWqurX0OmaXdajcHENtE0r/QCvaOQtCg18Z+OPjJ4z8QalK1pqk+mWG4iK3tm2/L23Huab4Q+LXxF027X7Pql1qkS43W9wDIuP5ircLK7MFiIt2SPs2isPwFrsviXwpZazPZtZyzr88JOdpHWtyoubhSgE9BmqOvalb6Pot5qt0cQWkLSv9BXx946+MPjLxLeS+VqU2m2GSI7a2baNvbcR1NVGLZnUqqG59hX2qadY39rYXl5BBdXZIt4pHAaTHXA71dr4n+G3g/XviFqNxJDrQhax2s0s8rs43Zxt/KvsHwfaXth4bsrLUdQfULqCMJJcMMGQjuahzgp8l9R05Smua2hrUUUUywooooAKKKKAMnxNaR6imn6ZNL5cd3fRRsc44zzWx/wjPwy1XUBY2tuwnhiYlYN4DBepJIIJ+lc545hvnh0y6sY9xs7xZnO4DavHNeyaW2nmKO8ggt28xPvQlSOevPeufERtZhGWrR5ndaN8P9Q0K5h8P2yJf2qLMkrI6uNrdy2B6irIV1VRIpDbRkH6V13jCwWTQplsLeKNpHj81hhSIw4Zv5Vy93Iss7OgIToufSihfXsUyGiiiugkKb5kef8AWJ/30KdXMTJJ5z/K33j296iUuUpK4skErSvhM5Y4596abeYHBjINV7y7XT0W4nDABhgd2PoKxrrxPJNdPKtsFVmzgtXJOrCG7NlFvY9Fjkj2L+8Tp/eFSVwOm6zb3cixNmKQ9ATwT7V3kX+qT/dFdNKqqiujKUeUdRRRWpAUUUUAFFFXdLAJkyAeBUVJ8keYaVzV8Pavpmm6JczXl1HGsMo83HLLuHy8DnnBxU3/AAnPhv8Asg6st3O1oJxbl1tZThyDxjbnt1rn/DzWml+MtWk1cxRWupxwC2eTHll492VJPAb5hj1wfSvQFhsfs32ZbWPy2bdwF259cVy1Er83cabON8ZX1r4i8F/btKLXESyhtxQqQB1ODg9K8W8V/dt/qa+i9ZW3t7RIo41RdxIRRgHivHPjNGiR6bsRVyz5wMdqw+0VL4Tyw+GZNd12KaYlLKKICRh1Y5J2ius1fUtP8OaUkaKFYDZBAgyfrXO6j4mj0LSHhhw97K5ManoowBuNZ3g+z1rxZIWmlWG1hb9/dn7xzztX3rrryqqhH2fzfl5HNho0nWftOmy8/Mbovhu68XeI5Li4gmtbJV3PIw+Z/Ye/P5V6HqM/h7wfoyJIFjiChY405Zz3P/16j1bVdO8N6ZFHAfKiiXZDGD80h715Fr17c61qUtzeTE84hXPyqvYCojCUIpTk1pt1LnOM5OUIp679DU8R+KLfVhItw0kqBxsRV2gqO3tVOTXdPkiKfZWjydvyqPufWsGZI03Lh9w79qBGuIjhjvUnA9ckVH9m4eSTld633/rsaf2niYu0bLS239dzp31LT5rNIbdo4Y2ymxiV2+h461m32h+XAJYJCVAJZ5CAG+mMms5UjTdIhy0eGAboaW81K8u+Jpjt7IvCj8Kzo4GpRmvq8rR63NK+Pp14P6zC8raWGWdstwJC1xFDsGRvP3j6VX71t2FrpU1mk0m7eoIkQP8AMT6gelYr7d52ghc8Zr0KFf2lSa107o86vQ9lThLTXs/6selaZ/x62v8AuJ/SvQCRk8iuB0f/AFVl/wBs/wClfRrwQ7j+5j6/3RXn1dztpbHl+R6irGnEf2hbcj/Wr/MV6P5MP/PGP/vkUCGEHIijz/uiskantcX+qT/dFOrym11zVoxFCl/MEXCgZ6CvVq9mjXVW9keRWoula4UUUVuYhXjPxD/5HG/+qf8AoAr2avGfiH/yON/9U/8AQBUT2OnDfEzArxb9p2e6WPR7dXYWr+YzqDwWGMfoTXtDsERmPQDJrhPilpln4r8LzWscZF7D+9tmI6MOo/EZFctbWDR3x3Pmm2tbi53+RE0mxdzYHQV1/gfSbeHXNJurh5g5nRiFOMc0vh+3k0+xMUibZWz5g7g1qaXaSX2qWtrD/rZJVCHGdpz1r52eJk5qMO56MKEVG8j6NkdY42kdgEUEknsK8+n+IV3danJbaLpkc0UQZmklYj5V6tx0Fdtc200uiyWbyb5mg8suBjc2Ov515T8PLeH7brGjXX7u7mt2hj3cHcCcj+Vevi6tSM4Qi7X/AKsctGEWnJ62Gat8RNeu5c2jx2cXZUUEn3yeat+HPH3iNpxDNa/2mvcRx4cD8P61U+F3gqTxX4zXRrpngt7clrtlHIUHGB7mvpHwh4D03wRa6mmgF5ZrptyNOwyoA4Td1xXm4d4mpLn52l/XQ3qyow922pw+i6lb6tp0d9bbgj9VYYKnuDVyruu2EWn6xdJDEkYkfzCFGBk1Sr6CDbir7nA7X0CuVk+JnhfRfFcVtfWb38MRxLPHz5LeoH8WKrfF/V7rS/DCx2cxhmupRGWHXbjnH6V44dPjZQfMbceSTXsYDLqdeDnV1XY8HNMzqUJ+yo6Pqz7Z0LU9N17TI9T0W9ivbSQcPGckexHY1g6zr1rdWUlskDljwC3Y+tfJ/hjxJr/g3VheaLfSW0mQWUcpIPRl6GvcfBniY+K9I/tSVI47lnInSP7qt7e1cuMylYZ88XeJ0Zdmv1p+zkrSNqs/xLp66t4d1DS26XVu8f4kcfrWhTZJEiRpJGCqoySa4721PWtzaHwEdHuIfEjaLcqY5o5zFICMEYPP6CvQLXQrDSbqV7HfiWNRy2cfQ13fxM0GDUfFE/iG106FHkwHkjzlyOjEdjjjj0rL8O+FtY183A023Vzb7fMDNtxnp/KvFxmLliGo0X7v5no08qqYJc1eNuzPVvgLfNceDWtJf9baS7W5yOeRg16FWF4D0P8A4R7w1bae+0z43TMB1Y/zrdr1aEZRpxUtzgqNOTsZXjDSv7c8K6po5JH2y2eIH3PT9RXxHoHhPUtS8cxeFWhZLr7SYpgRjYFPzH8v6V93XM0NtbyXFxIscUalndjgAV5foXi74bXnjq7vrqw/sy/lxDHrGMpIv+2vb/eHbrWrc1B8i1OWrGDlHndje8N+BvDfhK6e50C1MDXMEcc2JCQxTPzY7Ek10uio8MbRFty7ic4xjPardzot5DDHcp5dxZyjdHcwtujYduRTbSDyQ+cEsRnFeThqdZ1uadz0pypqnywJ6KKK9Y5AoorT8OWMd/fGOZSY1XcQDilJ2V2MzKK3/F+n6bpOjzanuaGOHBfJyMV4J4h8WalqV3IbeeS2teiRo2OPU+9XQj7ZXiY1q0aW56dqerabp8eb26jQH+HOSfwr0LwfpGn6foUVxpNq0NrfAXIyTtJZRyM9OnSvlSFmd2Z2LMepJyTXpWp+IvEt78EtPi0rVGtI9Kv/ALNcqj7JJA53RHI5wCWH4VWJo8lNu4Ze3jcTCjpG/Vnofxe8TL4TstOW+gmEF+zjeo5G3b29Pm/Sua0rWdL1SBZbG8ilBGducMPqO1ecfHHW9Y1HWdK0vWLxbqfS9Pjjkdehkf5mP12lB+FcnZkrDGykhgOCOorWnhk4LuctTFSp1ZR0aTPoKivKvBXiDUIdbtba4vJZLaRtjK7Z69Dz716rWVSm4OzOqjWVVXQUUUVmanIfE2GRrO0mUfu0cq31I4/ka5vwvoNxr9xNb20qJJGm4Bv4jnAFdJ8QdRU2TacIZC25WL44Arq/g14Naztxr2pB1lmTEEJOML/eNeRiYqVfQ6qbtDU4xvhz4ktb+yhuEjia5kZY3Q7wpUbjkjp+NdrErpEiSNudQAx9TXoGuXz2OnSTwLHLICF2s4Xgnk/h6VwbsXdnbqTk114SmoJ2MaknLcbRRSgE9ATXYZiUUUUAFW7CWKHzGlkSMYHLHFc1418Q23hnQJtSuPmcDbDHnl37CvnDWvE+vaw7tfancurk/uw5CDPbA7USpe0i0ZVK6ps+ztO0mDWkSO4tIb2yl/hcBlf6etdTFatCEtY4Cm0BVjC9AOgxXA/s+3nm/C3Q5R/yxUrx7MapeJ5/HC/tD2Udrrmyylj+0QRb8ILZRl1K9CeDWVbCqnGNm9TbL28ZOabUeVN6+R0XiS6a3mu5tQxaw2hbcXOAqL/Ea8l+Kuq6Zqlvp0mm6hbXaBmyYZAwHHtXffFG4d/BXiS6b5nNjO5z3Ow18cRSyRNuikZD6qcVpVwMYtOLOGGMk01JHc3Xh2417X4QMx2scQ82X/gR4HvXY6jfab4U0MKqiONRtjiB5kb/AD3riPB/jQabZXFvqSvN/HEw6k4+6a5nXtWu9Zv2u7pv9xB0QegraEeWKTMZyvJtBrusXmsag95dOcnhEHRF9BVSEybD+9KIOpqKnxybAQVDKeoNE1daBB2epIFkfbGsu5WbaOeKWCKYqZI3I2Lnj0NME5UfKightwI7GnLdMu7aqjIAGM8YrFxqWaSNoyp3u2RNJIwwzkim0UV0JJbHO23uFFFFMR6Zo/ENkTwMR/0r6FfVtL3H/iYW3X/noK+edM/49bX/AHE/pXoJ6mvDq7nsUtj0T+1tL/6CFt/38FKmqaa7BVvrdmJwAHHJrzmp9O/5CFt/11X+YrNGh6h5MsVyI5InR1YBlKnINeyU2H/VJ/uinV7FCh7K+u55Vat7W2mwUUUV0GAV4z8Q/wDkcb/6p/6AK9mrxn4h/wDI43/1T/0AVE9jpw3xM56ZS8TqOpUgVxHiK6i0p/JupkTPUj+VdzXk3xVPmTeZ1Am/pXk5lUcKWhnmF6rp4XmaVR2bW9rN/iQ3elaTrCPLZyIko6tH6+4rtfCei+H7OG0uooIxexxhWc5yWxycV5Z4Odk1tFViAykMPXivSNHk23sanoWFeXgakVUTktzzfrNbJ8fHAVKrlTkla+6vpv2udrXEeIPCc+qeNLW/tY1tokKtNID8zkemO/au18yP++v51qaBCs12d2MjpntXqZrWp0MLKrUV1HX/ACPqaHNz2XU1fAWjaRo91d30cYi1C9I85s8EDoB/Wug1XWrLTZfJuC+8ruAUVlTWjIhZWzj2rH1uEyx/aMlnUAEk54r5XKOI1iKyo4hW5no13fc6a+F05osy7ud7m5knkYlnYnk1DRRX3ZwHmnx43fYdL/u+c354FcAPuj6V6t8Y9Ne+8J/aIl3PaSiQ/wC70P8ASvKV+6PpX02WSTw6Xa58fnMHHFNvqkZurn98g9BXc/ArUWh1y70xm/d3EW9R/tr/APWzXBamc3bewAre+Fkxh8c6eQcb2KfmMV14yCnh5LyOLA1HTxUJLv8A8A+gq57xjIWWG03lVbLMB3roa5bxe2NUt855jI/Wvz7NJOOGlbyP1TJIKWMjfpd/gc/cWwRCynI7g1N4Jht7DxB5kZaMTrsKA/KT2OKkmXdEw9qzo3ZHV0JVlOQR2NfL0a8sPUU4n3NWl9YoypS6qx6hRVTSLv7dp0Vx0YjDfWrdfbQmpxUo7M/M6lOVObhLdHkX7Qeq3KNp+jQzukUyl5lU4D84GfavNX0q3K4BdTjsa7X9oAH/AIS7T2xwbYf+hGuaPWuiOx5VZ++y34K+IHiTwW76bDfSS6VIw8+1c7l25BJXP3T9K+hrG5hvLOG7t2DRTIHQ+xr5P1g5vn9gBX0B8E79r7wHbIxy1s7RfgOlKaNcNLVxO2ooorI7ArZ8IS+XqwXs6EVjVV1TxAvhm2/tXyRM0bALGWxuJ96UouS5UDkoq7PQPGaaa/he/wD7YjMlksJaVQcE45GD65r5NmKNM7RqUQsdq5zgdq9B8afFTUvEWkS6XHp8NnBNgSEOXYj07V580brGrlSFb7p9a68FQlSi+bqeXi60aslyhG+xs1Yu766TR5rWGUi3ldHkT1K5wfwzVZcbhnp3qyyq8JT+EjFb1qanFxfUMDipYTEQrRV3F3MiSSfU717m6mLyNjcxPJwMD9BVxVCqFHQVmQpILnYuQynk1qVpFWRyyk5NyfUfDI0UySpwyMGH1Fe6adcLdafb3KnKyxq4/EV4RXqvwyvPtPhwQM2Xt3KfgeRXPiY+6mdmCnaTj3OpoooriPSNCDQdOuvJurq2E8q/Mu4kgH6dK6C3uZrfAU/L/dPSobM4iRf9kfyqaRdymvyDEY2vUxEq6m73dvLyPajCKio2OY1JZFu5PMYncxbPrmq1bWswGSESKOU6/SsWv0nJcw+vYSNR/EtH6r/M8yvT9nNroFdNFpdx/wAI8i2qJ50x3SE9SvoK5odfWu70fU7S8hiijkRJtuPKLDcceg716FZtJWMkcNNFJDK0UqlXU4INRswVSzHAAyTXn3xs+JraT8Qvs+gzxXkMEYjvI2GU8z2Yd6wfEnxYs9R8HXEFjBNa6pOPKKNyqqfvMG78fStoJySZhKtBNq+xyHxY8VyeJPEDRQNjT7QlIAD9893P1/lXG0UrqyMVdSrDqCK3SsefKTk7s9t+AHxYtfD1rD4V1yHZZNIfs90gyUZj91h3HuK9N8SabqMvxo0zV45m+yLp7srDoF2lSPx3ivF/2a4/CcnjVh4iwb0BTpqy48ovzuz/ALXTH4+1fT3i9lg0Wa6wA8S4U4554x+eKqaThzS2Wv3G2ExM8PUkoLWacfv0PNfFGoTatbX2lyv/AKFcBomVeCUPBGa4P/hXvhn/AJ9Zf+/prqycnJ6mivkp42vKTfO/vPoI4SjFJcqOSk8AeF442ka2lCqCxPmnoK8d1A25vp/silbfzGEYJz8ueK9w+IN+2n+FLyRM73Xy1x2z3rwgdK9fK5VJxlOcmzysxjCElGCsFFFFeqeaFFFFABRRRQAUU6JQ0qKehYA12o8N6Xgfu5P++6zqVYw3NIU3PY1dJG6CzX1EY/lXuTeE7Hcf9IuOvqP8K8SskWOW3jX7qugH0yK+jX++frXj1dWepS2Oe/4RSx/5+Lj8x/hToPDFlFMkqz3BKMGGSOx+lb1FZmp2tr44URxxyaeS+AGKyYGfYYrtK8Yi/wBan+8K9nr1MJVlUvzM83FUowtyoKKKK7DkCvGfiH/yON/9U/8AQBXs1eM/EP8A5HG/+qf+gConsdOG+JnO3P8Ax7yf7p/lXlPxBjYacSwORIDXrNcR8WbXzNIMsa5fbzj0BH/168nM6fNR5uxOOh79Gr/LOP3PT9Tznwd/yHI/90/yrvY/vr9a888LSGPW7c9mJU/jXpWmruv4F6/OK8Kgr2R83xhTk80p+aX5s07ZZPtEfytjcO1d94dP7xvXcKx60NDk2Xe3+8OPrXpZ9Qc8uqxj2v8Ac7n3mHl+9R103+qf/dNZDKGQq3QjBrWl+aBv92sqvyWm2tUerHY5uePy5njznacVHU16c3cv+8ahr9vw0pSowlLdpfkeHNWk7FXWVWTSLxXUMphbIP0rwCvoO/TzLG4j/vRMP0r5+mXZK6f3WI/I19Jk70mvQ+Zz9e9B+piX4xdvWt8Pv+Rz0v8A67is3VRi6z6qK1Ph4rN410sL188V7FZ/upejPAw6/fw9V+Z9FVzfjWEj7LcgfdYqa6SszxQqnQ7gsAdoBHsc1+f4+mp4ea8r/cfqeVVXSxdN+dvv0OUcZQj1FZnTitNDlQfas+4XbK31r4yaP0Sm7HdeFV26HB75NalUtCQx6PaqRg7Aau19vho8tGC8kfmuNlzYio/N/meUftCaazQ6XqqqSI5DC59M8j+tefnrX0D4x0uHWPDV7YzjhoyynHKsOQRXz8QQxVuoODXZB6Hj4iNpX7nN3zbruU/7Ve0/s5zF9B1SDPEVwhx6ZU/4V4tertupB/tV7F+zd/yDdc/67w/+gtTnsTh/4iPWaKKKxPQCuK+LQk/sq0Zc+WJju+uOP612tVNX0+21SxezulJjfuOoPqKunLlkmZ1YOcHFHiVlbTXl3Ha267pJGCqK6Dx5YR6XJp9jGciODk+rdzXe+HfDGm6I7SwB5pzx5snUD0HpXHfFj/kNW/8A1xrrjV55pLY8+dB06Tctzjakhk28HpUdFdByCyRKkrOo+/zmkpckrjqB0pKEAds12nwovPL1a4smbiaPco9xXM2SJJpGobly0YjdT6ZcL/Wp/CEzQ+J9OdWI/fqre4PWs6i5otGtJ8k4s9pooorzT2jpLKTdbxP7CroORkVkaKxa1IPZuK04W/hP4V+PY+j9WxlSl2bPbg+eCkQagNtvMenynFczXYSxrJGyOMqwwaxrzR2XLW7ZH9019HwzmGHwinTqys5PTscuKpynZoyK57xx4bk8Q2cJtdQm0++tmLQTxsRjI5Bx2PFdEQQSCMGhVZjhVJPoK++TPNaTVmfNHifwH4o0aaSS5spLuIkk3EH7wH3PcfjXKurIxVlKsOoIwRX3DpHg7WtRAc232eE/xTccfTqal8V/Bfw3e6BdT31pFd3qIWVggUjHXBHOcVqpPscVSnBPRnyR8J/DX/CReJkM6brK0/ezejY6L+NYPio58S6l/wBfUn/oRr6Y8MeG9I8NWcttpNu0SSHc5dyzMcepr5n8Ug/8JJqZwcfapP8A0I0Rd2FSnyQRnIzxurxsyOpyrKcEH1r6E8CfELVvFfgwaVqil57ORVa5z/rlAOAfccV89V7X8MbWKw8J27O6LJcEysCeRnpXHmVVwoNLroa5fTU6yb6anV0+GN5pkhjUs7sFUAdTUHnw/wDPaP8A76FavhXVNN0/Woby9ZXjj5G1h8p7Gvmoxu0mfQylZHenwvpdj4S1GG4to55JLKQzNIN3IQnj05r4ZiyY07kgV9b+Lfi3ol3o13Z6EktzLKHgaR1KqvY9eteBR+HdPjvRcLuwDkR/w5r6LCzjRTR4WKi6rTTOK8mb/nk//fJo8mb/AJ5P/wB8mvTMD0H5UYHoPyrb635GH1bzPM/Jm/55P/3yaPJm/wCeT/8AfJr0zA9B+VGB6D8qPrfkH1bzPM/Jm/55P/3yaPJm/wCeT/8AfJr0zA9B+VGB6D8qPrfkH1bzPNoIZfPj/dP94fwn1r3P4ZafY6jq9xDf2sdxGtsWVXGQD61yuB6D8q7T4R/8h67/AOvVqh1faTWhcafJF6nHREiVCOoYfzr0lta1bcf+JhP19a82hGZYwOpYAfnXqDeHdW3H/R16/wDPQVw1Oh10+pX/ALZ1b/oIT/nU1jq+qPewI99MytIoIJ6jNL/wjurf8+6/9/BUtnoGqR3kMjwKFWRWP7wdAazW5oz37/hEdGkcTeXMhbDbUkwo+groqzbXWtKkt4mXULcblGAzgH8RWlXu04wXwnjTc38QUUUVoQFeM/EP/kcb/wCqf+gCvZq8Z+If/I43/wBU/wDQBUT2OnDfEzBUbmCjqTiqGv2Fle38WmtNM0yxSSNGqf6wBSdqk8AnHerks0dvE08riOOMbmYnAArndf8AiNZ614OOlWcdxHdLLteXYAjKM8qffivOxUZ1HGnFX5tPTz+R0YvDxqYWcqkbwVr/AKI9a0vwr4OtfC8Gn2+g2gYKCZGjBY+5brmvPDoul2V8szG4gAumigViH81Qfv8AHQV1t2zR/CK5ljd1ddHkcMGIIPlnnPWuS+Gv9o+F/Adt4m1CM39jewFYFt13SREZOGJ7E8Y9a+fwinUlUaV3C2i0vZ/mTXwdLESpTqRu76X6dTRuYjDM0ZIOOhHcdjTBeW2n/wCnXkyw28PzSSN0UeprL8N+IIPEViL1HHn/APLePujd+PSuP+N+syWmiw6TC+1rwky4/uDt+f8AKvrKOG+uRVFv4lZ/dqa46pLAKUqi1j08z3ywuIbyxhureRZYZUDI69GB71xdx478Jwag9jLrEK3CSeWydw2elZf7Ouvaj4h8J3thdRrGmnKkFtMg55Ddc9SMCvnrWJLq18W3M2pb3uYrwtNkYLENXyuVcAe0xFalip2UduV6/PS2xzYziF0qNKrSj8W9z6WdtzluuTmm02B1khjkQ5VlBB9sU6vqYxUUorodd76mB8QtVOjeEL68Q4l2eXH/ALzf/WzXiULF4kckksMknua9W+NltJceBZWjPEE6SuP9kZH9a4L4deF9W8ZO1noqxSSwIGl8x9u0E4zXpZVXjTrSjN2Vjxc7oyqU4OKvqcrrq8xOPcVqfCxGl8d6b1O1y35Cug+Lnw/1DwXpWnz6pfWcs91KVWGFiSoA5Oe4/wAax/g2Ffx/ZpwWEcjY+imvNzKopY1um9HY7cspyjhYxqLVX/M+ga5L4m6n9m0hNNh/196wUc4wuetdbXknxUunfxUY8kC3jQL9euf1ruwFJVK3vbLU4s/xM8Pg37P4pNRVt9ex1vhLS7C7EenPfXElzAreaRHhXIBO1Se/QZ+te1WWg+Fz4Yjsf7Ht3d0G93QFjkc5avnbxR8Sop/hBH4ftluYNU3hZ5lQKjLkkkEdzx+VeyaAzR/BSORXcONFkcNvO7d5bHOetfC42NWliXZW520vRvdbfI+jliqrwUKdZ601Zq/VLZ76233EvNP0+1ti6vJFEr+XFg7gw9RWdcxGCZoywbHQjuPWs/4Ya+NL8Fw3N1FNcolu21Ixuf1wM1W8N+IofEdl9sDAXP8Ay3i7o309K+hpRrUa86NR3S2ff+uupz4ZSxGFjiYx0dr+V0bmn2MmpXS2cY5kBBPoMda+bvENqbHXr+zOf3NzInPsxr61+HEKm8uLg9UUKPxrx/xr8I/FOreOtXvbWK0tbCa5Lxz3E2xSCATj8c12wl7zRx4m7aOC8P8Awc8V+L9G/t/Rmsnt5JGjCPJh8jGf5133ws8D+IPA9tqNt4gt0gkupUeII+7KqCCf1r1/4MeF5vCXhBtLl1S31HdcvLvhUhUJCgrnPPSoviI3/E0gX0iqXUblboFGFpJnMUUUUzrCiiigArzP4sf8hq3/AOuNemV5x8W0UajZv/E0ZB/Ot8P8ZzYz+EziUUu6qOrEAV22heEdPu5byDzLu8vLSMMYUXy0kbuoY+n1rz37bsmIC5weCDXpN38TLWb4ZR6AizwavuPmTqgClcnkEc5Ixn6danH1KycIUd2/u8/T7jlw2Hcqc6zXux6+b2R7noPhjwjD4Pt7BNCtizxqztKgZjkZOW9e1eLeLPBuhafBeXeb+0jjvDDCFxL5y9SwA6AfyzXqvhs7PhJFJGzAjSpXDBjnOxjnNeN/CnxzB4Yu5m1iOe6tWgYRhFDOjMQTgnnBxzXzuBqYubq1ISu4NK3e1/x+86qkad4Qa3MGexk01dXsjIsg8iJldejr5ikGs7SJPK1W0k/uyqf1q/Y3F54hvdUmw891OhbaByfmyAB9K9U+E/gO2Tw5eXviDSj9sdmWNJhyijuPevp/rCjSUpO7djnqYOrCu6UlZxNI9TSUifcXr0ptzL5NtLN18tGf8hmuU9G5xfi/xvq2kasbHR7qNERR5u6JW+b8RWG3xF8WM2f7QQfSFB/SuYvJ2urua5c5aVyxP1NQ185WwuHrVHUlTTb8keLPHV23yzaXqen/AA+8beIdS137NfXyyx+WzBDGoyR9BXpljrUfnr9shymedp4FfP8A4Hna38V2DL/HKIz9G4Ney10UMqwVWKcqaumengcVVlTd5Nnfm20zUIgfLilQ85Xg1s6nceHPBXhG68STWHlQWkXmNhd0h7AAnuTXmei3rafqlvdr0RwWHYjvXsPiTSNP8V+FLrSLvcbO/t9pZDhlBGQR7jg17VCnyN66E4qTsjyvxd8R/G03ii/j8J2djHp2i6bFqV5DeoRNcRuMlR/dIFeuaDqVvrnh+z1WDm3vbdZlz/dYZrzvw/8ACtLKDXZPGHieXWX1W1jsnlCfZtluhyq8McngZPf0ror3xh4Y8M6SlnZlWt7SIRokfCIqjAGTXQ2kcsISm7RVzj77RrWLV7q1/eswbciYwCrcjn6GtHU/CHgq40AaafDNlJ5hPmuIV3HPVt3XNczbfES28W6dfNZ2VxbFZSiueY2UHgqfpisn4rfEHUvBelaUNHt7e6uTYm4njnBICYUBuCO+78q+TxU8XKVov4m0vlbVdvI96OCm6ns5q0krv5K+pwviD4XafB58Wj+FZ/sEEzpc3VzcEuqEcSRnOMIRyD1BrwO4RY7iWNWDqjsob1AOM13fhz4oa+3hTxB4ecRSx6k8lwzuWZ495ywTngdOK87W4jx1I+te7gYVoOUarva3/DnlYmjy04VEtJX/AAdiaimCWM9HFOBB6EGvQOM2dN1u402zSCKGKRWy2Xzkc+30qx/wll7/AM+tt/49/jWHL/q4v90/zNXvD2jXetX62tqpA6ySEcIPWs/ZQerRp7SS0TOg8PalrGtX62trZ2+BzJId2EHr1rrNfi0zRdPN1eXUu7GEQYy7egqZm0jwXoWBjOOB/HM9ecTS6t4v1wAAu7H5VH3Ilpexp9h+1n3NHSNZ1bVtQW0sbGBmY9Tuwo9TzXdT6XZ2dibm+vGjEa5kYYC59s07RdL03wtpDOzquFzNO3Vj/ntXnHjTxNPrlyYoyY7FD8if3vc0exp9g9rPuSX3iphdyCyt0a3B+Rpc7iPU4qD/AISy9/59bb/x7/Gufoo9jT7C9rPudFH4qvGkVTa2+CQP4v8AGvWfhhfWdjrFxLe3MVujWzKGc4BPpXg8H+vj/wB4fzr0gTQYH76Lp/fFc9aKptOKN6MnNNSZYtv+PmH/AK6L/MV9Fv8AfP1r5zgbE0bDkB1P15r2RvF6bif7Pbr/AM9R/hXBU6HbT6nqfh63062ikN1b+c7L8pbnFZGt2kMZaWIBfUDpVbwRr2m62kzW7BL2MhZ4fMLFR2PpzVDxP4i0u01EaXaMlxdtKEuUEh3RHI6g14FKtWliFTfT+tf0Oh0pRu7Mli/1qf7wr2evPP8AhDdVWYNHJbPGCCrFyCR9McV6HX12DpyhzcyPLxc4ytysKKKK7TjMzW/EOh6Iu7VtWs7LjOJZQDj6da+eviH8RNEvPFN7JoKz6wXZQhgQhMhQOSf8K9r8TfDnwj4k11NZ1zS1vblUCbZHOwgdMrXnfi7S9O0vxNd2unWNvawx7AiRIAANgrCopvyR7OClgaaTlGUpW1WiX6t/geZnSvEfinDa3INN07O4WsZ+d/r/AJ/Cuh+Bvh7wxqniu70nV7Pz/KQtbIXwpweQQOvFbA6ivP8ASNYm8O+O4tWhzm2utzAfxIThh+IJrTDU7N9zmzrGzqxhFpKCey2/4L82fRt5plldGXR5IALKbNu0S8Dy24IH4GmeEvD+ix/DdvDuiammp2tsZI45gQdrhidpx3B4qaK/tHnTUzPHHaEiYys2FVOpJJ6AVyXwxvLfQ/jH4l8L2M0NxpWrxrrNi8DB0Vn++MjgA9a8DIoJyqya1uTiZtKKT0PMdd8JXEOpSap4fuP7P1AE+ZEeI5D3BHavMviTJrGoapAdWtVtbiKLZtB4fk/MK+nviRpgsPEUk0a4iuR5g+vf9a8Z8Q+DtW8ffFOy0LTPkiitVkupyflhj3HJPv6Cvo8DCUa3NCXLa/mjfH5hTrYRQxVP2i0Ss7SXz8vNM2f2V9Tt7bTdX0q6kjgk85Jo97gbwQQQM/QVyf7RvgfW9E8W3XiF7QvpGoMJIriLlVYj7reh/SvoG/8Agd8PYtGj3xT2LWkGZbyKcozbRku/b1rzLTPD/hnxNcz+F/DPxT1JTcKQlnqFs6pcL0+QuMMPpzV0sXVo4qVdxvfe3/BOarl2X4nCRoU6zhbbmjf8Y3/I09F50ezI5HkJ/KpruUw2zyqASoyAaoeI/APxG8H6aklvq+nX1hCoUMY2ygHQEYrk5tU8aSQtFJHp7hhgkcYrz6lbV3TPZpYCMorlrQfza/NIs/EG/kvPBeqW7RoN0PX0+YVxH7Os00fxW0tIrholkEgkUMQJBsJxjvzz+FbWpx+KLrS7uKa3tPJ8lmk2tztHXFcT8PrTVrzxXYL4StbubVlkDQGMfc7EsegGDyTXFUblJM1eAUd6sF8/8kfSX7QHhKPxN4Hnuox/pmlo1zEQOqgZZfy5+oFfN/wPkhg8fzXl3KkMUVvJ87nA5GMZr6PPw38eatMtr4i8cXYjlwssEEfygHqPfvXl1j8N7vQPifqnh7xFaLPYwWwuLOZVIS4UuBn688iiEJ8ydgVLBw+Otf8Awp/m7HQal4406Nzb6VDPqlz0CwqdoPua868btqtzrAuNYt0tppYgyxqei5IGffivZ7GwsrGIR2dpDAg6BFxXmHxd/wCRli/69V/9Cavby6gqtblqarseBxHmywGBc8DHllde87OS9OifmtfMj+FngOT4geIH0cyNBarA7zTAZ2cYX/x7H4A19KaB4d+x+GLXwrqEiyhbf7HO8RwGU5UkZ9jVX9mbw5p+jeBRfw3VvdX2osJbhonDeWo+7GcdMcn8a1fG1xdWmk61dWLSLdQ2s8kBjXc4kVCVKjucgYFeNxXKMq1KUVs7HmcOUJ08JJVHdz959dX/AFqY1x8MZ9C01LfRZmvLeIHCScSAfyNeW+I/B91b6o+paLK2makDl42GEkPuO1dv8M/ij4z1bxdZaTe6dBrWkbFjn1XTIWKrK4ym8HGzGDuFev8AiTS9JvrGWXUoE2xqW8wcMv416dWn7R3Z6+Ax88HZU9rWt0t2a6nz14F+I0vhu9lt/GGlXVqjKFNzAm+MEdz6D6ZrtPF/ivw3r3hlX0rV7S5JlUhQ+GAwex5p/g2K1uNelgkhSaB43wsqhsgdM5qXxB8IvButM72+mHT7t84ktHKZb1I7159anJpxuet7fA1KilOLg/LVfc9V95n/AA31d7S+axc5t5gWA9GA7fWpfGdwbjV9xGMIABXKaF8HvGVprvl6drl9pflbsXLAMvTHHrmtHxD8PfirYQveReINN1UIPm3xtvx64xWeFhUgtU7FVsNhZVL068de91+jX4iUVyLN8QYzgx6ZIfY4x+dJ5vxAPH2fTV993Suz2nkw/s5/8/Yf+BHX0orkPs/xAm4a/wBKgH+yhJqN/DPiW7GL/wAVTbD1SJcCjnfSILA018daK9Lv8kdXd3lpaKWurqGEDrvcCvLvifrmnahe240+4Fx5SFXKg4Bz611ln4B0ZGD3st1fN/01kO0/UVg/FCwsrH+zobO1igi2N8qLgda1o+0lNW0/EyxLwFGm271P/JV+r/I80LAfd60ixyzErHG8jY6KpJ/Srs1mrEmM7T6dq6L4UxOnjSNZE48l+oyO1dypqknLd9zxMRjqmMcabtGC2itEv835vU+gfD6snwZRWVlYaNLkEYI/dtXyjBczKi/Nngda+xL8f8UDfKo/5hs+B/2zavjZQVUAjBAr5/h3WVf/ABf5hj1y8i8j0z4F2FtfeKP7Surqa1WzYH910ckcA+2a9s8Z+PdC8P2wW4knmeUYHlRFlT3Y9AP1rxf4Hf6jVP8AfT+VejyRxyIUkjR1PUMMiu/EUIuo7aHp4XFOpCDxF5JK2+tvXUoadrmkagga01C3kz234P5Grt2gksp1PKtEwP0INYOp+C/D985kFobaUnJeBtpJ96zJPBt9ZxyNpfiS9hG0na/PbpUNzW6O50MFUXuVXHykv1X+R5tKoSV0XorED86bTJVuFlcGRWIY5JHU5pB5/wDsGvJaPnnlUX8NeD+bX5pGz4Q/5GnTP+vpP517XXhOgf2h/bdl9jEP2nzl8rf93dnjNekfZ/iBN96+0qAeyMTXbhJWi9D0sDlvJB3rQ/8AAr/kjr8Zrok+IU+kaJFYmS1hMKkebK/OPpXlT+GfE12MX/iqYIeqRLgVNaeAdHRw97NdXzeksh2n8K6lOfRHc8Hg1/FrX8opv8XY0PE3xMS9nMcU93rFznAjhB2A+/b9DWGNH8QeKHWXX5fsFgDuW0iPzN/vV19hp1hYRiOzs4YFHQItWaORy+JlRxtLDq2FhZ/zPV/Lov61IbK0t7Ozjs7WNYoY12qo7Vw3jZW11vG2pN88Oj6JHaxnsGyvT8Q3513Go3Mdnp9xdyttSKNnJ+grB0zTWh/Zz8UalcJifVI5Lhyeu3eoA/TP4152YyUHT73S+9oMPJww1es92uX79X+C/E+X/Dsoi1OLd91wUP40y/sZ4rydI4JXRGPzKhIx9aYIXidJI+dpDY78V9B/C57OX4b+IHaKN5REzncoJAKHFenWn7Kalbc4cPBYnL5R605X+UlZ/ikfOdGSOhIqxdw7WZ0HGTkelVq6jxTsdM0O51iTTba0j2hrYNLIeijceTXo7NpPgvQcDGew/jmf/P5Vk+FNXs9E8DRXl0RvxhEH3nOBxXHTS6r4v14AAs7H5VH3YlqYbFS3CeXVvF+ugBSzscKo+7Etem6Jpem+FtIdmdVwu6adurH/AD2o0TS9O8LaO7M6rtG6edurH/PavN/GniefXbny490VlGfkTP3vc1RIvjTxPPrlyYo8x2SH5E/ve5rnKKKBBRRRQAUUUUAel6Z/x62v+4n9K7+SRUVnYjCgk/hXA6P/AKqy/wC2f9K9o+J9xDp3hC+kjhjEsuIY8KMlmPavEq7nu4Kk61SNNdWkV/2bgZ5PEGosPmnljwfYbsVl+Po49O+OCMqhUv44mY+r56/oK9D+EelppHhi3tAoD+SjSHHJY5PP51yfx8gNveaXr0SjfY3EZdv9knv+OPzrxqb/ANvl6f5HuQqxr42pBbTTivu938kfSsX+qT/dFOrybTfEWrNb2/k6hL5RVdo9q9Zr62jXVW9kfGVqEqT1CiiitzEK8Z+If/I43/1T/wBAFezV4z8Q/wDkcb/6p/6AKiex04b4mYI615d4kXbrd4AMfvDXqFeZ+LV2+IL0AYG/j8qvDfEzLNP4a9T6H8HW0F54a0u0uokmt5rdI5Y3GQ6ngg+xFdL4N8DeFfB5mk0DSYLOSYASSDlio6Lk9h6Vx2k38mleAbfVIkR5LSw89Vf7pKqSAcduK818M/EDxZ4u1i9k1PUGS0SMbYIfkjUk9OOvHrXgZEnau/7xvXXM4R8j2P4p3mk3NgkC3Ub30L5VUOcA9QcdK+WPFPjHWvCnxZn1XRLpoJrYRxuufllTaGKsO45r2AdRXzj49n+0eMtVl/6eCv8A3yAP6V9dlMVUqy5lpY8zOm6OHiovW59lfD7x34e+LXg2+00P9mu5rV7e+tCcOgdSpZfUc9a8v+Inw88VWOjaVpd5Lea7LYK8Hh+TSrNllhl/5ZvPKBhVX6+9fPPh3W9U8PavDq2j3klpeQnKSIf0PqPavsz4IfF7S/HtklheFLPXok/ewE4EuOrJ/hV4zAul70NY/kcuCx6q+5PSX5noek2902gWttrHlz3X2dFuuMqz4+b9a8V+IXhfTNP194tKuQsbfM8PURH0r0/x54nTSLY2dqwa9kHH/TMep968mkd5JGkkYs7ElmJySa8eok9D3sNGS94wb7TWt9LvnMobNrIvA/2a9G/ZdsfBUfw9gvPC8ateN8moSSYM4lHUN6D07Vx2pLu065X1hcfoa8N+EvxA1D4d+Mv7Rt8y2UkhjvbbPEkeeo9x1Fc7nGlNNrQ6KsHUjZM+vPHXxAurPxPF4L8JadHqniWWLzmSdvLgt4/77t3+gqr4J1aT4meE79NY06Cx1jTbt7SVoW3xiRT1Ru6mqfxP8LWfxS8DW3ibwffeRrUcBk0+8hfYzKR80TEc4PI9jXVfB+zSy+H2mQL4ebQJBH++s2HKv/ESTycnnJrt0aPNTcWeYajZ3Gn3stpdRlJY2wR/WvIfi5/yMsP/AF7L/wChNX1R8UNNsJtM+3yTJBdR8Jn/AJaD+7Xzd8WNDMlpP4i+0qq2luAYSOX+bsfxrfBVYYerz1HZWOTPMNWx+B9nRjeV1p/w5xfhvxJrfhu9W90XUZ7SVTn5W+VvYjoRX1f4a1prrw9Ya/q0iKWgW5uXC4UAcscemBXxO2sJtP7lunrX134aT+0PhDbRKfL+06Q6AnnbuRhmvG4nx2Exao+xldqWuj2OPhzLMwwDqLEQaTWiunr8mekeB9O8L2OktN4ThsksLyQ3Ba1IKOzdTxWH8VtYMNpHpMLYeb5pcdl7D8a8x8FPqHhbTLe0s7590Q+Zl4Vvwq7qt/calfSXl026WQ846D2FejUkrtR2Pew1GdoyqKztqvM0/AzbfEUXOMowr1bSBFliT+87A+leR+D22+IrX3bFemKSpBBwR3rlcuWdzWsrmrrx1JdFvDoywtqPkt9mExwnmY+XPtmuV+HXjmTXJptB8RaedF8TWi5uLKT7si9PMiJ++h9q6S21ONdsdywUsdqt2P1pviHw/pWvxwDUIC7QSrLFJG5R1KsGADDnGRyOhrqjNSWhxSi1uYnjHwZDqW6804LBddWXosn+Bry+7t5rW5e3uI2jljO1lYcg17L4v12HQtMMmQ1w42wp6n1+leNXU811cSXE7l5ZGLMx7mona524dya12IqKKKg6Argvi8p2ae3bLCu9rh/i6v8AoFg/P+uYf+O1rQ+NGGK/hM85rpvhmf8Aiqox6wv/AErma6b4Z/8AI1x/9cX/AKV3VPgZ5dD+JH1Poq8/5EW8/wCwdN/6LavkC+j+VJB6YNfX95/yIt5/2Dpv/RbV8kzpvtce2a+b4c3r/wCL/M7cx3ieg/BFSNO1BuxlX+Veh1wXwVTGg3cmPvT4z+Fd7Xq1vjZ0YZfukFIyhlKt0IINLRWZsU9M+EPh/ULQXbX98hkYkqMYHNS3PwY8Ow28kp1K/wDlUntXceDJN2mun9x6ueIJNmlyerED9a8ypBRk9CI4Si/snjkHgfSdHvItQW4uZWtz5iq2MZHStb+17b+7J+VWdau7fM1u0mHKbeRWDDbec+yOVCcZrppe7BcprGjCDairI2INTgmlWNVfLHAyKu1zln5cVzHI0y4U5OK2o7+1kcIkmWPTitoSvuEl2LNFFFaEnL/FC6MHhZ7dTh7qRYfqCea7Tx5YrpvwE1KxQYEWkqpHv8uf1rg/Gq/bvFXh/Szyhm86Qf7IP/1q9K+Lf/JHte/7Bw/mtfP5s269L/Ev0PTxD5MDTp9+aT/JfkfEY6V6T8LtZWz0PXLWVwEn06VVBOMuBkfpmvNh0rotI3w+HZbmPqWkjz9Vr38Sk4r1POyV81SpS/mhL70rr8Uc8eSaz5l2SstaFVb1eVb8K6TyEdS2m3mqTaVYWqlmNqpPovJyTXpeiaXp3hbR2Z3Vdq7p5m6saqeDntbDw0L26KRBI1DSHrt2g4/WuC8Z+Jp9cujHEWjskPyJ/e9zUU/hRU/iDxp4mn1y68uItHZRn5E/ve5rnaKKsgKKKKACiiigAooooA9M0fiGyJ4GI/6V6d8R7601TxJoOjRXULweebichwVwPu5/I15hpf8Ax62v+4n9K6G0X7V4yupuq20YX8T/AJNeJV3PqMo92U6v8sW/nsvxZ9B+Ebq1uDcC2uIpQoXOxgcda5v4uLZXmk6lp01xCkr2wZUZwDuHK8fUUfB37+p/SP8A9mrO+I0ay+OEif7rpEp+hJrxaf8Av8vT/IwpVHSmpro7k/w4vDfeEdKmLb3Eaxuf9peDX0LXkX7Nkz2dr4k8MSfKdL1Nwieityf1r12vqsJT5Y3vucec2WLnFLS916PVBRRRXWeUFeM/EP8A5HG/+qf+gCvZq8Z+If8AyON/9U/9AFRPY6cN8TMEda8w8US+drt4/bfj9K9NdtqM3oCa8lvpPNup5P7zsf1rTDLVswzSXuRie+3P/JJLj/sDyf8Aos15b8KbcR6HPcd5Zv0HFepXP/JJLj/sDyf+izXA+A4fI8K2Yxgupc/jXz+SO0K3+I7mrzg/I3Gbapb0BNfMWuyedrd9L133Mjfmxr6auQ7W0qxjLlCFHvivD4Phf461CaWS20J5F3nLedGOp92r6/KatOm5uckttzxs9pVaqgoRb32RxNWNNvrzTb+G/sLiS2uoHDxSxthlYdxXa3Hwh8dW6hrjS441Jxkzr/SoB8L/ABVu2mO0X6zf/Wr2fruGenOvvPAWX4rf2b+49h8Laleav4estS1C4e4up4g0sj9Wbua0qzPCdhPpfhyxsLnZ50MQV9hyM1p18lVtzyttc+6opqnFS3sjE8d6mukeEtQvCcMIiiD1ZuB/WvmnJJyxyT1PrXt/x4kK+FLePdgNdDI9cA/414hXmYqV52N47Hrf7O3xck8B67Fous3Dnw9fSbX3HItnPRx6D1r688Q+KtN0qwWdJkuZJUDQojZ3A9Dn0r82NZ+7H+NfWXhtGi8O6bC5YmO1jX5jkgAdK2wlWVnExq0Iyakb2t6te6xdm5vJSx/hUfdUegFeWfHTWBa+HotKjbEl4+X/ANxf8T/KvRK8Q+PcjHxXbR/wraKR+LNU4+bjRdup04aC50jza7k8u2kf/ZOK+2Ph7/ySbSP+wZ/Q18R6kN1vt7E819u/D/8A5JRpP/YM/oa+WxC0h6nVX3OeorL1W9nt7kRxlcbc8iqn9qXfqn5V9i6iTscKizufBds1x4ggYcCHMh/CvSK4P4Rs1xbXl1LjeGCAgdq7ys5O7Oar8VjD8TXTRQSbf+WaE/jWP4T8aXWmf6Pfb7m17c/On09queL2xbXX0ArhanDPWUvMtQUo2Zo+IdWuNZ1J7y4OM8Ig6KvpWdRRXSaJJKyCiiigArjvizHu0K2f+5cZ/MYrsa5n4mx7/Ccr45SVD+bAVpSfvoyrq9OR5PXS/DUgeKos/wDPJ/6VzVdF8Ov+Rqg/3H/lXoVPhZ5NH+JE+i5jnwFdk8/8S6b/ANAavlFPuL9K+qwc/Dy5PX/iXT/+gNXykTiDP+z/AEr5vhz4q/8Ai/zO3MN4+h6d8Ho9nhZ27POxrs65f4WR+X4LtSRy7M3611FenU+NnTQVqcQoopVXcwX1IFQana+FLZrfSlZusp3fhUXiq4xHHbj13NWzbqEgjQcAIB+lct4ok3X0v+yuK82b5n6m9M4K8s7ye6lmMX32J60/TrK5iud8keBtI61s0V3KmkZuTOdGm3mP9V+tTWVjdR3UbvHhQck5rcooVNBzMWkoorQg5CQ/aPivCp5FrZ4Htnn+tek/Fv8A5I9rv/YOH81rzWL938WZN3HnWa7PwAFelfFv/kj2u/8AYOH81r5/NP4tH/F+qPTzHSNNf3F+v6nxGOldxo1nG/wxmvAzGQal5ZXsFMbHP5iuHHSu40S4WP4Y3EO7DNqQbHsI3/qRX0GK/hnm5D/v0Pn+TOIPU1FcjMYH+0KlPU/WmOpeWGNerSAfrW/Q8nqdL4turiOG004SEW4hWQoOhbpn9K52t/xwManCB0EA/wDQjWBUUfgRdX42FFFFaGYUUUUAFFFFABRRRQB6XpWPs9pnptTP6V6J8O9Bt9SbWb2SaVVN+8UZGMlV6E8e9ec6fxY25/6Zr/KvXvg583hWRzyzXUhY+pzXiVdz6fB6YOs/8K/N/od74B0mHS2vPJkkfzAmd+OMZ9PrVPxbotvd+I1vnllV1VMKMY4P0rd8NdZ/+A/1qtr/APyET/uCvFp/7/L0/wAjl6HLfDzxH/ZHxn8VeZbF/wC0FWcorYAYkcivoOvl60O344T7ed1hHu9uK+oa+owU5STTFnkEqlOS6wj+SQUUUV2nhhXjPxD/AORxv/qn/oAr2avGfiH/AMjjf/VP/QBUT2OnDfEznpl3QuvqpH6V5JcrtmlX0Yj9a9e68V5RrCeXqV0nTEhrTDPVnPmi0iz3i5/5JJcf9geT/wBFmuU0q3+y6Za23/PKJV/IV22nxLP8O4oW+7JpxU/Qqa5Kvm8mf8Vf3j1EtIvyCuo8DyfJcR98g1y9dD4IP+mTj1QV61b4GWtzR8Vt+6hT1YmuPkOXJ966jxbJ+/jX+6hP5/8A6q5Y9axwy1bNKnwoSiiiusxPN/j7/wAi9Y/9fB/lXi1eyftA/wDIG0z/AK7v/IV43XnYn+IaR2M7VgZJIo16nI/Ovr60UJaQoowBGoH5V8lwR+f4j06DjD3Ea8+7AV9boMIo9AK0wn2gnsha8Z+P9tt1qwu/+ekBT8if8a9mryf9oLbt0s5+b5+Pbinj1egy8M/3iPG73nYvrX3J4aiNl8M7KIDmLS84/wCAE18RW6CbWLKFsbXmjU592Ar7sgiH/CIiAH5fsRTI9NhFfNYqPuQfmb1n7x5Lc3S3EnmSQ/NjHDUsqwJBFIIiS4ORv96v/wBjRf8APZ/yFSSaZG8UcZlcBM4OOtfV8kjlujtfg46tpt6qptAlHfPau8rjvhZaLa6ZdKrlsy55HsK7GoascdR+8zkvGLYtZ+erAVxVdf4yb/RpPeQVyFGF+F+ptDYKKKK6SgooooAKxPHUfmeFL5cZwm78ua26o+IIvP0O9i/vQt/Kqi7SRNRXi0eH10Xw7/5GmH/rm/8AKudrf+H7bfE8B6/I/wDKvSqfCzxaXxo+h7Vt3w1nI6f2dcf+gvXynMdtoT/s19U6ed3wwlb1024P/jr18q3Cs9sI1+8+FH1NfN8O/FiP8X+Z24/7Hoe2eBoTb+D9LjIw32dSw9zWzUVlEsFnBCgwqRqoH4VLXot3dzuirRSClzjn0pKKQz0exkEtnDIP4kH8q47XpN93cN6vxXV6M2NHtnPaPJritQbJPqWJrzor94l5m8fhbKdFFFeiYBRRRQAUUUUAcd49WbTNV03xNBGXW1Pl3AH/ADzJrv8A4ialY6t8EdavNPuI54X00HKnOOV4PoaoSRxzRtFKiujDDKwyCKw/iV8N9L0rwTqmu6RfXlmkdr5stmHzFL0yPYc14maQj7Wk27a/5HqQqUMRQVOtLllFNJ2urdn10PltAWwFBJ9BXSWtndx+FLyV2Kww4Yj0ZmC4+vNZY1PYv7m1ijPrXRad9pn+GWuXLrvQXEKs2ehLDt+FezUc5WurK6OGjPC4OMnRnzzaaTtZK6131bscbU2lR+drthH2MwJ+lQ1oeFY/M8SwZ6IjN+Nbzdos8WCvJF/xz/yFIf8ArgP/AEI1gV03jGzurjUYngtppVEIBKISAcmsT+zNR/58Lr/v0aijJci1Lqp87KlFW/7M1H/nwuv+/Ro/szUf+fC6/wC/RrTmXcz5X2KlFW/7M1H/AJ8Lr/v0aP7M1H/nwuv+/Ro5l3DlfYqUVb/szUf+fC6/79Gj+zNR/wCfC6/79GjmXcOV9ipRVv8AszUf+fC6/wC/Ro/szUf+fC6/79GjmXcOV9jv9N5tLYf7CfyFdd4K1S+09tQ0yG7kiMdwz7RjkHvXJ6arCC1QqQ2EGD68V3WteC/EC341TTYFW5Xh4zIuJB+deNV3PpstlCUJ0Ju3MlZ9Lra/4o9N+FN9d3j6h9quHl2iPbu7Z3VQ8d6heW/jOO3junjgKxblyMcnmuW8EeMNS8MyXkepeFNVaSXaP3URI4z3/GqviqXxV421tpbPQbrSLaREjeW6GxgvcjPXr2ryYUprGObWlv8AI3WWVvttRXe6t+evyO2+GWm6Z4t+MnifWbdZF062iSCEo2ASPQ17/XD/AAs0Pwz4L8MppunalDKZm82WWVwHdj6j26V3FfVYeCjHzPDzXERr1/3d+WKSV+yVvxCiiitzzQrxn4h/8jjf/VP/AEAVpfE/4yWvgfxMdEl0GW9YRLJ5q3SoOR0wVNeReI/i5aatrNxqC6JLCJdvyG6U4woHXb7U5UpyWiNaFWEJPmZ1NzKILaWYjIjQtj6DNfN9zr+pX+r3l1cfaVeWVirBGxjsK9X/AOFlWnfSHI7g3C4P6V0lv8dLOC3jhTw1KFRQoC3qqB9BtrzcdRxPIo06bl6NKx1xxVLmT5tPS53Vldy2vwlW+CeZLDpDShSD8xCE4rhPDHiTTtejxbM8dyozJA6kMv8AiKVvjxAOV8LTE/8AYQUf+yVVPxqt5rkzyaHfR85CDUVK/wDoFeNgcLmWEcrUea/95I2+s4aWjnb5P7joqxYfH8Phnxytjexk6e8IWZwOUYnIb6Yrn5fibbSSvI2kMpdixC3AwCTnjjpXH+MdYt9e1JL2K3+zMIwjBpA27B69q+vwuHjKVq60aPFzbFVlQUsG7yTXzR9J6rcabqumf2vY39tNBHGWd1cEbBySfpXGz6lp0d3Bb/bIS1wpeH5hhwPQ/jXhNrcXFoZPst48HmKUfy5Cu5SMEHHUU/zoTp8NqYYlaOQuZlY7yD/D1xj8KunlVGEm1U09DhefY+UVH6tr6/1/wD3yivMvD3jqPS9NW1uLe4vHBP7x7gZx6citH/hZVr/0CZP/AAIX/CuaWHmm0tT3aWMhKClLR9uxlftAk/2fpa9vMc/oK8eZlUckCvSPiTraeLrS1hhi+xGB2Yszh92cccYx0rgpvD9wFyl1FI3oeK5pYCc5czKljYLSOpnWlw9tr9lqEUYlNtNHKE/vlWBx+le76F8WfDt8RHqCTabNnBEgyoP1ryTw5BrOga5Z6zp8lmLq0kEsRkw67h6gjBqW7sbjWNbvdU1qVBNdyGZzbFVG8nnjGAPpW1PCciskYvGSb3PpCwvLS/tkurK4iuIH+7JG2VNfNnxq8Xz3HxLvNPn3ixsQsMa+jbQWb8SfyArvPAXiS18K6VJp6wT3cbSF1LTKNvt0rj/Hel6X4m8S6lr3k+RPdRRCFC4IjlTALNj7wIAGKJ4R1IuMlozR4xJKUXqcnIjz2/2q3SVgo3BlQ9ufSvt7wXdPP8LdNu7mQlm0zc7MMdFPJ/KvN9H+OH9naPZ2H/CLbzbQJEWiv1jQlQBkLsOBx61Yi+PStIPN8IyIvdhqaN/7JXylfLcfNpKk7J90dksfRnu/zN0KxAO1sfSkrn5vjRZSXXn/ANjX68g7Bfrt/wDQax7n4n2s1xJN/Y7pvYttFwuBnt0r6DC/XKjarUeX5p3Mp4jDpLlnf5M9z+Hf/IKnP/TX+gq54n8XeF/DNv5+v69YaenYSzAFvYDvXyf4+8ZeLtaEdt4c8QXGgWO397FFJ8zt671wRxivI9U8Ga1c3huJNSivppOZJppDvJ9yck11fVJN3ZxzxEXLQ+jfHn7RPgk3YtNMhvtRjEuZJ40wqr6jPWr3hb4h+EfEZSPT9XhW4bpBKdjk+gB6186eH9K8TaJpmr6faro0kWq24gnaZVd0UMGyhIypyOopdH8EQwLBc3F/NDeROHBidSqsDkEZFXDC8kbRQRxbR9aUVwMXxJt1jVW0uRmAAJ+0Lyfyp3/CyrX/AKBMn/gQv+FL2FTsdP1ql3O8org/+FlWv/QJk/8AAhf8KP8AhZVr/wBAmT/wIX/Cj2FTsH1ql3O8rP8AEOp6bpGkXF7qt1HbWqqQzOeuewHc1yf/AAsq1/6BMn/gQv8AhXnnjrUNY13x1pHijStShsDpLLJbW1xH58YkH8RU/KfypqhPsTPF00tGZbeJvDrMWXWLRQTkBpMEfUdq6b4d6lZXXiSA2k63HyP/AKsEj7p/wry/xB4H1DXPEV7rt/rdl9rvbl7mYRWmxN7NuOFBwBk9K+m/DvxotdL0Cw0yTw+zta26Qkw3QRDtUDIXacDjpmjF1sVCK9lS57+aX5nDSjS5rylY9D0uRf8AhU7zN8q/2VOxyOg2Oa+UrDWtF/tDT2mv41iWeNnbBOAD9K95/wCF7WWc/wDCOT5/6/V/+JqpP8arWW6E/wDZGoJyDsXUF28f8BrwMDDMsG6jWHvzu/xJWO2bw9Zx5qlreTNq1mhuLeOe3lSWJ1BR0OQRUleTeFPGH9jy6vJc2cUi3+oSXcUNs3lR26uc7FU54rd/4WVa/wDQJk/8CF/wr3lQqNK6KWKpdzvKivZvItJZv7ikj61xH/CyrX/oEyf+BC/4VHP8RrSaB4m0qTDqV/4+F/wqZ0KvK+VamlLFUFOPM9L6+h6v4B8X2V7YR6fqEyQXaDaNxwsg9ven+IbSGzmRGnTZMSYst1PpXhC+IbMj5kce2QasN4pt5IUhlmuGijOURjlV+gzxXzlOOY00lKi211Pq69PJq1RzpYlRT6f5Xseow3EMzOscisyHaw7g1JXld74stPtxuLG3aFT/AArJjH4nJrWT4k2yoqnS5CQMZ+0Dn9K9rCLFVE/a07fr8t0eDj5YGjJewrc3yenz2fyO+org/wDhZVr/ANAmT/wIX/Cj/hZVr/0CZP8AwIX/AArr9hU7Hn/WqXc7yiuD/wCFlWv/AECZP/Ahf8KVPiZaq6t/ZMhwc4+0D/Cj2FTsH1ql/Md6FbI+VvyrX+LrBfg5rzNwBpwzx7rXJL8drIKB/wAI5P8Aher/APE0o+O1kDkeHJ8/9fq//E187jMNmGJlCXsLcrv8SL+s0LNc35nyV9qgC5LkDH9xv8K6/SNasE+E2tWv2iMmW9gIbPGBk9fwr3e5+M9tI8si6PeMWBxHLfK0RyMYZdvK+orwm48I+EprGe2aPUv9JuDcyr9qUIJPmxtUKMAbiMc17OHli6yftqPLa1tU7nJL2MPgnfTs0cV/amm/8/1v/wB91v8Aw7urG78RSQxXtu07x4iTeBu9cVgv8L2LnbrkIXPAMJ4H50R/DGaORZE16EMpBBEJ4P8A31XbOhKUWjCFWMZJntP9kah/zw/8eo/sjUP+eH60+w8TLb2NvBNCZpI4lR5PNA3kDBP41N/wlkP/AD5t/wB/R/hXmfVMT/L+X+Z6H1ih/MVv7I1D/nh+tH9kah/zw/WrP/CWQ/8APm3/AH9H+FH/AAlkP/Pm3/f0f4UfVMT/AC/l/mH1ih/MVv7I1D/nh+tH9kah/wA8P1qz/wAJZD/z5t/39H+FH/CWQ/8APm3/AH9H+FH1TE/y/l/mH1ih/MVv7I1D/nh+tH9kah/zw/WrP/CWQ/8APm3/AH9H+FH/AAlkP/Pm3/f0f4UfVMT/AC/l/mH1ih/MVv7I1D/nh+tH9kah/wA8P1qz/wAJZD/z5t/39H+FH/CWQ/8APm3/AH9H+FH1TE/y/l/mH1ih/MQwaTfrPGzQ4AdSee2a9p/t7S2YlZ2bnshNeOf8JZD/AM+bf9/R/hXUeDPita+H7WeB9Fe481w25blVI4xg8HI/+vWNbC4tRvGnd+qKjiqC+0eueDb62vWufIZm2Bc5Ujrmna8D/aJwD9wdq4D/AIXtY/8AQuT/APgav/xNV7343WVzEI/7Bu4sHOUvlB/9BryVl+Yxrut7HfpzL/M0ji6DdnL8GdzF/rV/3hXs9fNUHxQ8MXFvZh479LksPMHkhsEnpuBG764r6VHSvey+NVQbqQcW+jOXF1ITa5HcKKKK9A4zPv8ARNFv5/tF9pGn3U2MeZNbI7Y9MkZqD/hF/DP/AELukf8AgFH/AIV5boHjfxRrPja+09vFSWUUGtXNmlmvgu8nj8qKZkGb1X8kEqoJJ4BOCK62D4n6Y903n6JrVrYSRzyWOoyxx+RfeT98R7XLqeOPMVN3bNF7JMco2k49UdL/AMIv4Z/6F3SP/AKP/Cj/AIRfwz/0Lukf+AUf+FZukeNrG88Cv4yvtPvtH0wQC5U3pi3PCVDLJhHYAHOPmIPHIA5rC8LfGDw34isb26sbedjYtE1zFDeWl00cDtjz2MEzqEHVgTuA52027Nxe6/r+vn2J0tc6/wD4Rfwz/wBC7pH/AIBR/wCFH/CL+Gf+hd0j/wAAo/8ACuU1/wCK+k6ToMOuNouqT2NxcNHbzmW1t4pYwOJvNnmjjVGPChmDk9FqtffGXw/BZRX9po+t6jZnTItWnntoottvaydJG3SAtjuqbm44BFJNvb+tL/kO39f1/TO0/wCEX8M/9C7pH/gFH/hR/wAIv4Z/6F3SP/AKP/CuWl+KVjDDKtz4Z8QwXyajFYJYtFCZpGlTfG42yFAjD1YEdwKz7n4qRprul/aLWXR7BYNROsW1+ifaLWW3+zlV3I7JgrMDkFgQy8jBo5vP+rX/AA69tLgo32/r+radzuf+EX8M/wDQu6R/4BR/4Uf8Iv4Z/wChd0j/AMAo/wDCsD4afEzw/wCPZry30pliubVVkaE3trcM0bZ2vm3lkAHHRiGHcV0Wra7Z6XqumafdrKp1GR44ZcDy1ZI2chjnIyqtjjtTba3ErPYZ/wAIv4Z/6F3SP/AKP/Cj/hF/DP8A0Lukf+AUf+FcR4k+NPh3QtN03UrrS9U+w6hD9oiuJHtrdPLzwR58qeYxHzbI9z46qKZF8R5IfGGoWOpXUcOn2+pPBA0dpu3RLaxTfOxcFTmQ4IU54GB1pXet+n+aX5sLbf10b/T8juv+EX8M/wDQu6R/4BR/4Uf8Iv4Z/wChd0j/AMAo/wDCuIsvifdTatezXfhjW9P0220dNQjgntke5uFZ2CunlyMApA5D7WXBLBRzVS2+Mcet22lTeG9Curp5tcj029hW7s5zEjxO+8SRTtGfu9A5I2nI5GRNv+vO35jaWv8AXTm/I9C/4Rfwz/0Lukf+AUf+FH/CL+Gf+hd0j/wCj/wrjLH4oRjSIZYdH1vxDdss888djawxPBBG+0uyvNg4JACqzO3ZaluPi5oo1OW3stF1vULG3+ytd6lBHELe3S4AKOwaQORg8hVYj0oi+ZJr+v6/R9hSSi2n0/r/AC+9dzrv+EX8M/8AQu6R/wCAUf8AhR/wi/hn/oXdI/8AAKP/AAql418Ww+GWsoF0jU9Yvb1n8m009IzIVQbnb53UYA7ZyewNcrrvxMu9F8d6jp8uhajqOj2+l2d6ZLSFFkthLJIpeXzZFJHyr8qgsMHIp38/6/rr5PsNry/rY7f/AIRfwz/0Lukf+AUf+FH/AAi/hn/oXdI/8Ao/8K5C7+Mng+28br4Xa4TzPOS3kuWvbVFjldQyoYWlE7ZDL8yxlfm68HDdY+JUk3gfxPrej6PqFn/ZljNc2N5fwr9mu9m4Fl2uTgMvKvsbHIGOaNbX/r+uvprsKy/rzOx/4Rfwz/0Lukf+AUf+FH/CL+Gf+hd0j/wCj/wrjdR+L2h6f4ftNXayu722vJY7ezuYZraGC9lKFn8qSaVE2rg/MxUMeELGtbxz4wvNK+E1/wCMdL0m7N1FYfaYrS5jEciHGcSKzDGO+D9M03dFQjzuMV1Nz/hF/DP/AELukf8AgFH/AIUf8Iv4Z/6F3SP/AACj/wAK4Gx+Kd/beKdbsta8N6mmnWdzZxGeJISLATW0UhE5807jvdh+6DgDH1N+9+LejweMLnwp/Zd+moKJVtjJNbKbiRELYWEy+eFO1gHaNUOPvYIJlysr/wBd/wBRJJ/h+Ox1/wDwi/hn/oXdI/8AAKP/AAo/4Rfwz/0Lukf+AUf+FZHg3xZeaj8NYvFWr6PfW0/kySyWkcaySttJwEWNmBzjjn64qL4Z/EbRvHp1CPTbeW2nsGQTxPdW0+AwOPmt5ZEB4OVJDDuKp3UnHsSmnFS6M3P+EX8M/wDQu6R/4BR/4Uf8Iv4Z/wChd0j/AMAo/wDCubtPidps+r/ZX0PWrew/tGTTTqkscQthcoxTZ/rPM+ZhgNs288kVBafFjR3ie6vtF1vTbGSykvtPu7mKLy9QgQZLxBHZl+Uq2JQhww464m+l+n9P8tfTXYvl1sdX/wAIv4Z/6F3SP/AKP/Cj/hF/DP8A0Lukf+AUf+FcDL8WLrUNK8PanoXhfU3h1LW47Bw8trKHiaN2LxyxztE/K/wucbGBAOAeh034i6ZeWmq6hJpOsWmm2CM8V7NApivQrmNvK2sTkONu1wpOQQCOabvG9+n9f18+zFbRPv8A5tfobv8Awi/hn/oXdI/8Ao/8KP8AhF/DP/Qu6R/4BR/4Vy6/FCzSC5jvfDPiCx1WMw/Z9Kljha4uxKcRmIpK0Zyeu5xt6ttrF/4XJaaTpd7feJbCWyuDqstjaafNPbW0w2Alg8ksywZABORJg/w5pc2tv66f569uoW/r73+nz6HoX/CL+Gf+hd0j/wAAo/8ACj/hF/DP/Qu6R/4BR/4Vz+reOre7+EV9438NSwzCOzeaHcVlVXXhlJRirYII+ViDjgkc1TsfihB/Yd/d6j4a160vbC2guXtXjh33EUudkqESFEQlW/1jIVx8wHFDbTkn0t+N/wDIEk0n3v8Ahb/M6z/hF/DP/Qu6R/4BR/4Uf8Iv4Z/6F3SP/AKP/CuEX44eF5PC0GuW9ldTtNqR0xbWO+scmcIHwJvtH2dvlK4CykknAGQQOi8ceK7nS/hhdeK9OtZoJo4o5Vgu7dg65dVKsnXOCenXjGaJNxTb6f5X/IStdLubP/CL+Gf+hd0j/wAAo/8ACj/hF/DP/Qu6R/4BR/4Vx938XNH0vRry68QaTqWi3tq0KfYb6W1ieYyjKFZDN5IB/wBqRcd8VVvPjl4Nt/DdjrCyLNJeTSQraDUrFWV4/vgzPOIDj/ZkOe2aObz/AK/rft1D+v6/Tv0O6/4Rfwz/ANC7pH/gFH/hR/wi/hn/AKF3SP8AwCj/AMK4y4+MWiN5LaRous65C2nR6lNNYfZ2jggd2TLM0qhiGRgQm7pxmuk8b+OND8JeFYvEWozA21w0aWy+bHCZncblUPKyIvAJy7KOOucCm20NK9rdf+H/ACL/APwi/hn/AKF3SP8AwCj/AMKP+EX8M/8AQu6R/wCAUf8AhXGWfxj0PUtO0+bQ9H1TWr2+mmt1sdPmtJnSSJQzq0om8n7rBsiQjtnPFQQ/Fu2bWFvpdNu7fwt/wj76s9/KI18sq4BVh5m4Y5XhTyRzjJo11/ro3+SE7JX/AK3sd1/wi/hn/oXdI/8AAKP/AAo/4Rfwz/0Lukf+AUf+FcNpnxt8M6hpMt3a2V3cXSXkFoLC1vLK6mZpmCxndDO8YBJA5cEdxU158Z/Clj4si8OX6tZ3W6OK6M9/ZobSZ1DCJ4zP5rEAjLRo65/iNPW9v6/rb70txNpK52f/AAi/hn/oXdI/8Ao/8KP+EX8M/wDQu6R/4BR/4VyUPxEudS8XaRpunaHqNvpd5dzwDULqKPyrsRZDeVtcuuGBGXRdw5XI5qXxX8RLXwz4l1Kyu4NQvhbwWXlWlpaIXaS4klRMO0g3ZKAYIUL13EE4lNu3mVb4vLf8jqP+EX8M/wDQu6R/4BR/4Uf8Iv4Z/wChd0j/AMAo/wDCqnhPxVH4i0m+u4tI1Gxu7CeS3uLC68oTLKgztyrtGc5GCHx715n4b+L/AIluf7BuLzwjqF0l9oEmoz2dkkHnbllC+YrNMEEe3JAJ3e2eKd99f6s3+hSg2rpHq/8Awi/hn/oXdI/8Ao/8KP8AhF/DP/Qu6R/4BR/4VxGu/HDwTpGq2llNch45oILiWdry1h+zpMoZCYpZUlfKsp/do/XHXIr01WDKGUggjII703zIjTT7zJ/4Rfwz/wBC7pH/AIBR/wCFH/CL+Gf+hd0j/wAAo/8ACteildjsZH/CL+Gf+hd0j/wCj/wo/wCEX8M/9C7pH/gFH/hWvRRdhYyP+EX8M/8AQu6R/wCAUf8AhR/wi/hn/oXdI/8AAKP/AArXoouwsZH/AAi/hn/oXdI/8Ao/8KP+EX8M/wDQu6R/4BR/4Vr0UXYWMj/hF/DP/Qu6R/4BR/4Uf8Iv4Z/6F3SP/AKP/Cteii7Cxkf8Iv4Z/wChd0j/AMAo/wDCj/hF/DP/AELukf8AgFH/AIVr0UXYWMj/AIRfwz/0Lukf+AUf+FH/AAi/hn/oXdI/8Ao/8K16KLsLGR/wi/hn/oXdI/8AAKP/AAo/4Rfwz/0Lukf+AUf+Fa9FF2FjI/4Rfwz/ANC7pH/gFH/hR/wi/hn/AKF3SP8AwCj/AMK16KLsLHFXfwo+Ht1fyX03hm28+R/MYpLIg3eyqwA+gFdrRRQ22FgooopAYvhXw/FoNhfWi3L3KXl/dXrFlA2meVpCox2G7GfauSh+GE5lNtd+Kbu40e2iuI9MsPs6r9lMwIJZwcy7QTtyBit7T/H3h281TVLFZrmEaYrtNcz27R27hGKuY5CNr7WBBweCKzIvix4TOnXt7cLq1j9kWORoLvTpYppI5CRHJGjDLoxBAYcEjFTpJ3/r+uxTbu2+/wDwWbKeErNvh3B4LuLiWW2i0+Oy88fK52KAH9AcqDWFpfw81GPR7rTNW8VyX8V2EgnWLT47dXthndEVU/ecHDP1I4wKtN8TvDUc9zDcRatbNaQLNdGfT5EFvux5aOSPldywCqeWOQKQfE/w7/YU2qPaa3HJFOtudOfTZRfM7Asu2DG8gqrtnHRGPY1Uvebk+u/3/wCb/ESvZW/rT+n+JmXfwtljj0yLRvEX2CHS3kjs4ZdPS5jhtnH+qVWOMjoH6gZFNs/hFZ23hu70NdcumjuNAj0USGFdyogwJOvLe1bFj49t7/4g6f4bsrG8ms77SW1CO9W2fyx8ygKW6DgnOe+B3rK1f4lSab8QdU0m6sZodG0q2jM0zWE7TXVxL/q4rcr8rkkgbfvE9Kd3Bru7/hdf5/P1FH+aPS36W/Qi+I/gXXL7ULXUPDWoPDeTazZXM0pRCLWKGMoXCsRv7fL71I3wmtbuSO51jXLm+vXS8+3TrCsX2iS4EC7woJCbBbx4AyK0U+Kfhh7S1kWHWDdXNzJaiw/s6X7XHKgBKPDjcp2srDI5Ug9KrP8AGDwl9pa3ht9duX3TxReRpUzieaFykkMZA+eQYJ2DnaM9KVkk13v+K1+//LyGm1Zrpp+f/B+5ljw74R8ReHtOuDH4lGpXztBFC39nxQRxwrIN4KKcM5TcC5OemBxitb4i+E4fGfhabRZr640+RyrRXdt/rIWB6r9RkfQmsjUPiv4Ts7Wxul/tS7hu7f7Sz2thJKLaLdtLz4H7oAhgd391vSr3hPxmuveM/EGgx6deRRaUITHdPbusc4dScq54PbGOoz6U2nLR9P0f+f4kqSja3X9V/kYnjT4Wf29eM1lr39mWc+nDT7mD7CkzGIcDynY/uj9B15p0nwo0+41aW+u9UnmSa5aeSHylAO63jhxnt/qw31Natv8AEjw3P4lk0JF1ISJJLCLprJxaySRgl0WXG1mGDwKp6H8WvB+rWlxeRyajaWkViL9Li8sZII7iA/xxMwxJ+HqKjRp9n/nf89SkndW6f5cv/AMtvhTqN5ZX0OteNrzUZZbCKwtpGs0QQxxSb0LKG/eNn7xON1WNP+GN7bYupPFO/Uv7Qtr4zx6bHHHuiWRCoiBwAySEdeCM1reBfHC+K/EOq2MGm3tjb2Vtbyhb61kt7jdIZMho3AIGEUj1zV4+OfDq2NteS3UkUU9xPB+8iZTGYQ5kZwfuKAh+Y8cr/eFU9Pz/ABvf79+/UmNpK69Pwtb7jmF+Ft7Y2MMfh/xhdaVdeVNb3VwLRJfOhlfcVCkgIwPRxkjnirlt8L9NtLPWrKz1G4it9TjtI1QoGMKwIFGD/FnGTmpovip4XbSbvUriPVrOK2aEeXdafJHJMssixo8aEZdCzqNw4+YVz3iz4r31nFPFoemTT30l7Y2kEFxpV1utTcANm4VeQcZwF74B5pwi0uSPkvxVvxf59xys+acvO/4X/T8Ds/HPha616XT77Stck0TVLBnEN0tuswCSAK6lGIGSBwex5qnfeAYbq81a5fV7otqWl22nOXUMyiFmYSE/xM2/mqui/EvSJINHt9QmkuL3UB80tjYzG3hzIUDSFhmNSykAt1xV2b4j+HYvFLeHmj1MzCc2wuRYyG1efZu8pZcbS+ARt9QR2qXaUXHo7/8AB/P8QTd0+3/DmfbfDeaz8UNqNj4ikt9MnnS5urH7FG0kkyoqZWc/MiEImUA7Hnmmw/DW4Hh7XPDk3iq8l0e/tJbSytfs6gWSSksxJz+9bJ4JxgZFU/CvxYs9TtYL7VIn0mEwX0skFzZyxysILhIlKE8HO9RjqXOB0NaQ+LHhVdMmvLiPWbWaG4it2sLjTZY7zfKGMWISNxD7WCnHJGBVttf158v/AAF9yFZK6/rTX9bsj1f4bNNo11pWk67/AGfazSLILaSxS4t8lCkoaJiAyuDnGRtOCKvxeALKL4Uy+AI72VLeWya2NyE5UsOWVScAZPC5wOla/hTxRpXiTRH1awa4ihikeKeO6haGWB0+8kiNypHcGuS1n4r6Yvgi+8SaPbXLLZzwpJHfWskBaOQjEiggFlKnKkcGpbtdPy/4BUXZqS6bfmW/+FdGay1yO+12We51ma1muZltlQB4IYoyVUHADeVnHbdjtVG3+FckfiRNQk8SPJYw6nLqENr9hQSbpVkDq82dzj95xnoFArVj+J3hx9Fn1HyNYWaC6+yPpz6dIt95xUOFEBG8kqysOOhBp9z8TPDEFrpdwx1FxqJYKkdlI724V1RjOoGYgGZVJbHJo3dv61S/RInRf12uv1ZJbeC5B8N7jwbea1JcCSOSNLtYBGyKWLKCoOGx0PPzDPrUfw98E3PhjUb/AFK91tdTu72KKKTy7FLWNRGCF2ohIHBOfWmaX49t5PEesaPfRBZLTUVtLZLZWkkkQxqzSuB91V3ct0AxV3wb480PxXez2mmR6jG8aGWNrqzeFLiMNtLxMww65wMj1ojLmfMt/wDgf5MGlFcv9b/5o5Dwj8PPEEt9eN4m1h10ga/dajbaSsKHdmYvC5mVs46Nsx7GtLRfhldWc8IvPF17eWum2T2WiRLbpE9jGwC5ZwSZW2qgywHT3rN1/wCLz6Xr2oaedBv/ACrHWrfTWdrOXM6yAZMWB+8fJ+VR1HNdBP8AFLwzHoNnqyQ6xcG7mmhSyg06V7tXhYrKGhA3LsI5yOKafu3W3+aX6PfpsPmbm+//AAX/AJPQw9I+EMlhG10PEcY1dtWg1Jrq30yOGJjErrtMAbblhI+WBB5HpWvp3w6kt7HVdIufEl7caLco62NkIlT7GXk80tvBzIwflScYHFT+H/iDaa543i0GwsL97SfSI9RjvDauIwWd1KM3RWG3GDzkMO1YXiP4svpWqaraf2HfeXpur2tg8j2kmJllQsTER9984AUdc1MpbRfXT/23/gA3o/LX/wBu/Utj4Z6lOk99qfjK6u9fUw/YNRWzSNbMRNlQIgdrbujZPzDjioZPhXetZJcf8JdK+vpfyXw1GbT45I90ilZEMBO3aVJwM/L1rY/4Wf4bbQo9Uih1iaR7l7X+z49Pka9WVBl1MGN42ggnjgGtm68W6HbeC5vF8t0w0iG2N1JKEJZUAycqOcj0oslf+t7P8dL9+obtL+u34dO3Qq3XhH7V8Pbjwnc6rPK1zbtFLeGNQxZjlmCDgDPRegGBWT4o+G6az9plh1qS1uJLSzt4ma3WWNGt2kZWZCQHB8w5U8cCp4vif4Zawv7qVNVtpLN0T7LPYSR3FwX/ANWYYyN0oc8KVzkg1DN8V/C0elQ3vk6zJPJNLC2nppsrXkLRgGTzIcbkCqyMSR0dT3p2u2+9v+B+YL4Uumv/AAfyM7/hVt6vh7UtPj8Uo11qV8by6lm0qKS3kLQrEyG3J27cIpHOQc+tbKfD2wi+Fcfw/t7+6htEhSIXC8yDDh8jPTkcen4VRHxS0tPEOr2k9jqI06x02zvYrpLKRhOZ2ZQi8fMxOwKo5J3j+GtK7+I2g2+g2GrLbaxdNflhBY22nSyXny/fzABvG3vkcZHrRN6NS2dvw0X3At1/XmYtx8L7q9tLi41PxVNd6800UttqJskVIBF9xfIyVYEZDZPze1PvvhnfT2GmyxeK2j1yyeRjfSabFJDIsn3k+zn5VUfw88e9TeJ/ix4b03QI9S043eqNcafJfQfZbSSZI41H+smKj90gPBZsY5q2PiVoUF5ZWF4l4biWKJrmeC1eS1tGkUMFllHyxnBB+bsQaIx1aS1/V6fpr36hJ2Sb/q1vyvp26EcHw6ijuL64k1q6mlvNGh0uRnjXPySSOZOO5Mp+XoABV/xZ4Mj1zwrp2kR6g1pdaY8U1leGBZfLljQoGaNvlYFWYFT61W+Ivjg+ENY0G3k0+4vbfUmnV0tYHmuMoqkCONOWJyePamXfxR8LQabY30X9pXiXaNIY7WyeWS2RWKO0ygZjCsrAluhVvSle935pfdqvzY7NNen4bfpYXQfAc1jf6RqV/r02oXtg9w7uLZIY5DKoXCovEagKMAZ5J9ayY/hLbrpttpba9cmyTRpdKnRYFDyh33rIGz8jKwB4yDitDUfiZoel6hcx3lw91GZ7eCzisLOWaaSSWKSRVwMh8rE2Nvpg9RUx+J/hn+zdOvIo9Wna+Z1FtFp8j3EATiRpowN0aqcBi2MZFNytf+ulvyYk9Ld9fuf+aKFv8Nb2azt49a8UvfT2+p2t8jw6fHbRgQOHCeWpxkkctnNWLr4dzN4vudXs/EMlrp17cC5vLD7HG7vIFCnZMfmjUhRlQOueea6FPFeiN4Oi8WfaiNKlt1uI5GQhmRhlcL1yfTrWDN8VPDEGirqVxBrMDtdrZLYyadKLszMMovk43fMORxzTbs7Pdfrb/JfNCsnG3T/h/wDNkWjfDu90/wARWV4/iq6uNJ024mnsNOa2UeT5pJZWkzlwCx25AwOKn8SfDy31rxTPrz6pNC8xscxLECB9llkkHP8AteYQfTFUk+K2l3HiHw/Z2tjqIsdUt72S4uJrKSM2TWzIGWYEfu8Zbdu6fL/eFW7b4qeFZbC+vpRqlpBaRpKGubCSP7REzqgkhBH7xNzp8y8fMvrQrq0u2v3dfwKcbpx6S0f37fedD4d0GPRp9WlS5eb+0r17tgygeWWAG0eo4rlfCXwyGhPaNLr0179j0mXSYc2yx4haTepODyyjAz361cl+J/h2G5tLea11qNpkV5y+myAWSscKbg4/cg8kbscAmq2tfE7T4fElpoWlWt3dSvqsOnzXTWsgtQzOFdEmxtaRecrnjHNLlv7nfT9P1/EPauKcr+b/ADKSfCiW0urZtJ8UTWNsbW2t9QQWMcktyYI1jV0kbmFiiKDtz0r00DAA9K5XxX4y0/w3rHk6ldRx2yWD3kiLBI8rBTj5SPlP+71NaPhHxJYeJ9OkvLGG+tzFKYZre9tmgmicAHDIwBGQQR6gg0+dzu99/wA7fmTZRtHtZfh/kbNFFFIYUUUUAFFFFABRRRQAUUUUAFFFFABRRRQAUUUUAFFFFABRRRQAUUUUAef2fgXVxb63oN5rlu3hm+Fwbe3htttyrzOzsZJCSGClvlCqvHXNZd78N/FGuRTTeJPEmmy3ix29va/Y7FooliikLlnDOxaRs4JBCjAwvWs2D4wa42sWMD+ENReKXVtUsWt4rdGuJ1tidhi/e7c8YbcQMg445re1j4zeE9NtdMmaK9me+tVu3hD28UlpEWK7pRLKnRlcEIXOUPHTIlZxl10t+Nv1+W46kPipvz/yf4pfMseJ/hwmvW3i63ur6Ixa+1s8aPbh1jaHBAdWyHUkDIwOCR71i6P8K9T0rTFu9NPg3Sdet75Lu0Gl6CLWwBWKSL95GjCSQlJpOsnB24A5z3fiHxXp2k+GoNdjhutUiu/LFlBYqry3RcZURhmUElcnkjgGsvV/iJp9jp+nT22ha/ql5fwyXEenWdqv2qOKMgSO6yOoAViqn5iSWGAetJLlulp0f5/pr5Aru3z/AB0JLHw1rkHjHSdfudZtbwwaXJY6h5lrtknZmVw6bSFTlehB4/OqfirwLearqeo6rZapDbXkk1pdWXmQF0jmt8FRIAQWQkcgFTjoRUF58XfDUMNxdW9lq99ZW2m/2lcXdtAhihgKM4LbnBz8pGADzjtzUWsfGLw7o72sWp6bqlpPMnmzQzvbRyWsWcCSQNMMqeo2bjjsOlOW8W9LN29df+D/AEhLT+vT/gf0xND+HusR+JbPxPrWtWdzqpvpry+FtatHAxaGOFEiUsWUBIlzuLEkmrfh3wDcaVHpatqkUv2HVL6/bEJG8XEjuF68Fd+M98dqvr4906fxFc6LY6bqt35ERb7dFArWrSeWsgi37s7yrqeQBz1qHwl45N/8Mz4z1zS73TEiWWSaB4l3hEcjIVXbPA9eoPFJ2s77af1+C+WvUG+a0d7/APB/zf5dDiPEPwX1PU9Li0ttU0G+tRZzQBdU0xrn7JI0kjia2UuFjkPmKGYgnCDBFegeEvDOo6J4m1O/kv7WexvbW2jEQhZZVliUqW3bsFSD0xketZtp8U9Gksbq4utG16wmijhkt7S5tkE16szbYzCFcg7mwPmKkZGcVBefFzQrPSUurrR9bhv2vfsJ0mVII7pZdpcA7pRHyqkghznHGTxV8zV/63ev479upMkpNX/rT/JfMxYPhLqR8c/8JDdahoczRXk1xDeHTmfUZUkyPKluGc5RVbCqgVRgDGOKvn4VyyeEtE0KbWVB0zQl0vzo4eWkVVAlAJIxlfunP1qaT4pRw+IriOfQtVj0WLQk1UXLWwVyWPEe0uCG/h2lfvd8c1q3PxEsodDsr7/hH/EEl/eTSQQ6OttGL0vGcSfKzhML1zvxgjBNTbkVv6urx/z/ADKvztp/19r+vmu5J4G8PeJLDXdT17xRq2m319f28EBSwtHgijERfoHdjzvzyeue2AMu8+GEF74j8SX1xqkn9n6xZSwRWqxjNtLMqLPICcg7hFDgEYG1uu41HrXxZ0yPQBeaJo+saneNZXFzJBFbKWsfKLIftAZ12gSI6/KWyUbGRzUUPxi8P2i6Laavn7beWdtPeSwSwpDaNMoKhlklEmCTxtV/em1f8vvv/kCXIvx/r+tvJmPovwamtdGuLNh4Q02Yy2flyaLoCWnmJBcxzEzMCXd2EQHDBcknb0x0958P7ifxVqWtDVIlS81TTr4ReScqLUAFc55LY69veu9VlZQykFSMgjuKWmpNP+u6f5pE2Ti49GeZeH/h54i8O3WnTaL4isof3X2fUmlsi7vCJWkHk/NhH+bBLBh7Cqd38KdQvPiJB4lur7RJktdVGoQXUmns+pBNrD7MZ2chYhu4VFUcDOTkn1mipj7trdCraNdzyMfCTUriJYb/AF20KW0N5HaGC1ZWHm3cV1EXyxB2vFhsY3A8Y61fg+HviK/1WLXfEmv6dPqi31pMVsrNordYYA+FVWdm3sZDkliOBgDmvTaKd3p5a/O97/f/AJbA9VJd9/mrfojmfDfhX+zdP1+yuroXEer6hc3R2JtKJN/D1OSPWueXwL4nu/Br+HdY8R2EyQy24sWgsigjiiI+/liWdsckEL6AV6PRServ6fhsEnzO78/x3PLvHHwrbxDearqHnaNdT3GqRahbW2q6cLq0+W2igZJYyfmz5W4FSpGak0z4d65ocGlS+GtU0DSb2JJIb1bfR0itvKeRXIgijKhGGCAX35B5ycGvTaKSVndf1pb8tAm+fc8+svh3JYeM9S8WWOowQ6nfXqySSi2GZbXywjQSc/NyN6njDAcYyDX+Gvw5vvCniy/1iS+02K1niMa2elWz2kMzFgfOmhDmEy4GNyImcnOa9Jopx93YJe9ueeX/AIA1S68ZTasNWs1sH1a11NIfszecGiUKylt2CDjj5ePes3xT8L9S1O0SCG/0W8hOp3l5NZavYvc2cqzyFl3RB1DSJk7WbIB5AFeq0UraW/rZL8kgj7rbX9b/AOb+88/8BeA9R8KanpskWpWE1nb6X/Z80YtCjHbNJJGyYbaoAkIIwegxjpSav4D1O+8SXV8urWcdhNqlrqSxG3Yyh4lZWUtuwQQVxxkc9a9BooaTak+jv873/MVvdcejVvla35Hkvin4RSarJPeh/D2o3X9sXF/Db61pQvLPZMiqUeMsDuG0EMpH5ZFanjDwrfad8BNY8MaJbQXGoDSpYoIrGzjt0eUqcBIkAVRnoK9GoprT8PwL5vfUmeYXPw/8UarJJrur69pf/CRQtbnT3trJ0tYxCxdRKjOWfLMd2GXjpis/xB8Kdb1vRriTUtR8O3+t31+15dtc6W5to28uOJGt9sgnhdEhTDLLkktnPAHr9FO/9fd/kiY3ilZnl8vwz1kidV8Rx3Ak06yjE15HJNMbq1meRHZy+WjO8qQfmwB82ea07/wx42lh0rWYPEOjt4ps0milln09zZPHLgsqxK4cYKLglyeuc13tFEm5b/1/W3oJJLb0PKJ/hj4isdKNl4d8T2cT32nNY6tNfWRlaTd/y1iCsoRxkgA7l9QarX/wZWbxWNUWPwpdRXAtzdz6joMV1ewtEip/o8r5VAQucOr4JOK9gopQSg7xVv6b/NhJcys/62/yOP8AiB4Z1rWdU0XWPD+qWVhf6QZmiF3bNNFKZFUYYKynHy9iD05riNZ+Cj3YsboSeGNU1DyZYr59c0NL2IGSZpTJboSPLZTI4GSwI27gxGa9nopJIrmdrHmlv8MJbfxRZatFqsCw2t/a3QhW0CZENtcQlQEwq5M4PAAG3GOa5/xdoviDwXfx6p4dj1DUdQu5bxZvs2jtdxCCZlfaQJUKSAquGyV65Wva6KJa/wBfL9BRsreX+bf5tnnyeA5dU+CVh4H1aSGO6j06GGRmiWaMSoB95GG11yOQeCKy/D/wpnsE06Zv+EX0ye21iHUJYdC0RLK3ZI1wFABLFj13OzY7ACvVaKtybqOp1ev43JUfcUX0PNrr4b30upW866vbCAvqcd2jW7FmgvNmQh3YV1MY5IIOTxXP6H8FJbHSL2w/4pCwdoYbe3uNJ8Px200qJPHIWuJASzuREo+UquSSVPGPaaKiK5YqK2St8jRyb373/G/5nlHjD4RprXjV9ejh8K3KXkcEd2+raFHe3Nv5XG62d+EJBOQ6uMgcVcX4feIItahgt9e05fDlvrKatFbNZMbrf5m9ozIH27M9PlyOMk16XRVJtWt0/wCA/wBDNwTTTW+n6HE+OvBE3iTWH1BLyzRTpclj5F1ZLcRuWbOXR8qy+qkfjTvhJ4OvPBmiXVleX0EpnuTNHa2nnLZ2ikAeXBHLI5jTIJ2htoJOABxXaUVMVyqy/rW/5lPV3f8AWlgooopgFFFFABRRRQAUUUUAFFFFABRRRQAUUUUAFFFFABRRRQAUUUUAFFFFAHn2k/Di4svFVvrEmvrNb2uo6hfW9sLLay/bOXRn3ndtYkg7RxgY71lal8IHeazuNO1rTUuY7drW5fUNDjvQ8fnPKpjDOPKcGRhuywPHy8V6tRTvt5Dcm22/61v+ZzXibwvJqXhyw0/T9SFlfaZJFNY3c1uJlSRFKhnjUoGBVmyAV68Y6Vkan4K8SSR6Zf6Z40Fv4htLWa0n1C70wXEc8crK7fuRIm0hkTadxwAQQc5rvKKXfz/4b8gTtY8zX4R2kPhvXdDtdamjg1XRU0oO8AdogFYGQ/MNxJYnHH1qfxf8M21jxCmsWOqadaySW6W92LzRo71mVOjQs7Dynxxkhx/s16LRQ9d+9/m7/wCbBtv+vT/JHG2Hg3UdP8U3N9Y+IjDo12fNudO+xqXkmESxhvO3YCbUB2BOuee1Vb3wrrFh8JNV8M216up3pinFm8cAgIDuWRTlyCRn72QDjoK7yilJc0XF9rCSSaaPL9O+HGvX2kRXfiLxQkuvRW1sllPBp4ijszEQ4DR+Y3mksMMdyggYG3rTtT+GGp6noV/DqXiTT77V9RuBLeT3WiiS0kQIyCMW/m7lAV2wyyhgcHJ6V6dRVN3v5/53/wCH79SYxSafVf5W/rt0PMYfhQ8NnFZR+JJDbjRhp0vmW5kkaRW3pMrtISAGA+Q7sjjd3rSvvBfiS6sdMvX8YwN4n0+aaSLUX0vNuFlwGj+ziUHbtAA/eEjGcmu8oou/6+/+vu2HFKO39aW/I8uf4V6pbWTLo3jD7JfX1nNa6xdXGnCf7YJJJJNyKJF8oq80m3lvlIBzjNN/4VEYdTsriz1qwWFba1hvPtWixXE8hgUKHhlZv3JYABgVcemDzXqdFL+v6+/bYptvcrWMV1CZhcXMUyF/3ISHYY0xwp5O4+/H0qzRRQIKKKKACiiigAooooAKKKKACiiigAooooAKKKKACiiigAooooAKKKKACiiigAooooAKKKKACiiigAooooAKKKKACiiigAooooAKKKKACiiigAooooAKKKKACiiigAooooAKKKKACiiigAooooAKKKKAP//Z"/>
          <p:cNvSpPr>
            <a:spLocks noChangeAspect="1" noChangeArrowheads="1"/>
          </p:cNvSpPr>
          <p:nvPr/>
        </p:nvSpPr>
        <p:spPr bwMode="auto">
          <a:xfrm>
            <a:off x="51752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AutoShape 8" descr="data:image/jpg;base64,%20/9j/4AAQSkZJRgABAQEAYABgAAD/2wBDAAUDBAQEAwUEBAQFBQUGBwwIBwcHBw8LCwkMEQ8SEhEPERETFhwXExQaFRERGCEYGh0dHx8fExciJCIeJBweHx7/2wBDAQUFBQcGBw4ICA4eFBEUHh4eHh4eHh4eHh4eHh4eHh4eHh4eHh4eHh4eHh4eHh4eHh4eHh4eHh4eHh4eHh4eHh7/wAARCAEfAjI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LooooAKKKKACiiigAooooAKKKKACiiigAooooAKKKKACiiigAooooAKKKKACiiigAooooAKKKKACiiigAooooAKKKKACiiigAooooAKKKKACiiigAooooAKKKKACiiigAooooAKKKKACiiigBGZVG5mAHqTWPe+J9GtZTG915jDr5a7sflWN8SY5Vjt5luWWM/I0W/APocd64iuGvipQlypHZRw0Zx5mz1TRNestWmljtd4MYDfMMZFM8YrHN4eu4y6Bgu8AsOxz/SvJNWur+z0y4m0+6lt5tnLRnBK5GRXCrqV9PexSXN5cTEOD88hPesvrl4cslqarCWndM9EopByAaWuI7DU8KIsmv2u5lUBt2ScDgV6nvTaW3AqBnINfPvjKVotJG1irNIACDg96x/DOsa0upQ29vql2qMcMvmkgrjkV1UMSqStY5q9B1He57yvjLSN7LIZkIJH+rJBrW07VdP1Bd1rdRue65wR+FeR06JmWVWRyjZ4YHGPxq442d9URLBwtoz2eiq2lxvDp8EckplcINzk5yfrVmvSWx573CiiimIKKKKACiiigAooooAKKKKAMbxHqVzp7wm3jMu4HKDqeaRr6628MAcccVF4p/wBfB/ut/MV5lB/wlM1uEjn1Rbg27i9dwNiy5+XyuOefTPFeFHEzeLrUnLRWt92p3xpRdOLselWuqXjSFHce3y1NPqF4IiyOAR/s15lY32vW/iCJtXivUtw00MvlxFlZgqBXGAcAkMR9a3dGh1kW+tfa7q5lMO6CyJXG9NgYP7tl9v8AwCssJOs6cqM5u6vrfUupSgmpJHSf2vff89B/3zR/a99/z0H/AHzXm9pL4mtbpRfLeyRWrQCRlTPmqUl3EAc9SgI9hVG9j8Xm3umhnv1ZrVQgAGVbazZHvlVX8a8X2mLUnF1vxZ0KlT/lPVv7Xvv+eg/75o/te+/56D/vmvKrlvFQv79oZb91xcBECEBPkOwgkYPOMAGluovEs0Vomn3d4xCTNMzho+QBtHK8nrgd/Wj2mK0/ffiw9lT/AJT1M6xfAE+YD/wGtLwxf3N/byyXKlGUgBT2615boza2PFUbSyahLZvEN6zRhET92nzDrnJ3ccEHPHevT/C33Lj6r/WuvK6+IeMhGdRtNPr5MxxNOEaTstTaooor7E8sKKKKACiiigAooooAKKKKACiiigAooooAK+ff2hviX4u8I+PIdK0O+igtW0+OYq0Ksd5eQE5Psor6Cr5M/a5/5Klb/wDYKh/9GS1tQSc9RMyf+F6fEb/oLQf+Ay0f8L0+I3/QWg/8BlpfDvg+x8V+G/DV9p9vHC0OofYtZZSfuH5xI3oNqsM+9XbXwHovjG51PVNHuJdLt2ef7DbpakwqkQONzsRktj+EGur932JKP/C9PiN/0FoP/AZaP+F6fEb/AKC0H/gMtbUfgvS7rQ7RrWytY528Ki8kZ0Lb5skbhyMH3/SqN74H8O6R4V8TQfb21DWtPhthJvgKrA8nJ2EE7uuDx2pfu+wFP/henxG/6C0H/gMtH/C9PiN/0FoP/AZa19M+E+jpLot5d6veS201/Fa3UL2nllt67htyc4PTJAPfFLq3w60y/tDbaFcwJG/iV7ETy25WSKNYndhnccqNvTHJovT7AY//AAvT4jf9BaD/AMBlo/4Xp8Rv+gtB/wCAy0yz+HGl6tdaVLoviKWXTL67ls5J5rXY8UqIzH5cnKkKec1g+NvC9houj6RrGlapLqFnqPmoDLB5Tq8bFW4yeMg1SVNu1g1Ppv8AZw8Xa54x8I6hqGvXCT3EOoNCjLGFwgjRsYHuxr0+vEv2O/8Akn+rf9hZv/RMVe21xVUlN2KQUUUVmMKKKKACiiigDy79pDxdrng3wnp2oaDcpBPNqAhdmjDZTy3bHPuorwf/AIXp8Rv+gtB/4DLXrX7Y3/IhaP8A9hZf/RMteHeAdGsfEfhzxDpaWqNrcMAvLGTncyocyRgd8qDXbRjHku0SzX/4Xp8Rv+gtB/4DLR/wvT4jf9BaD/wGWtS4+H2kXxi02NmtP7FsIW1W4t4/MlmuZuQoBIGFzg88YrKl+Gulafp+sajrHigQwafei1h8m2837QWRXToeM7sEdqv932EL/wAL0+I3/QWg/wDAZaP+F6fEb/oLQf8AgMtdbpvhLwpYWfia61G3tZbu1TTo4kNoTFD54+8Bv5LHOeeMZ71z3ib4e6LZ6xqd1rGsrpNkNQWxtRbWhdfMMe/JG7KqMdsn2pJ077D1Kf8AwvT4jf8AQWg/8Blo/wCF6fEb/oLQf+Ay03wf8MrfxB4eub7+2J4rlFneFRaHymWME8uxHJA7A4710M/gXwuk2mQ6XKJppvDrXsq3FuSGbGRICG4Oe3am/ZroLU4C++Ini6+1Eahd6q804OVLKCF+g6CpP+FkeLP+f6P/AL8itS7+HVlFZXNrDrrya9Z2Ed/cWpt8RCNwDtV88sAwPTHPWpPEXw30/TdC1W6tfEEl1faXb21zPA1rsQpMuQA2TyPpUOjh29Yr7jRVZrqanww8U614k1m80/VLhJYRZM6gIF+bco7fU0sqmKdl6FWIrlvhDq1jo/iG7ur+UxxGzZQQpJLb0OOPoa1td8TWk+pTzWNtIY3bI8zA5+gzXg5jSUa7UFZHpYad6d5M9csX8yzhcd0BqavI4PiFq0FtFBFb24WNQoJBJNCfEXXATmO2Yf7prj5Gb86O08eSfLawj1Zj+mP61X8D2++9luCOI02j6n/9VcTqfjK81GZJLq2iyi7cISK6Twb4w0W2t2gu2ltpXbJZlyv5ik4Mamj0KsDxnfeRYi1Q/PN97/drWtL6zu4DPbXMU0YGSyMDiuC1q8a+1GWck7c4Qeg7VJR0HhDx7rnh6RIxMbu0B5gmbPHseor1218faVqWgPe2DMLrhTA45Rj6+or56toJLidYYVLOxwAK9C0ixj0+zWBMFurt6mtqeIqQVrmM6EJu7R6h4X8URX4W1vSsVz0B6K/+Brpa8VaQRqZGbYF53Zxiu8+GXiKXxBp1y0h3LbSCNJD1cY6mu3DYhzfJLc5MRQUfejsddRRRXacYUUUUAFcvrXjbT9K1Oawmtbl5IsZZAMHIB9feuorxn4h/8jjf/VP/AEAVMnZG1CCnKzOx/wCFjaT/AM+d5+S/40f8LG0n/nzvPyX/ABry+is+dnV9XgenN4gtdfPm2sMsYh+VvMxznnjH0rn/ABnruqaZFaW+jwSzXDu0smyIyYiUZIx2z0zTPA3/AB7Xf/XRf5V0sDbZVb8DXx2Jr+xzOUntdfkjpUEqdkcdr3iPV49U2whmtLiaIWriLO1THuYH8wRV3wvrWqXFhdu159sEenrN5giA8uYgkpx1xgVa8b+Jm0XULGzhhikWQGS43KSVTIAxjuTn8qqt4mmtdM1e5jS3L2l6lvGp6MhMY3H/AL7P5V6dRexxUZJaS0b/AAX6Ga96mUtd8Q3clno01hqNurTKRduduFYLnByeDQbjXDda6q6o3l2dpFNbEQA7mZGY89+VFaXinX7i0v7uC2Wy8m0hhmAkB3XBdyu1Mdxj8yKxE8Xak8gRbGEDz47ViQeJXPT6AZz74rz8wotVbxgtfTun/wAD5mtL4Rlnq+uf2vY21zqMaxSWkcz70VCzt1Ayf0qpp+u+KJLG7lurpLZjGGt2kgyD87AnjOBgAc9KvWXibWLjSGvpLeyiLTJFHuU7Rl8Emtjwzqt9qN1cRXMNuIodyCWLO12WRlJGe2AK4qnuJtwX4f5GqLnha8ub7Qre5uwwmbcGLLt3YYjIHoQMj1Faq+JbTQPkuoJpDNyvl44x9T702uX8c/621+jf0rTJ5f7dFpW3/JmdWKlFpnV/8LG0n/nzvPyX/Gj/AIWNpP8Az53n5L/jXl9Ffb87OT6vA9Q/4WNpP/Pnefkv+NH/AAsbSf8AnzvPyX/GvL6KOdh9Xgeof8LG0n/nzvPyX/Gj/hY2k/8APnefkv8AjXl9FHOw+rwPUP8AhY2k/wDPnefkv+NH/CxtJ/587z8l/wAa8voo52H1eB6h/wALG0n/AJ87z8l/xo/4WNpP/Pnefkv+NeX0Uc7D6vA9Q/4WNpP/AD53n5L/AI0f8LG0n/nzvPyX/GvL6KOdh9Xgeof8LG0n/nzvPyX/ABo/4WNpP/Pnefkv+NeX0Uc7D6vA9Q/4WNpP/Pnefkv+NfN37S+sW+ufEOC8to5I0GmxR4kxnIeQ9vrXoNUdQ0bSdQnE99p1tcShQoeSME4Hb9a1o1uSV2RPDRa908c8MeLda8OWGp2OlzokGpQ+VcKy549R6HGRn3rS0D4ja/oui2+l2kdi6WxkEEssG6SNZPvqD6HJr0j/AIRjw7/0BbH/AL8ij/hGPDv/AEBbH/vyK6Xi6b+yZfVJdzzOP4heIo7UW0cluqLpv9mjEXIhzn8/ep9T+JPiC/06ezkh0+M3KRLczx24Es5ixsZm7kAAV6L/AMIx4d/6Atj/AN+RXJfEXwfCLWO/0WzSJo8JJDEuAQTwcD61UMRTlJKxE8NKKuZuo/FPxPeGMlbGFkuIrotFAAWmj4Dn1JHB+lR3vxN8RzPE1uljY+VqP9pKLeAKDPtKkn1BDHIrr/C/gzS7PSIo9RsLe6um+aRpEDbSf4R9K1P+EY8O/wDQFsf+/IqXiaadrFLCyavc84n+I2uNfWNza2+n2KWTvJFb20ASIyOCGcjuxBNYWpa9f6homn6PcNGbWweV4AFwQZGLNk9+Sa9k/wCEY8O/9AWx/wC/Io/4Rjw7/wBAWx/78ihYuC6D+qS7l/8AZg8VWWg+CtStrm3nkd9SaQGPGMeVGO59q9Y/4WNpP/Pnefkv+NeTafYWWnQtDY2sVtGzbmWNQoJxjP6VZrkqVeaTaNo4aKWp6h/wsbSf+fO8/Jf8aP8AhY2k/wDPnefkv+NeX0VHOyvq8D1D/hY2k/8APnefkv8AjR/wsbSf+fO8/Jf8a8voo52H1eB6h/wsbSf+fO8/Jf8AGj/hY2k/8+d5+S/415fRRzsPq8Ct+1B4qste8G6ZbW1vPG0epCQmQDGPKkHY+9eGeFtd1Hw1rtvrWlSLHd25Owsu5SCMEEdwRXueoafY6jEsN9axXMatuVZFDAHGM1R/4Rjw7/0BbH/vyK66WKjGHLJGM8Ld+6zy/SPHOtafq2pagyWt5/abb7uC5j3RyNnIOPY1BqvjLWtS0+9sbp4DDeXwvpQseMSAADHoMAcV6v8A8Ix4d/6Atj/35FSQ+EtBmzs0SxOOv7pap4ymtWifqku55bc+PvEFwmoJI9vjUPsvn4i6/Z/9Xj068+tXYPih4jW9vLq4h068a5uFutk9uGWKZV2iRB2OK9J/4QzRP+gHYf8Afta851j4e6mviwWNlbE2c2ZEfdwiDqCe3WiGMoTuTPCzjYZpfxQ8TafpqWUYsZdglVZpYA0gSTO5c+nNRR/EjXksrS3WGw821smsUuPIHmmAjG0n2rr08BFVUf2TZnHclTmpPE1toOg6NG114X037dLlYwIlKkjua5v7Uot/AzT6lJdTiLr4ha7caM2nvHZLLJbpazXqwgXEsKfdRn7gYFV77xxrl5HqcczQbdTggt7jEeMpEMJj0qpJDA8jP5ES5OcKoAH0FN+zwf8APFPyq/7Spfymf1WXco6V/wAfDf7n9RWnTI4o4zlI1U+wp9ediqyrVOZI6aUHCNmFFFFc5oFFFFAE1rd3Vqxa2uJIiRg7WxkVs6brgYiO8wp7OOn41gUUmkylJo9t8H6bHDarfMQ0koypHIC1vOyohd2CqBkk9q8a8FeKrzRbpLeRmmspGAaMn7pPcelekeI7fWL5jb28Spbg8/vAC5rGUbG0ZXMjxJrTXrm3t2K24PJ/v/8A1q9R/Z6/5AGof9fC/wAjXlP/AAjerf8APGP/AL+CvTvhBeQeHNJvLfVWMUkswZQo3ZGPatsLJRqJsyxMXKm0j1ais6HXdIljR11CAbgCAzgH8RWjXsKSezPKcWt0FFFFMQV4z8Q/+Rxv/qn/AKAK9mrxn4h/8jjf/VP/AEAVE9jpw3xMwKKKKyO03/DN1Hb2Vyv2qK3kZ1Kl+4xzXQ/2tpv/AD/Q/nXn9FeNiclpYirKrKTuzRVGlY9LTVdDkUvLdWhdkCOW6sB2PHSs+6fwu1w8gGnP5oAkPlg7hxweOeg/KuEorrrYCNWmoOT0tqZxXK7no8d34YVYdr6cvk/6rEY/d/Tjj8KqyXmhh2Cz2hHmeZwP4v73Tr71wVFTi8uhiYpSbVgh7rO0B8MhXUJpwEn3x5Q+b68c1YhvtFhx5M9rHhQo2jGB6dOlcHRXC8gpPeb/AANPaM9AOrabg4voQe3Ncz4muUuFtcXMdw6h9xTtyMVi0VvhcnpYaqqsZNtA6jasFFRPcQJ96VB+NOiljlBMbhgPSvVU4t2uTyvsPoooqiQooooAKKKKACiiigAooooAKKKKACiiigAooooAKWoL66hsrSW6uG2xRruY1wV78QLtpj9is4Uizx5uWY/ljFJySA9DorjvDXjZb68Szv7dIZJDhJEPyk+mD/jXZUJpgJRRRTAKKKKACioTd2wJHnJmj7Za/wDPdKV0OxNRQOlFMQUUUUAFFFFABV7Susn0FUantbjyC3y7s474rKtFyg0iluatFN0lbnUboRxQBYQCZJS/3fQAY5Nb/wDYtvj/AFsufXivOcGnZmlzCrzr40/6vTf95/5V3Xi25uNAlj3WnnwSfckEm3n0IxXmHxL1j+1Esh9nMPllv492f0oj8RM/hPI/F99d2uoRJb3DxqYgSFOOcmsX+1tS/wCfyb/vqtLxz/yE4f8ArgP/AEI1P4J8Lza3cC4nUx2KH5m7ufQV7FGK5FoeVUk+d6l3wTpusa3cC4nvJ47FD8zbuX9hXSeNdY03Q7b7PBbxS3zr8innZ7mpfFfiCz8NacthYIn2nbtjjXpGPU1wvhrRL/xRqj3FxI/k7szztyT7D3rTkj2I5n3LPhKz1vX70n7ZPFao372QH9B7132uz6PoOmedcxK5A2xqeWc1JqF1pvhXQxtj2RRjEcaDl2/z3ryLXtVvdZv2urosT/Ag6IvoKXLHsO8iS+17ULq7knWZoFY/LHGcKo9Kg/tbUv8An8m/76qG1s7q6P7iF3HqBxUc0bQytG+NynBwc1KdNy5Va5TjUUVNp27lr+1tS/5/Jv8Avqj+1tS/5/Jv++qpUVfJHsRzS7np2kszJZsxyT5ZJ/KvpB/vn61826SdtvaN6BD/ACr2lvFw3H/iXnr/AM9v/rV41Xc9alsdRRXLf8JcP+gef+/3/wBapLfxUJriOH7CV3uFz5vTJ+lZGp08X+tT/eFez157/wAIXqgmDRzWrx5BVixBI+mOK9Cr08HTlC/MjzsXOM7crCiiiu04wrxn4h/8jjf/AFT/ANAFezV4z8Q/+Rxv/qn/AKAKiex04b4mYFFFUtb1XT9F06XUNTuUt7aIZZm/kB3PtWTdjtLtFeU3vxw8Pxz7LXTb6eMH75AXP0BOa6zwh8QPDXidhDY3nk3R/wCXecbXP07H8KzVWDdkx2Z1VFFFaCCiiigAooooAK5+/vJZpWXcVQHAAroK5y9t3iuzEFJLH5PfNebmbmoLl2OrCqPM7kmi2P8AaWqQWPm+V5rY34zjiuu1Hwza6PArxXjTS7gXQkDA7HHWuj8O+HdPs9JszNbIbyI+YZP4txqxrFrCRPd3Vw4h+z+WY8cA5yG9c9q58LRVNqUtx1qrlotjhaKWqurX0OmaXdajcHENtE0r/QCvaOQtCg18Z+OPjJ4z8QalK1pqk+mWG4iK3tm2/L23Huab4Q+LXxF027X7Pql1qkS43W9wDIuP5ircLK7MFiIt2SPs2isPwFrsviXwpZazPZtZyzr88JOdpHWtyoubhSgE9BmqOvalb6Pot5qt0cQWkLSv9BXx946+MPjLxLeS+VqU2m2GSI7a2baNvbcR1NVGLZnUqqG59hX2qadY39rYXl5BBdXZIt4pHAaTHXA71dr4n+G3g/XviFqNxJDrQhax2s0s8rs43Zxt/KvsHwfaXth4bsrLUdQfULqCMJJcMMGQjuahzgp8l9R05Smua2hrUUUUywooooAKKKKAMnxNaR6imn6ZNL5cd3fRRsc44zzWx/wjPwy1XUBY2tuwnhiYlYN4DBepJIIJ+lc545hvnh0y6sY9xs7xZnO4DavHNeyaW2nmKO8ggt28xPvQlSOevPeufERtZhGWrR5ndaN8P9Q0K5h8P2yJf2qLMkrI6uNrdy2B6irIV1VRIpDbRkH6V13jCwWTQplsLeKNpHj81hhSIw4Zv5Vy93Iss7OgIToufSihfXsUyGiiiugkKb5kef8AWJ/30KdXMTJJ5z/K33j296iUuUpK4skErSvhM5Y4596abeYHBjINV7y7XT0W4nDABhgd2PoKxrrxPJNdPKtsFVmzgtXJOrCG7NlFvY9Fjkj2L+8Tp/eFSVwOm6zb3cixNmKQ9ATwT7V3kX+qT/dFdNKqqiujKUeUdRRRWpAUUUUAFFFXdLAJkyAeBUVJ8keYaVzV8Pavpmm6JczXl1HGsMo83HLLuHy8DnnBxU3/AAnPhv8Asg6st3O1oJxbl1tZThyDxjbnt1rn/DzWml+MtWk1cxRWupxwC2eTHll492VJPAb5hj1wfSvQFhsfs32ZbWPy2bdwF259cVy1Er83cabON8ZX1r4i8F/btKLXESyhtxQqQB1ODg9K8W8V/dt/qa+i9ZW3t7RIo41RdxIRRgHivHPjNGiR6bsRVyz5wMdqw+0VL4Tyw+GZNd12KaYlLKKICRh1Y5J2ius1fUtP8OaUkaKFYDZBAgyfrXO6j4mj0LSHhhw97K5ManoowBuNZ3g+z1rxZIWmlWG1hb9/dn7xzztX3rrryqqhH2fzfl5HNho0nWftOmy8/Mbovhu68XeI5Li4gmtbJV3PIw+Z/Ye/P5V6HqM/h7wfoyJIFjiChY405Zz3P/16j1bVdO8N6ZFHAfKiiXZDGD80h715Fr17c61qUtzeTE84hXPyqvYCojCUIpTk1pt1LnOM5OUIp679DU8R+KLfVhItw0kqBxsRV2gqO3tVOTXdPkiKfZWjydvyqPufWsGZI03Lh9w79qBGuIjhjvUnA9ckVH9m4eSTld633/rsaf2niYu0bLS239dzp31LT5rNIbdo4Y2ymxiV2+h461m32h+XAJYJCVAJZ5CAG+mMms5UjTdIhy0eGAboaW81K8u+Jpjt7IvCj8Kzo4GpRmvq8rR63NK+Pp14P6zC8raWGWdstwJC1xFDsGRvP3j6VX71t2FrpU1mk0m7eoIkQP8AMT6gelYr7d52ghc8Zr0KFf2lSa107o86vQ9lThLTXs/6selaZ/x62v8AuJ/SvQCRk8iuB0f/AFVl/wBs/wClfRrwQ7j+5j6/3RXn1dztpbHl+R6irGnEf2hbcj/Wr/MV6P5MP/PGP/vkUCGEHIijz/uiskantcX+qT/dFOrym11zVoxFCl/MEXCgZ6CvVq9mjXVW9keRWoula4UUUVuYhXjPxD/5HG/+qf8AoAr2avGfiH/yON/9U/8AQBUT2OnDfEzArxb9p2e6WPR7dXYWr+YzqDwWGMfoTXtDsERmPQDJrhPilpln4r8LzWscZF7D+9tmI6MOo/EZFctbWDR3x3Pmm2tbi53+RE0mxdzYHQV1/gfSbeHXNJurh5g5nRiFOMc0vh+3k0+xMUibZWz5g7g1qaXaSX2qWtrD/rZJVCHGdpz1r52eJk5qMO56MKEVG8j6NkdY42kdgEUEknsK8+n+IV3danJbaLpkc0UQZmklYj5V6tx0Fdtc200uiyWbyb5mg8suBjc2Ov515T8PLeH7brGjXX7u7mt2hj3cHcCcj+Vevi6tSM4Qi7X/AKsctGEWnJ62Gat8RNeu5c2jx2cXZUUEn3yeat+HPH3iNpxDNa/2mvcRx4cD8P61U+F3gqTxX4zXRrpngt7clrtlHIUHGB7mvpHwh4D03wRa6mmgF5ZrptyNOwyoA4Td1xXm4d4mpLn52l/XQ3qyow922pw+i6lb6tp0d9bbgj9VYYKnuDVyruu2EWn6xdJDEkYkfzCFGBk1Sr6CDbir7nA7X0CuVk+JnhfRfFcVtfWb38MRxLPHz5LeoH8WKrfF/V7rS/DCx2cxhmupRGWHXbjnH6V44dPjZQfMbceSTXsYDLqdeDnV1XY8HNMzqUJ+yo6Pqz7Z0LU9N17TI9T0W9ivbSQcPGckexHY1g6zr1rdWUlskDljwC3Y+tfJ/hjxJr/g3VheaLfSW0mQWUcpIPRl6GvcfBniY+K9I/tSVI47lnInSP7qt7e1cuMylYZ88XeJ0Zdmv1p+zkrSNqs/xLp66t4d1DS26XVu8f4kcfrWhTZJEiRpJGCqoySa4721PWtzaHwEdHuIfEjaLcqY5o5zFICMEYPP6CvQLXQrDSbqV7HfiWNRy2cfQ13fxM0GDUfFE/iG106FHkwHkjzlyOjEdjjjj0rL8O+FtY183A023Vzb7fMDNtxnp/KvFxmLliGo0X7v5no08qqYJc1eNuzPVvgLfNceDWtJf9baS7W5yOeRg16FWF4D0P8A4R7w1bae+0z43TMB1Y/zrdr1aEZRpxUtzgqNOTsZXjDSv7c8K6po5JH2y2eIH3PT9RXxHoHhPUtS8cxeFWhZLr7SYpgRjYFPzH8v6V93XM0NtbyXFxIscUalndjgAV5foXi74bXnjq7vrqw/sy/lxDHrGMpIv+2vb/eHbrWrc1B8i1OWrGDlHndje8N+BvDfhK6e50C1MDXMEcc2JCQxTPzY7Ek10uio8MbRFty7ic4xjPardzot5DDHcp5dxZyjdHcwtujYduRTbSDyQ+cEsRnFeThqdZ1uadz0pypqnywJ6KKK9Y5AoorT8OWMd/fGOZSY1XcQDilJ2V2MzKK3/F+n6bpOjzanuaGOHBfJyMV4J4h8WalqV3IbeeS2teiRo2OPU+9XQj7ZXiY1q0aW56dqerabp8eb26jQH+HOSfwr0LwfpGn6foUVxpNq0NrfAXIyTtJZRyM9OnSvlSFmd2Z2LMepJyTXpWp+IvEt78EtPi0rVGtI9Kv/ALNcqj7JJA53RHI5wCWH4VWJo8lNu4Ze3jcTCjpG/Vnofxe8TL4TstOW+gmEF+zjeo5G3b29Pm/Sua0rWdL1SBZbG8ilBGducMPqO1ecfHHW9Y1HWdK0vWLxbqfS9Pjjkdehkf5mP12lB+FcnZkrDGykhgOCOorWnhk4LuctTFSp1ZR0aTPoKivKvBXiDUIdbtba4vJZLaRtjK7Z69Dz716rWVSm4OzOqjWVVXQUUUVmanIfE2GRrO0mUfu0cq31I4/ka5vwvoNxr9xNb20qJJGm4Bv4jnAFdJ8QdRU2TacIZC25WL44Arq/g14Naztxr2pB1lmTEEJOML/eNeRiYqVfQ6qbtDU4xvhz4ktb+yhuEjia5kZY3Q7wpUbjkjp+NdrErpEiSNudQAx9TXoGuXz2OnSTwLHLICF2s4Xgnk/h6VwbsXdnbqTk114SmoJ2MaknLcbRRSgE9ATXYZiUUUUAFW7CWKHzGlkSMYHLHFc1418Q23hnQJtSuPmcDbDHnl37CvnDWvE+vaw7tfancurk/uw5CDPbA7USpe0i0ZVK6ps+ztO0mDWkSO4tIb2yl/hcBlf6etdTFatCEtY4Cm0BVjC9AOgxXA/s+3nm/C3Q5R/yxUrx7MapeJ5/HC/tD2Udrrmyylj+0QRb8ILZRl1K9CeDWVbCqnGNm9TbL28ZOabUeVN6+R0XiS6a3mu5tQxaw2hbcXOAqL/Ea8l+Kuq6Zqlvp0mm6hbXaBmyYZAwHHtXffFG4d/BXiS6b5nNjO5z3Ow18cRSyRNuikZD6qcVpVwMYtOLOGGMk01JHc3Xh2417X4QMx2scQ82X/gR4HvXY6jfab4U0MKqiONRtjiB5kb/AD3riPB/jQabZXFvqSvN/HEw6k4+6a5nXtWu9Zv2u7pv9xB0QegraEeWKTMZyvJtBrusXmsag95dOcnhEHRF9BVSEybD+9KIOpqKnxybAQVDKeoNE1daBB2epIFkfbGsu5WbaOeKWCKYqZI3I2Lnj0NME5UfKightwI7GnLdMu7aqjIAGM8YrFxqWaSNoyp3u2RNJIwwzkim0UV0JJbHO23uFFFFMR6Zo/ENkTwMR/0r6FfVtL3H/iYW3X/noK+edM/49bX/AHE/pXoJ6mvDq7nsUtj0T+1tL/6CFt/38FKmqaa7BVvrdmJwAHHJrzmp9O/5CFt/11X+YrNGh6h5MsVyI5InR1YBlKnINeyU2H/VJ/uinV7FCh7K+u55Vat7W2mwUUUV0GAV4z8Q/wDkcb/6p/6AK9mrxn4h/wDI43/1T/0AVE9jpw3xM56ZS8TqOpUgVxHiK6i0p/JupkTPUj+VdzXk3xVPmTeZ1Am/pXk5lUcKWhnmF6rp4XmaVR2bW9rN/iQ3elaTrCPLZyIko6tH6+4rtfCei+H7OG0uooIxexxhWc5yWxycV5Z4Odk1tFViAykMPXivSNHk23sanoWFeXgakVUTktzzfrNbJ8fHAVKrlTkla+6vpv2udrXEeIPCc+qeNLW/tY1tokKtNID8zkemO/au18yP++v51qaBCs12d2MjpntXqZrWp0MLKrUV1HX/ACPqaHNz2XU1fAWjaRo91d30cYi1C9I85s8EDoB/Wug1XWrLTZfJuC+8ruAUVlTWjIhZWzj2rH1uEyx/aMlnUAEk54r5XKOI1iKyo4hW5no13fc6a+F05osy7ud7m5knkYlnYnk1DRRX3ZwHmnx43fYdL/u+c354FcAPuj6V6t8Y9Ne+8J/aIl3PaSiQ/wC70P8ASvKV+6PpX02WSTw6Xa58fnMHHFNvqkZurn98g9BXc/ArUWh1y70xm/d3EW9R/tr/APWzXBamc3bewAre+Fkxh8c6eQcb2KfmMV14yCnh5LyOLA1HTxUJLv8A8A+gq57xjIWWG03lVbLMB3roa5bxe2NUt855jI/Wvz7NJOOGlbyP1TJIKWMjfpd/gc/cWwRCynI7g1N4Jht7DxB5kZaMTrsKA/KT2OKkmXdEw9qzo3ZHV0JVlOQR2NfL0a8sPUU4n3NWl9YoypS6qx6hRVTSLv7dp0Vx0YjDfWrdfbQmpxUo7M/M6lOVObhLdHkX7Qeq3KNp+jQzukUyl5lU4D84GfavNX0q3K4BdTjsa7X9oAH/AIS7T2xwbYf+hGuaPWuiOx5VZ++y34K+IHiTwW76bDfSS6VIw8+1c7l25BJXP3T9K+hrG5hvLOG7t2DRTIHQ+xr5P1g5vn9gBX0B8E79r7wHbIxy1s7RfgOlKaNcNLVxO2ooorI7ArZ8IS+XqwXs6EVjVV1TxAvhm2/tXyRM0bALGWxuJ96UouS5UDkoq7PQPGaaa/he/wD7YjMlksJaVQcE45GD65r5NmKNM7RqUQsdq5zgdq9B8afFTUvEWkS6XHp8NnBNgSEOXYj07V580brGrlSFb7p9a68FQlSi+bqeXi60aslyhG+xs1Yu766TR5rWGUi3ldHkT1K5wfwzVZcbhnp3qyyq8JT+EjFb1qanFxfUMDipYTEQrRV3F3MiSSfU717m6mLyNjcxPJwMD9BVxVCqFHQVmQpILnYuQynk1qVpFWRyyk5NyfUfDI0UySpwyMGH1Fe6adcLdafb3KnKyxq4/EV4RXqvwyvPtPhwQM2Xt3KfgeRXPiY+6mdmCnaTj3OpoooriPSNCDQdOuvJurq2E8q/Mu4kgH6dK6C3uZrfAU/L/dPSobM4iRf9kfyqaRdymvyDEY2vUxEq6m73dvLyPajCKio2OY1JZFu5PMYncxbPrmq1bWswGSESKOU6/SsWv0nJcw+vYSNR/EtH6r/M8yvT9nNroFdNFpdx/wAI8i2qJ50x3SE9SvoK5odfWu70fU7S8hiijkRJtuPKLDcceg716FZtJWMkcNNFJDK0UqlXU4INRswVSzHAAyTXn3xs+JraT8Qvs+gzxXkMEYjvI2GU8z2Yd6wfEnxYs9R8HXEFjBNa6pOPKKNyqqfvMG78fStoJySZhKtBNq+xyHxY8VyeJPEDRQNjT7QlIAD9893P1/lXG0UrqyMVdSrDqCK3SsefKTk7s9t+AHxYtfD1rD4V1yHZZNIfs90gyUZj91h3HuK9N8SabqMvxo0zV45m+yLp7srDoF2lSPx3ivF/2a4/CcnjVh4iwb0BTpqy48ovzuz/ALXTH4+1fT3i9lg0Wa6wA8S4U4554x+eKqaThzS2Wv3G2ExM8PUkoLWacfv0PNfFGoTatbX2lyv/AKFcBomVeCUPBGa4P/hXvhn/AJ9Zf+/prqycnJ6mivkp42vKTfO/vPoI4SjFJcqOSk8AeF442ka2lCqCxPmnoK8d1A25vp/silbfzGEYJz8ueK9w+IN+2n+FLyRM73Xy1x2z3rwgdK9fK5VJxlOcmzysxjCElGCsFFFFeqeaFFFFABRRRQAUU6JQ0qKehYA12o8N6Xgfu5P++6zqVYw3NIU3PY1dJG6CzX1EY/lXuTeE7Hcf9IuOvqP8K8SskWOW3jX7qugH0yK+jX++frXj1dWepS2Oe/4RSx/5+Lj8x/hToPDFlFMkqz3BKMGGSOx+lb1FZmp2tr44URxxyaeS+AGKyYGfYYrtK8Yi/wBan+8K9nr1MJVlUvzM83FUowtyoKKKK7DkCvGfiH/yON/9U/8AQBXs1eM/EP8A5HG/+qf+gConsdOG+JnO3P8Ax7yf7p/lXlPxBjYacSwORIDXrNcR8WbXzNIMsa5fbzj0BH/168nM6fNR5uxOOh79Gr/LOP3PT9Tznwd/yHI/90/yrvY/vr9a888LSGPW7c9mJU/jXpWmruv4F6/OK8Kgr2R83xhTk80p+aX5s07ZZPtEfytjcO1d94dP7xvXcKx60NDk2Xe3+8OPrXpZ9Qc8uqxj2v8Ac7n3mHl+9R103+qf/dNZDKGQq3QjBrWl+aBv92sqvyWm2tUerHY5uePy5njznacVHU16c3cv+8ahr9vw0pSowlLdpfkeHNWk7FXWVWTSLxXUMphbIP0rwCvoO/TzLG4j/vRMP0r5+mXZK6f3WI/I19Jk70mvQ+Zz9e9B+piX4xdvWt8Pv+Rz0v8A67is3VRi6z6qK1Ph4rN410sL188V7FZ/upejPAw6/fw9V+Z9FVzfjWEj7LcgfdYqa6SszxQqnQ7gsAdoBHsc1+f4+mp4ea8r/cfqeVVXSxdN+dvv0OUcZQj1FZnTitNDlQfas+4XbK31r4yaP0Sm7HdeFV26HB75NalUtCQx6PaqRg7Aau19vho8tGC8kfmuNlzYio/N/meUftCaazQ6XqqqSI5DC59M8j+tefnrX0D4x0uHWPDV7YzjhoyynHKsOQRXz8QQxVuoODXZB6Hj4iNpX7nN3zbruU/7Ve0/s5zF9B1SDPEVwhx6ZU/4V4tertupB/tV7F+zd/yDdc/67w/+gtTnsTh/4iPWaKKKxPQCuK+LQk/sq0Zc+WJju+uOP612tVNX0+21SxezulJjfuOoPqKunLlkmZ1YOcHFHiVlbTXl3Ha267pJGCqK6Dx5YR6XJp9jGciODk+rdzXe+HfDGm6I7SwB5pzx5snUD0HpXHfFj/kNW/8A1xrrjV55pLY8+dB06Tctzjakhk28HpUdFdByCyRKkrOo+/zmkpckrjqB0pKEAds12nwovPL1a4smbiaPco9xXM2SJJpGobly0YjdT6ZcL/Wp/CEzQ+J9OdWI/fqre4PWs6i5otGtJ8k4s9pooorzT2jpLKTdbxP7CroORkVkaKxa1IPZuK04W/hP4V+PY+j9WxlSl2bPbg+eCkQagNtvMenynFczXYSxrJGyOMqwwaxrzR2XLW7ZH9019HwzmGHwinTqys5PTscuKpynZoyK57xx4bk8Q2cJtdQm0++tmLQTxsRjI5Bx2PFdEQQSCMGhVZjhVJPoK++TPNaTVmfNHifwH4o0aaSS5spLuIkk3EH7wH3PcfjXKurIxVlKsOoIwRX3DpHg7WtRAc232eE/xTccfTqal8V/Bfw3e6BdT31pFd3qIWVggUjHXBHOcVqpPscVSnBPRnyR8J/DX/CReJkM6brK0/ezejY6L+NYPio58S6l/wBfUn/oRr6Y8MeG9I8NWcttpNu0SSHc5dyzMcepr5n8Ug/8JJqZwcfapP8A0I0Rd2FSnyQRnIzxurxsyOpyrKcEH1r6E8CfELVvFfgwaVqil57ORVa5z/rlAOAfccV89V7X8MbWKw8J27O6LJcEysCeRnpXHmVVwoNLroa5fTU6yb6anV0+GN5pkhjUs7sFUAdTUHnw/wDPaP8A76FavhXVNN0/Woby9ZXjj5G1h8p7Gvmoxu0mfQylZHenwvpdj4S1GG4to55JLKQzNIN3IQnj05r4ZiyY07kgV9b+Lfi3ol3o13Z6EktzLKHgaR1KqvY9eteBR+HdPjvRcLuwDkR/w5r6LCzjRTR4WKi6rTTOK8mb/nk//fJo8mb/AJ5P/wB8mvTMD0H5UYHoPyrb635GH1bzPM/Jm/55P/3yaPJm/wCeT/8AfJr0zA9B+VGB6D8qPrfkH1bzPM/Jm/55P/3yaPJm/wCeT/8AfJr0zA9B+VGB6D8qPrfkH1bzPNoIZfPj/dP94fwn1r3P4ZafY6jq9xDf2sdxGtsWVXGQD61yuB6D8q7T4R/8h67/AOvVqh1faTWhcafJF6nHREiVCOoYfzr0lta1bcf+JhP19a82hGZYwOpYAfnXqDeHdW3H/R16/wDPQVw1Oh10+pX/ALZ1b/oIT/nU1jq+qPewI99MytIoIJ6jNL/wjurf8+6/9/BUtnoGqR3kMjwKFWRWP7wdAazW5oz37/hEdGkcTeXMhbDbUkwo+groqzbXWtKkt4mXULcblGAzgH8RWlXu04wXwnjTc38QUUUVoQFeM/EP/kcb/wCqf+gCvZq8Z+If/I43/wBU/wDQBUT2OnDfEzBUbmCjqTiqGv2Fle38WmtNM0yxSSNGqf6wBSdqk8AnHerks0dvE08riOOMbmYnAArndf8AiNZ614OOlWcdxHdLLteXYAjKM8qffivOxUZ1HGnFX5tPTz+R0YvDxqYWcqkbwVr/AKI9a0vwr4OtfC8Gn2+g2gYKCZGjBY+5brmvPDoul2V8szG4gAumigViH81Qfv8AHQV1t2zR/CK5ljd1ddHkcMGIIPlnnPWuS+Gv9o+F/Adt4m1CM39jewFYFt13SREZOGJ7E8Y9a+fwinUlUaV3C2i0vZ/mTXwdLESpTqRu76X6dTRuYjDM0ZIOOhHcdjTBeW2n/wCnXkyw28PzSSN0UeprL8N+IIPEViL1HHn/APLePujd+PSuP+N+syWmiw6TC+1rwky4/uDt+f8AKvrKOG+uRVFv4lZ/dqa46pLAKUqi1j08z3ywuIbyxhureRZYZUDI69GB71xdx478Jwag9jLrEK3CSeWydw2elZf7Ouvaj4h8J3thdRrGmnKkFtMg55Ddc9SMCvnrWJLq18W3M2pb3uYrwtNkYLENXyuVcAe0xFalip2UduV6/PS2xzYziF0qNKrSj8W9z6WdtzluuTmm02B1khjkQ5VlBB9sU6vqYxUUorodd76mB8QtVOjeEL68Q4l2eXH/ALzf/WzXiULF4kckksMknua9W+NltJceBZWjPEE6SuP9kZH9a4L4deF9W8ZO1noqxSSwIGl8x9u0E4zXpZVXjTrSjN2Vjxc7oyqU4OKvqcrrq8xOPcVqfCxGl8d6b1O1y35Cug+Lnw/1DwXpWnz6pfWcs91KVWGFiSoA5Oe4/wAax/g2Ffx/ZpwWEcjY+imvNzKopY1um9HY7cspyjhYxqLVX/M+ga5L4m6n9m0hNNh/196wUc4wuetdbXknxUunfxUY8kC3jQL9euf1ruwFJVK3vbLU4s/xM8Pg37P4pNRVt9ex1vhLS7C7EenPfXElzAreaRHhXIBO1Se/QZ+te1WWg+Fz4Yjsf7Ht3d0G93QFjkc5avnbxR8Sop/hBH4ftluYNU3hZ5lQKjLkkkEdzx+VeyaAzR/BSORXcONFkcNvO7d5bHOetfC42NWliXZW520vRvdbfI+jliqrwUKdZ601Zq/VLZ76233EvNP0+1ti6vJFEr+XFg7gw9RWdcxGCZoywbHQjuPWs/4Ya+NL8Fw3N1FNcolu21Ixuf1wM1W8N+IofEdl9sDAXP8Ay3i7o309K+hpRrUa86NR3S2ff+uupz4ZSxGFjiYx0dr+V0bmn2MmpXS2cY5kBBPoMda+bvENqbHXr+zOf3NzInPsxr61+HEKm8uLg9UUKPxrx/xr8I/FOreOtXvbWK0tbCa5Lxz3E2xSCATj8c12wl7zRx4m7aOC8P8Awc8V+L9G/t/Rmsnt5JGjCPJh8jGf5133ws8D+IPA9tqNt4gt0gkupUeII+7KqCCf1r1/4MeF5vCXhBtLl1S31HdcvLvhUhUJCgrnPPSoviI3/E0gX0iqXUblboFGFpJnMUUUUzrCiiigArzP4sf8hq3/AOuNemV5x8W0UajZv/E0ZB/Ot8P8ZzYz+EziUUu6qOrEAV22heEdPu5byDzLu8vLSMMYUXy0kbuoY+n1rz37bsmIC5weCDXpN38TLWb4ZR6AizwavuPmTqgClcnkEc5Ixn6danH1KycIUd2/u8/T7jlw2Hcqc6zXux6+b2R7noPhjwjD4Pt7BNCtizxqztKgZjkZOW9e1eLeLPBuhafBeXeb+0jjvDDCFxL5y9SwA6AfyzXqvhs7PhJFJGzAjSpXDBjnOxjnNeN/CnxzB4Yu5m1iOe6tWgYRhFDOjMQTgnnBxzXzuBqYubq1ISu4NK3e1/x+86qkad4Qa3MGexk01dXsjIsg8iJldejr5ikGs7SJPK1W0k/uyqf1q/Y3F54hvdUmw891OhbaByfmyAB9K9U+E/gO2Tw5eXviDSj9sdmWNJhyijuPevp/rCjSUpO7djnqYOrCu6UlZxNI9TSUifcXr0ptzL5NtLN18tGf8hmuU9G5xfi/xvq2kasbHR7qNERR5u6JW+b8RWG3xF8WM2f7QQfSFB/SuYvJ2urua5c5aVyxP1NQ185WwuHrVHUlTTb8keLPHV23yzaXqen/AA+8beIdS137NfXyyx+WzBDGoyR9BXpljrUfnr9shymedp4FfP8A4Hna38V2DL/HKIz9G4Ney10UMqwVWKcqaumengcVVlTd5Nnfm20zUIgfLilQ85Xg1s6nceHPBXhG68STWHlQWkXmNhd0h7AAnuTXmei3rafqlvdr0RwWHYjvXsPiTSNP8V+FLrSLvcbO/t9pZDhlBGQR7jg17VCnyN66E4qTsjyvxd8R/G03ii/j8J2djHp2i6bFqV5DeoRNcRuMlR/dIFeuaDqVvrnh+z1WDm3vbdZlz/dYZrzvw/8ACtLKDXZPGHieXWX1W1jsnlCfZtluhyq8McngZPf0ror3xh4Y8M6SlnZlWt7SIRokfCIqjAGTXQ2kcsISm7RVzj77RrWLV7q1/eswbciYwCrcjn6GtHU/CHgq40AaafDNlJ5hPmuIV3HPVt3XNczbfES28W6dfNZ2VxbFZSiueY2UHgqfpisn4rfEHUvBelaUNHt7e6uTYm4njnBICYUBuCO+78q+TxU8XKVov4m0vlbVdvI96OCm6ns5q0krv5K+pwviD4XafB58Wj+FZ/sEEzpc3VzcEuqEcSRnOMIRyD1BrwO4RY7iWNWDqjsob1AOM13fhz4oa+3hTxB4ecRSx6k8lwzuWZ495ywTngdOK87W4jx1I+te7gYVoOUarva3/DnlYmjy04VEtJX/AAdiaimCWM9HFOBB6EGvQOM2dN1u402zSCKGKRWy2Xzkc+30qx/wll7/AM+tt/49/jWHL/q4v90/zNXvD2jXetX62tqpA6ySEcIPWs/ZQerRp7SS0TOg8PalrGtX62trZ2+BzJId2EHr1rrNfi0zRdPN1eXUu7GEQYy7egqZm0jwXoWBjOOB/HM9ecTS6t4v1wAAu7H5VH3Ilpexp9h+1n3NHSNZ1bVtQW0sbGBmY9Tuwo9TzXdT6XZ2dibm+vGjEa5kYYC59s07RdL03wtpDOzquFzNO3Vj/ntXnHjTxNPrlyYoyY7FD8if3vc0exp9g9rPuSX3iphdyCyt0a3B+Rpc7iPU4qD/AISy9/59bb/x7/Gufoo9jT7C9rPudFH4qvGkVTa2+CQP4v8AGvWfhhfWdjrFxLe3MVujWzKGc4BPpXg8H+vj/wB4fzr0gTQYH76Lp/fFc9aKptOKN6MnNNSZYtv+PmH/AK6L/MV9Fv8AfP1r5zgbE0bDkB1P15r2RvF6bif7Pbr/AM9R/hXBU6HbT6nqfh63062ikN1b+c7L8pbnFZGt2kMZaWIBfUDpVbwRr2m62kzW7BL2MhZ4fMLFR2PpzVDxP4i0u01EaXaMlxdtKEuUEh3RHI6g14FKtWliFTfT+tf0Oh0pRu7Mli/1qf7wr2evPP8AhDdVWYNHJbPGCCrFyCR9McV6HX12DpyhzcyPLxc4ytysKKKK7TjMzW/EOh6Iu7VtWs7LjOJZQDj6da+eviH8RNEvPFN7JoKz6wXZQhgQhMhQOSf8K9r8TfDnwj4k11NZ1zS1vblUCbZHOwgdMrXnfi7S9O0vxNd2unWNvawx7AiRIAANgrCopvyR7OClgaaTlGUpW1WiX6t/geZnSvEfinDa3INN07O4WsZ+d/r/AJ/Cuh+Bvh7wxqniu70nV7Pz/KQtbIXwpweQQOvFbA6ivP8ASNYm8O+O4tWhzm2utzAfxIThh+IJrTDU7N9zmzrGzqxhFpKCey2/4L82fRt5plldGXR5IALKbNu0S8Dy24IH4GmeEvD+ix/DdvDuiammp2tsZI45gQdrhidpx3B4qaK/tHnTUzPHHaEiYys2FVOpJJ6AVyXwxvLfQ/jH4l8L2M0NxpWrxrrNi8DB0Vn++MjgA9a8DIoJyqya1uTiZtKKT0PMdd8JXEOpSap4fuP7P1AE+ZEeI5D3BHavMviTJrGoapAdWtVtbiKLZtB4fk/MK+nviRpgsPEUk0a4iuR5g+vf9a8Z8Q+DtW8ffFOy0LTPkiitVkupyflhj3HJPv6Cvo8DCUa3NCXLa/mjfH5hTrYRQxVP2i0Ss7SXz8vNM2f2V9Tt7bTdX0q6kjgk85Jo97gbwQQQM/QVyf7RvgfW9E8W3XiF7QvpGoMJIriLlVYj7reh/SvoG/8Agd8PYtGj3xT2LWkGZbyKcozbRku/b1rzLTPD/hnxNcz+F/DPxT1JTcKQlnqFs6pcL0+QuMMPpzV0sXVo4qVdxvfe3/BOarl2X4nCRoU6zhbbmjf8Y3/I09F50ezI5HkJ/KpruUw2zyqASoyAaoeI/APxG8H6aklvq+nX1hCoUMY2ygHQEYrk5tU8aSQtFJHp7hhgkcYrz6lbV3TPZpYCMorlrQfza/NIs/EG/kvPBeqW7RoN0PX0+YVxH7Os00fxW0tIrholkEgkUMQJBsJxjvzz+FbWpx+KLrS7uKa3tPJ8lmk2tztHXFcT8PrTVrzxXYL4StbubVlkDQGMfc7EsegGDyTXFUblJM1eAUd6sF8/8kfSX7QHhKPxN4Hnuox/pmlo1zEQOqgZZfy5+oFfN/wPkhg8fzXl3KkMUVvJ87nA5GMZr6PPw38eatMtr4i8cXYjlwssEEfygHqPfvXl1j8N7vQPifqnh7xFaLPYwWwuLOZVIS4UuBn688iiEJ8ydgVLBw+Otf8Awp/m7HQal4406Nzb6VDPqlz0CwqdoPua868btqtzrAuNYt0tppYgyxqei5IGffivZ7GwsrGIR2dpDAg6BFxXmHxd/wCRli/69V/9Cavby6gqtblqarseBxHmywGBc8DHllde87OS9OifmtfMj+FngOT4geIH0cyNBarA7zTAZ2cYX/x7H4A19KaB4d+x+GLXwrqEiyhbf7HO8RwGU5UkZ9jVX9mbw5p+jeBRfw3VvdX2osJbhonDeWo+7GcdMcn8a1fG1xdWmk61dWLSLdQ2s8kBjXc4kVCVKjucgYFeNxXKMq1KUVs7HmcOUJ08JJVHdz959dX/AFqY1x8MZ9C01LfRZmvLeIHCScSAfyNeW+I/B91b6o+paLK2makDl42GEkPuO1dv8M/ij4z1bxdZaTe6dBrWkbFjn1XTIWKrK4ym8HGzGDuFev8AiTS9JvrGWXUoE2xqW8wcMv416dWn7R3Z6+Ax88HZU9rWt0t2a6nz14F+I0vhu9lt/GGlXVqjKFNzAm+MEdz6D6ZrtPF/ivw3r3hlX0rV7S5JlUhQ+GAwex5p/g2K1uNelgkhSaB43wsqhsgdM5qXxB8IvButM72+mHT7t84ktHKZb1I7159anJpxuet7fA1KilOLg/LVfc9V95n/AA31d7S+axc5t5gWA9GA7fWpfGdwbjV9xGMIABXKaF8HvGVprvl6drl9pflbsXLAMvTHHrmtHxD8PfirYQveReINN1UIPm3xtvx64xWeFhUgtU7FVsNhZVL068de91+jX4iUVyLN8QYzgx6ZIfY4x+dJ5vxAPH2fTV993Suz2nkw/s5/8/Yf+BHX0orkPs/xAm4a/wBKgH+yhJqN/DPiW7GL/wAVTbD1SJcCjnfSILA018daK9Lv8kdXd3lpaKWurqGEDrvcCvLvifrmnahe240+4Fx5SFXKg4Bz611ln4B0ZGD3st1fN/01kO0/UVg/FCwsrH+zobO1igi2N8qLgda1o+0lNW0/EyxLwFGm271P/JV+r/I80LAfd60ixyzErHG8jY6KpJ/Srs1mrEmM7T6dq6L4UxOnjSNZE48l+oyO1dypqknLd9zxMRjqmMcabtGC2itEv835vU+gfD6snwZRWVlYaNLkEYI/dtXyjBczKi/Nngda+xL8f8UDfKo/5hs+B/2zavjZQVUAjBAr5/h3WVf/ABf5hj1y8i8j0z4F2FtfeKP7Surqa1WzYH910ckcA+2a9s8Z+PdC8P2wW4knmeUYHlRFlT3Y9AP1rxf4Hf6jVP8AfT+VejyRxyIUkjR1PUMMiu/EUIuo7aHp4XFOpCDxF5JK2+tvXUoadrmkagga01C3kz234P5Grt2gksp1PKtEwP0INYOp+C/D985kFobaUnJeBtpJ96zJPBt9ZxyNpfiS9hG0na/PbpUNzW6O50MFUXuVXHykv1X+R5tKoSV0XorED86bTJVuFlcGRWIY5JHU5pB5/wDsGvJaPnnlUX8NeD+bX5pGz4Q/5GnTP+vpP517XXhOgf2h/bdl9jEP2nzl8rf93dnjNekfZ/iBN96+0qAeyMTXbhJWi9D0sDlvJB3rQ/8AAr/kjr8Zrok+IU+kaJFYmS1hMKkebK/OPpXlT+GfE12MX/iqYIeqRLgVNaeAdHRw97NdXzeksh2n8K6lOfRHc8Hg1/FrX8opv8XY0PE3xMS9nMcU93rFznAjhB2A+/b9DWGNH8QeKHWXX5fsFgDuW0iPzN/vV19hp1hYRiOzs4YFHQItWaORy+JlRxtLDq2FhZ/zPV/Lov61IbK0t7Ozjs7WNYoY12qo7Vw3jZW11vG2pN88Oj6JHaxnsGyvT8Q3513Go3Mdnp9xdyttSKNnJ+grB0zTWh/Zz8UalcJifVI5Lhyeu3eoA/TP4152YyUHT73S+9oMPJww1es92uX79X+C/E+X/Dsoi1OLd91wUP40y/sZ4rydI4JXRGPzKhIx9aYIXidJI+dpDY78V9B/C57OX4b+IHaKN5REzncoJAKHFenWn7Kalbc4cPBYnL5R605X+UlZ/ikfOdGSOhIqxdw7WZ0HGTkelVq6jxTsdM0O51iTTba0j2hrYNLIeijceTXo7NpPgvQcDGew/jmf/P5Vk+FNXs9E8DRXl0RvxhEH3nOBxXHTS6r4v14AAs7H5VH3YlqYbFS3CeXVvF+ugBSzscKo+7Etem6Jpem+FtIdmdVwu6adurH/AD2o0TS9O8LaO7M6rtG6edurH/PavN/GniefXbny490VlGfkTP3vc1RIvjTxPPrlyYo8x2SH5E/ve5rnKKKBBRRRQAUUUUAel6Z/x62v+4n9K7+SRUVnYjCgk/hXA6P/AKqy/wC2f9K9o+J9xDp3hC+kjhjEsuIY8KMlmPavEq7nu4Kk61SNNdWkV/2bgZ5PEGosPmnljwfYbsVl+Po49O+OCMqhUv44mY+r56/oK9D+EelppHhi3tAoD+SjSHHJY5PP51yfx8gNveaXr0SjfY3EZdv9knv+OPzrxqb/ANvl6f5HuQqxr42pBbTTivu938kfSsX+qT/dFOrybTfEWrNb2/k6hL5RVdo9q9Zr62jXVW9kfGVqEqT1CiiitzEK8Z+If/I43/1T/wBAFezV4z8Q/wDkcb/6p/6AKiex04b4mYI615d4kXbrd4AMfvDXqFeZ+LV2+IL0AYG/j8qvDfEzLNP4a9T6H8HW0F54a0u0uokmt5rdI5Y3GQ6ngg+xFdL4N8DeFfB5mk0DSYLOSYASSDlio6Lk9h6Vx2k38mleAbfVIkR5LSw89Vf7pKqSAcduK818M/EDxZ4u1i9k1PUGS0SMbYIfkjUk9OOvHrXgZEnau/7xvXXM4R8j2P4p3mk3NgkC3Ub30L5VUOcA9QcdK+WPFPjHWvCnxZn1XRLpoJrYRxuufllTaGKsO45r2AdRXzj49n+0eMtVl/6eCv8A3yAP6V9dlMVUqy5lpY8zOm6OHiovW59lfD7x34e+LXg2+00P9mu5rV7e+tCcOgdSpZfUc9a8v+Inw88VWOjaVpd5Lea7LYK8Hh+TSrNllhl/5ZvPKBhVX6+9fPPh3W9U8PavDq2j3klpeQnKSIf0PqPavsz4IfF7S/HtklheFLPXok/ewE4EuOrJ/hV4zAul70NY/kcuCx6q+5PSX5noek2902gWttrHlz3X2dFuuMqz4+b9a8V+IXhfTNP194tKuQsbfM8PURH0r0/x54nTSLY2dqwa9kHH/TMep968mkd5JGkkYs7ElmJySa8eok9D3sNGS94wb7TWt9LvnMobNrIvA/2a9G/ZdsfBUfw9gvPC8ateN8moSSYM4lHUN6D07Vx2pLu065X1hcfoa8N+EvxA1D4d+Mv7Rt8y2UkhjvbbPEkeeo9x1Fc7nGlNNrQ6KsHUjZM+vPHXxAurPxPF4L8JadHqniWWLzmSdvLgt4/77t3+gqr4J1aT4meE79NY06Cx1jTbt7SVoW3xiRT1Ru6mqfxP8LWfxS8DW3ibwffeRrUcBk0+8hfYzKR80TEc4PI9jXVfB+zSy+H2mQL4ebQJBH++s2HKv/ESTycnnJrt0aPNTcWeYajZ3Gn3stpdRlJY2wR/WvIfi5/yMsP/AF7L/wChNX1R8UNNsJtM+3yTJBdR8Jn/AJaD+7Xzd8WNDMlpP4i+0qq2luAYSOX+bsfxrfBVYYerz1HZWOTPMNWx+B9nRjeV1p/w5xfhvxJrfhu9W90XUZ7SVTn5W+VvYjoRX1f4a1prrw9Ya/q0iKWgW5uXC4UAcscemBXxO2sJtP7lunrX134aT+0PhDbRKfL+06Q6AnnbuRhmvG4nx2Exao+xldqWuj2OPhzLMwwDqLEQaTWiunr8mekeB9O8L2OktN4ThsksLyQ3Ba1IKOzdTxWH8VtYMNpHpMLYeb5pcdl7D8a8x8FPqHhbTLe0s7590Q+Zl4Vvwq7qt/calfSXl026WQ846D2FejUkrtR2Pew1GdoyqKztqvM0/AzbfEUXOMowr1bSBFliT+87A+leR+D22+IrX3bFemKSpBBwR3rlcuWdzWsrmrrx1JdFvDoywtqPkt9mExwnmY+XPtmuV+HXjmTXJptB8RaedF8TWi5uLKT7si9PMiJ++h9q6S21ONdsdywUsdqt2P1pviHw/pWvxwDUIC7QSrLFJG5R1KsGADDnGRyOhrqjNSWhxSi1uYnjHwZDqW6804LBddWXosn+Bry+7t5rW5e3uI2jljO1lYcg17L4v12HQtMMmQ1w42wp6n1+leNXU811cSXE7l5ZGLMx7mona524dya12IqKKKg6Argvi8p2ae3bLCu9rh/i6v8AoFg/P+uYf+O1rQ+NGGK/hM85rpvhmf8Aiqox6wv/AErma6b4Z/8AI1x/9cX/AKV3VPgZ5dD+JH1Poq8/5EW8/wCwdN/6LavkC+j+VJB6YNfX95/yIt5/2Dpv/RbV8kzpvtce2a+b4c3r/wCL/M7cx3ieg/BFSNO1BuxlX+Veh1wXwVTGg3cmPvT4z+Fd7Xq1vjZ0YZfukFIyhlKt0IINLRWZsU9M+EPh/ULQXbX98hkYkqMYHNS3PwY8Ow28kp1K/wDlUntXceDJN2mun9x6ueIJNmlyerED9a8ypBRk9CI4Si/snjkHgfSdHvItQW4uZWtz5iq2MZHStb+17b+7J+VWdau7fM1u0mHKbeRWDDbec+yOVCcZrppe7BcprGjCDairI2INTgmlWNVfLHAyKu1zln5cVzHI0y4U5OK2o7+1kcIkmWPTitoSvuEl2LNFFFaEnL/FC6MHhZ7dTh7qRYfqCea7Tx5YrpvwE1KxQYEWkqpHv8uf1rg/Gq/bvFXh/Szyhm86Qf7IP/1q9K+Lf/JHte/7Bw/mtfP5s269L/Ev0PTxD5MDTp9+aT/JfkfEY6V6T8LtZWz0PXLWVwEn06VVBOMuBkfpmvNh0rotI3w+HZbmPqWkjz9Vr38Sk4r1POyV81SpS/mhL70rr8Uc8eSaz5l2SstaFVb1eVb8K6TyEdS2m3mqTaVYWqlmNqpPovJyTXpeiaXp3hbR2Z3Vdq7p5m6saqeDntbDw0L26KRBI1DSHrt2g4/WuC8Z+Jp9cujHEWjskPyJ/e9zUU/hRU/iDxp4mn1y68uItHZRn5E/ve5rnaKKsgKKKKACiiigAooooA9M0fiGyJ4GI/6V6d8R7601TxJoOjRXULweebichwVwPu5/I15hpf8Ax62v+4n9K6G0X7V4yupuq20YX8T/AJNeJV3PqMo92U6v8sW/nsvxZ9B+Ebq1uDcC2uIpQoXOxgcda5v4uLZXmk6lp01xCkr2wZUZwDuHK8fUUfB37+p/SP8A9mrO+I0ay+OEif7rpEp+hJrxaf8Av8vT/IwpVHSmpro7k/w4vDfeEdKmLb3Eaxuf9peDX0LXkX7Nkz2dr4k8MSfKdL1Nwieityf1r12vqsJT5Y3vucec2WLnFLS916PVBRRRXWeUFeM/EP8A5HG/+qf+gCvZq8Z+If8AyON/9U/9AFRPY6cN8TMEda8w8US+drt4/bfj9K9NdtqM3oCa8lvpPNup5P7zsf1rTDLVswzSXuRie+3P/JJLj/sDyf8Aos15b8KbcR6HPcd5Zv0HFepXP/JJLj/sDyf+izXA+A4fI8K2Yxgupc/jXz+SO0K3+I7mrzg/I3Gbapb0BNfMWuyedrd9L133Mjfmxr6auQ7W0qxjLlCFHvivD4Phf461CaWS20J5F3nLedGOp92r6/KatOm5uckttzxs9pVaqgoRb32RxNWNNvrzTb+G/sLiS2uoHDxSxthlYdxXa3Hwh8dW6hrjS441Jxkzr/SoB8L/ABVu2mO0X6zf/Wr2fruGenOvvPAWX4rf2b+49h8Laleav4estS1C4e4up4g0sj9Wbua0qzPCdhPpfhyxsLnZ50MQV9hyM1p18lVtzyttc+6opqnFS3sjE8d6mukeEtQvCcMIiiD1ZuB/WvmnJJyxyT1PrXt/x4kK+FLePdgNdDI9cA/414hXmYqV52N47Hrf7O3xck8B67Fous3Dnw9fSbX3HItnPRx6D1r688Q+KtN0qwWdJkuZJUDQojZ3A9Dn0r82NZ+7H+NfWXhtGi8O6bC5YmO1jX5jkgAdK2wlWVnExq0Iyakb2t6te6xdm5vJSx/hUfdUegFeWfHTWBa+HotKjbEl4+X/ANxf8T/KvRK8Q+PcjHxXbR/wraKR+LNU4+bjRdup04aC50jza7k8u2kf/ZOK+2Ph7/ySbSP+wZ/Q18R6kN1vt7E819u/D/8A5JRpP/YM/oa+WxC0h6nVX3OeorL1W9nt7kRxlcbc8iqn9qXfqn5V9i6iTscKizufBds1x4ggYcCHMh/CvSK4P4Rs1xbXl1LjeGCAgdq7ys5O7Oar8VjD8TXTRQSbf+WaE/jWP4T8aXWmf6Pfb7m17c/On09queL2xbXX0ArhanDPWUvMtQUo2Zo+IdWuNZ1J7y4OM8Ig6KvpWdRRXSaJJKyCiiigArjvizHu0K2f+5cZ/MYrsa5n4mx7/Ccr45SVD+bAVpSfvoyrq9OR5PXS/DUgeKos/wDPJ/6VzVdF8Ov+Rqg/3H/lXoVPhZ5NH+JE+i5jnwFdk8/8S6b/ANAavlFPuL9K+qwc/Dy5PX/iXT/+gNXykTiDP+z/AEr5vhz4q/8Ai/zO3MN4+h6d8Ho9nhZ27POxrs65f4WR+X4LtSRy7M3611FenU+NnTQVqcQoopVXcwX1IFQana+FLZrfSlZusp3fhUXiq4xHHbj13NWzbqEgjQcAIB+lct4ok3X0v+yuK82b5n6m9M4K8s7ye6lmMX32J60/TrK5iud8keBtI61s0V3KmkZuTOdGm3mP9V+tTWVjdR3UbvHhQck5rcooVNBzMWkoorQg5CQ/aPivCp5FrZ4Htnn+tek/Fv8A5I9rv/YOH81rzWL938WZN3HnWa7PwAFelfFv/kj2u/8AYOH81r5/NP4tH/F+qPTzHSNNf3F+v6nxGOldxo1nG/wxmvAzGQal5ZXsFMbHP5iuHHSu40S4WP4Y3EO7DNqQbHsI3/qRX0GK/hnm5D/v0Pn+TOIPU1FcjMYH+0KlPU/WmOpeWGNerSAfrW/Q8nqdL4turiOG004SEW4hWQoOhbpn9K52t/xwManCB0EA/wDQjWBUUfgRdX42FFFFaGYUUUUAFFFFABRRRQB6XpWPs9pnptTP6V6J8O9Bt9SbWb2SaVVN+8UZGMlV6E8e9ec6fxY25/6Zr/KvXvg583hWRzyzXUhY+pzXiVdz6fB6YOs/8K/N/od74B0mHS2vPJkkfzAmd+OMZ9PrVPxbotvd+I1vnllV1VMKMY4P0rd8NdZ/+A/1qtr/APyET/uCvFp/7/L0/wAjl6HLfDzxH/ZHxn8VeZbF/wC0FWcorYAYkcivoOvl60O344T7ed1hHu9uK+oa+owU5STTFnkEqlOS6wj+SQUUUV2nhhXjPxD/AORxv/qn/oAr2avGfiH/AMjjf/VP/QBUT2OnDfEznpl3QuvqpH6V5JcrtmlX0Yj9a9e68V5RrCeXqV0nTEhrTDPVnPmi0iz3i5/5JJcf9geT/wBFmuU0q3+y6Za23/PKJV/IV22nxLP8O4oW+7JpxU/Qqa5Kvm8mf8Vf3j1EtIvyCuo8DyfJcR98g1y9dD4IP+mTj1QV61b4GWtzR8Vt+6hT1YmuPkOXJ966jxbJ+/jX+6hP5/8A6q5Y9axwy1bNKnwoSiiiusxPN/j7/wAi9Y/9fB/lXi1eyftA/wDIG0z/AK7v/IV43XnYn+IaR2M7VgZJIo16nI/Ovr60UJaQoowBGoH5V8lwR+f4j06DjD3Ea8+7AV9boMIo9AK0wn2gnsha8Z+P9tt1qwu/+ekBT8if8a9mryf9oLbt0s5+b5+Pbinj1egy8M/3iPG73nYvrX3J4aiNl8M7KIDmLS84/wCAE18RW6CbWLKFsbXmjU592Ar7sgiH/CIiAH5fsRTI9NhFfNYqPuQfmb1n7x5Lc3S3EnmSQ/NjHDUsqwJBFIIiS4ORv96v/wBjRf8APZ/yFSSaZG8UcZlcBM4OOtfV8kjlujtfg46tpt6qptAlHfPau8rjvhZaLa6ZdKrlsy55HsK7GoascdR+8zkvGLYtZ+erAVxVdf4yb/RpPeQVyFGF+F+ptDYKKKK6SgooooAKxPHUfmeFL5cZwm78ua26o+IIvP0O9i/vQt/Kqi7SRNRXi0eH10Xw7/5GmH/rm/8AKudrf+H7bfE8B6/I/wDKvSqfCzxaXxo+h7Vt3w1nI6f2dcf+gvXynMdtoT/s19U6ed3wwlb1024P/jr18q3Cs9sI1+8+FH1NfN8O/FiP8X+Z24/7Hoe2eBoTb+D9LjIw32dSw9zWzUVlEsFnBCgwqRqoH4VLXot3dzuirRSClzjn0pKKQz0exkEtnDIP4kH8q47XpN93cN6vxXV6M2NHtnPaPJritQbJPqWJrzor94l5m8fhbKdFFFeiYBRRRQAUUUUAcd49WbTNV03xNBGXW1Pl3AH/ADzJrv8A4ialY6t8EdavNPuI54X00HKnOOV4PoaoSRxzRtFKiujDDKwyCKw/iV8N9L0rwTqmu6RfXlmkdr5stmHzFL0yPYc14maQj7Wk27a/5HqQqUMRQVOtLllFNJ2urdn10PltAWwFBJ9BXSWtndx+FLyV2Kww4Yj0ZmC4+vNZY1PYv7m1ijPrXRad9pn+GWuXLrvQXEKs2ehLDt+FezUc5WurK6OGjPC4OMnRnzzaaTtZK6131bscbU2lR+drthH2MwJ+lQ1oeFY/M8SwZ6IjN+Nbzdos8WCvJF/xz/yFIf8ArgP/AEI1gV03jGzurjUYngtppVEIBKISAcmsT+zNR/58Lr/v0aijJci1Lqp87KlFW/7M1H/nwuv+/Ro/szUf+fC6/wC/RrTmXcz5X2KlFW/7M1H/AJ8Lr/v0aP7M1H/nwuv+/Ro5l3DlfYqUVb/szUf+fC6/79Gj+zNR/wCfC6/79GjmXcOV9ipRVv8AszUf+fC6/wC/Ro/szUf+fC6/79GjmXcOV9jv9N5tLYf7CfyFdd4K1S+09tQ0yG7kiMdwz7RjkHvXJ6arCC1QqQ2EGD68V3WteC/EC341TTYFW5Xh4zIuJB+deNV3PpstlCUJ0Ju3MlZ9Lra/4o9N+FN9d3j6h9quHl2iPbu7Z3VQ8d6heW/jOO3junjgKxblyMcnmuW8EeMNS8MyXkepeFNVaSXaP3URI4z3/GqviqXxV421tpbPQbrSLaREjeW6GxgvcjPXr2ryYUprGObWlv8AI3WWVvttRXe6t+evyO2+GWm6Z4t+MnifWbdZF062iSCEo2ASPQ17/XD/AAs0Pwz4L8MppunalDKZm82WWVwHdj6j26V3FfVYeCjHzPDzXERr1/3d+WKSV+yVvxCiiitzzQrxn4h/8jjf/VP/AEAVpfE/4yWvgfxMdEl0GW9YRLJ5q3SoOR0wVNeReI/i5aatrNxqC6JLCJdvyG6U4woHXb7U5UpyWiNaFWEJPmZ1NzKILaWYjIjQtj6DNfN9zr+pX+r3l1cfaVeWVirBGxjsK9X/AOFlWnfSHI7g3C4P6V0lv8dLOC3jhTw1KFRQoC3qqB9BtrzcdRxPIo06bl6NKx1xxVLmT5tPS53Vldy2vwlW+CeZLDpDShSD8xCE4rhPDHiTTtejxbM8dyozJA6kMv8AiKVvjxAOV8LTE/8AYQUf+yVVPxqt5rkzyaHfR85CDUVK/wDoFeNgcLmWEcrUea/95I2+s4aWjnb5P7joqxYfH8Phnxytjexk6e8IWZwOUYnIb6Yrn5fibbSSvI2kMpdixC3AwCTnjjpXH+MdYt9e1JL2K3+zMIwjBpA27B69q+vwuHjKVq60aPFzbFVlQUsG7yTXzR9J6rcabqumf2vY39tNBHGWd1cEbBySfpXGz6lp0d3Bb/bIS1wpeH5hhwPQ/jXhNrcXFoZPst48HmKUfy5Cu5SMEHHUU/zoTp8NqYYlaOQuZlY7yD/D1xj8KunlVGEm1U09DhefY+UVH6tr6/1/wD3yivMvD3jqPS9NW1uLe4vHBP7x7gZx6citH/hZVr/0CZP/AAIX/CuaWHmm0tT3aWMhKClLR9uxlftAk/2fpa9vMc/oK8eZlUckCvSPiTraeLrS1hhi+xGB2Yszh92cccYx0rgpvD9wFyl1FI3oeK5pYCc5czKljYLSOpnWlw9tr9lqEUYlNtNHKE/vlWBx+le76F8WfDt8RHqCTabNnBEgyoP1ryTw5BrOga5Z6zp8lmLq0kEsRkw67h6gjBqW7sbjWNbvdU1qVBNdyGZzbFVG8nnjGAPpW1PCciskYvGSb3PpCwvLS/tkurK4iuIH+7JG2VNfNnxq8Xz3HxLvNPn3ixsQsMa+jbQWb8SfyArvPAXiS18K6VJp6wT3cbSF1LTKNvt0rj/Hel6X4m8S6lr3k+RPdRRCFC4IjlTALNj7wIAGKJ4R1IuMlozR4xJKUXqcnIjz2/2q3SVgo3BlQ9ufSvt7wXdPP8LdNu7mQlm0zc7MMdFPJ/KvN9H+OH9naPZ2H/CLbzbQJEWiv1jQlQBkLsOBx61Yi+PStIPN8IyIvdhqaN/7JXylfLcfNpKk7J90dksfRnu/zN0KxAO1sfSkrn5vjRZSXXn/ANjX68g7Bfrt/wDQax7n4n2s1xJN/Y7pvYttFwuBnt0r6DC/XKjarUeX5p3Mp4jDpLlnf5M9z+Hf/IKnP/TX+gq54n8XeF/DNv5+v69YaenYSzAFvYDvXyf4+8ZeLtaEdt4c8QXGgWO397FFJ8zt671wRxivI9U8Ga1c3huJNSivppOZJppDvJ9yck11fVJN3ZxzxEXLQ+jfHn7RPgk3YtNMhvtRjEuZJ40wqr6jPWr3hb4h+EfEZSPT9XhW4bpBKdjk+gB6186eH9K8TaJpmr6faro0kWq24gnaZVd0UMGyhIypyOopdH8EQwLBc3F/NDeROHBidSqsDkEZFXDC8kbRQRxbR9aUVwMXxJt1jVW0uRmAAJ+0Lyfyp3/CyrX/AKBMn/gQv+FL2FTsdP1ql3O8org/+FlWv/QJk/8AAhf8KP8AhZVr/wBAmT/wIX/Cj2FTsH1ql3O8rP8AEOp6bpGkXF7qt1HbWqqQzOeuewHc1yf/AAsq1/6BMn/gQv8AhXnnjrUNY13x1pHijStShsDpLLJbW1xH58YkH8RU/KfypqhPsTPF00tGZbeJvDrMWXWLRQTkBpMEfUdq6b4d6lZXXiSA2k63HyP/AKsEj7p/wry/xB4H1DXPEV7rt/rdl9rvbl7mYRWmxN7NuOFBwBk9K+m/DvxotdL0Cw0yTw+zta26Qkw3QRDtUDIXacDjpmjF1sVCK9lS57+aX5nDSjS5rylY9D0uRf8AhU7zN8q/2VOxyOg2Oa+UrDWtF/tDT2mv41iWeNnbBOAD9K95/wCF7WWc/wDCOT5/6/V/+JqpP8arWW6E/wDZGoJyDsXUF28f8BrwMDDMsG6jWHvzu/xJWO2bw9Zx5qlreTNq1mhuLeOe3lSWJ1BR0OQRUleTeFPGH9jy6vJc2cUi3+oSXcUNs3lR26uc7FU54rd/4WVa/wDQJk/8CF/wr3lQqNK6KWKpdzvKivZvItJZv7ikj61xH/CyrX/oEyf+BC/4VHP8RrSaB4m0qTDqV/4+F/wqZ0KvK+VamlLFUFOPM9L6+h6v4B8X2V7YR6fqEyQXaDaNxwsg9ven+IbSGzmRGnTZMSYst1PpXhC+IbMj5kce2QasN4pt5IUhlmuGijOURjlV+gzxXzlOOY00lKi211Pq69PJq1RzpYlRT6f5Xseow3EMzOscisyHaw7g1JXld74stPtxuLG3aFT/AArJjH4nJrWT4k2yoqnS5CQMZ+0Dn9K9rCLFVE/a07fr8t0eDj5YGjJewrc3yenz2fyO+org/wDhZVr/ANAmT/wIX/Cj/hZVr/0CZP8AwIX/AArr9hU7Hn/WqXc7yiuD/wCFlWv/AECZP/Ahf8KVPiZaq6t/ZMhwc4+0D/Cj2FTsH1ql/Md6FbI+VvyrX+LrBfg5rzNwBpwzx7rXJL8drIKB/wAI5P8Aher/APE0o+O1kDkeHJ8/9fq//E187jMNmGJlCXsLcrv8SL+s0LNc35nyV9qgC5LkDH9xv8K6/SNasE+E2tWv2iMmW9gIbPGBk9fwr3e5+M9tI8si6PeMWBxHLfK0RyMYZdvK+orwm48I+EprGe2aPUv9JuDcyr9qUIJPmxtUKMAbiMc17OHli6yftqPLa1tU7nJL2MPgnfTs0cV/amm/8/1v/wB91v8Aw7urG78RSQxXtu07x4iTeBu9cVgv8L2LnbrkIXPAMJ4H50R/DGaORZE16EMpBBEJ4P8A31XbOhKUWjCFWMZJntP9kah/zw/8eo/sjUP+eH60+w8TLb2NvBNCZpI4lR5PNA3kDBP41N/wlkP/AD5t/wB/R/hXmfVMT/L+X+Z6H1ih/MVv7I1D/nh+tH9kah/zw/WrP/CWQ/8APm3/AH9H+FH/AAlkP/Pm3/f0f4UfVMT/AC/l/mH1ih/MVv7I1D/nh+tH9kah/wA8P1qz/wAJZD/z5t/39H+FH/CWQ/8APm3/AH9H+FH1TE/y/l/mH1ih/MVv7I1D/nh+tH9kah/zw/WrP/CWQ/8APm3/AH9H+FH/AAlkP/Pm3/f0f4UfVMT/AC/l/mH1ih/MVv7I1D/nh+tH9kah/wA8P1qz/wAJZD/z5t/39H+FH/CWQ/8APm3/AH9H+FH1TE/y/l/mH1ih/MQwaTfrPGzQ4AdSee2a9p/t7S2YlZ2bnshNeOf8JZD/AM+bf9/R/hXUeDPita+H7WeB9Fe481w25blVI4xg8HI/+vWNbC4tRvGnd+qKjiqC+0eueDb62vWufIZm2Bc5Ujrmna8D/aJwD9wdq4D/AIXtY/8AQuT/APgav/xNV7343WVzEI/7Bu4sHOUvlB/9BryVl+Yxrut7HfpzL/M0ji6DdnL8GdzF/rV/3hXs9fNUHxQ8MXFvZh479LksPMHkhsEnpuBG764r6VHSvey+NVQbqQcW+jOXF1ITa5HcKKKK9A4zPv8ARNFv5/tF9pGn3U2MeZNbI7Y9MkZqD/hF/DP/AELukf8AgFH/AIV5boHjfxRrPja+09vFSWUUGtXNmlmvgu8nj8qKZkGb1X8kEqoJJ4BOCK62D4n6Y903n6JrVrYSRzyWOoyxx+RfeT98R7XLqeOPMVN3bNF7JMco2k49UdL/AMIv4Z/6F3SP/AKP/Cj/AIRfwz/0Lukf+AUf+FZukeNrG88Cv4yvtPvtH0wQC5U3pi3PCVDLJhHYAHOPmIPHIA5rC8LfGDw34isb26sbedjYtE1zFDeWl00cDtjz2MEzqEHVgTuA52027Nxe6/r+vn2J0tc6/wD4Rfwz/wBC7pH/AIBR/wCFH/CL+Gf+hd0j/wAAo/8ACuU1/wCK+k6ToMOuNouqT2NxcNHbzmW1t4pYwOJvNnmjjVGPChmDk9FqtffGXw/BZRX9po+t6jZnTItWnntoottvaydJG3SAtjuqbm44BFJNvb+tL/kO39f1/TO0/wCEX8M/9C7pH/gFH/hR/wAIv4Z/6F3SP/AKP/CuWl+KVjDDKtz4Z8QwXyajFYJYtFCZpGlTfG42yFAjD1YEdwKz7n4qRprul/aLWXR7BYNROsW1+ifaLWW3+zlV3I7JgrMDkFgQy8jBo5vP+rX/AA69tLgo32/r+radzuf+EX8M/wDQu6R/4BR/4Uf8Iv4Z/wChd0j/AMAo/wDCsD4afEzw/wCPZry30pliubVVkaE3trcM0bZ2vm3lkAHHRiGHcV0Wra7Z6XqumafdrKp1GR44ZcDy1ZI2chjnIyqtjjtTba3ErPYZ/wAIv4Z/6F3SP/AKP/Cj/hF/DP8A0Lukf+AUf+FcR4k+NPh3QtN03UrrS9U+w6hD9oiuJHtrdPLzwR58qeYxHzbI9z46qKZF8R5IfGGoWOpXUcOn2+pPBA0dpu3RLaxTfOxcFTmQ4IU54GB1pXet+n+aX5sLbf10b/T8juv+EX8M/wDQu6R/4BR/4Uf8Iv4Z/wChd0j/AMAo/wDCuIsvifdTatezXfhjW9P0220dNQjgntke5uFZ2CunlyMApA5D7WXBLBRzVS2+Mcet22lTeG9Curp5tcj029hW7s5zEjxO+8SRTtGfu9A5I2nI5GRNv+vO35jaWv8AXTm/I9C/4Rfwz/0Lukf+AUf+FH/CL+Gf+hd0j/wCj/wrjLH4oRjSIZYdH1vxDdss888djawxPBBG+0uyvNg4JACqzO3ZaluPi5oo1OW3stF1vULG3+ytd6lBHELe3S4AKOwaQORg8hVYj0oi+ZJr+v6/R9hSSi2n0/r/AC+9dzrv+EX8M/8AQu6R/wCAUf8AhR/wi/hn/oXdI/8AAKP/AAql418Ww+GWsoF0jU9Yvb1n8m009IzIVQbnb53UYA7ZyewNcrrvxMu9F8d6jp8uhajqOj2+l2d6ZLSFFkthLJIpeXzZFJHyr8qgsMHIp38/6/rr5PsNry/rY7f/AIRfwz/0Lukf+AUf+FH/AAi/hn/oXdI/8Ao/8K5C7+Mng+28br4Xa4TzPOS3kuWvbVFjldQyoYWlE7ZDL8yxlfm68HDdY+JUk3gfxPrej6PqFn/ZljNc2N5fwr9mu9m4Fl2uTgMvKvsbHIGOaNbX/r+uvprsKy/rzOx/4Rfwz/0Lukf+AUf+FH/CL+Gf+hd0j/wCj/wrjdR+L2h6f4ftNXayu722vJY7ezuYZraGC9lKFn8qSaVE2rg/MxUMeELGtbxz4wvNK+E1/wCMdL0m7N1FYfaYrS5jEciHGcSKzDGO+D9M03dFQjzuMV1Nz/hF/DP/AELukf8AgFH/AIUf8Iv4Z/6F3SP/AACj/wAK4Gx+Kd/beKdbsta8N6mmnWdzZxGeJISLATW0UhE5807jvdh+6DgDH1N+9+LejweMLnwp/Zd+moKJVtjJNbKbiRELYWEy+eFO1gHaNUOPvYIJlysr/wBd/wBRJJ/h+Ox1/wDwi/hn/oXdI/8AAKP/AAo/4Rfwz/0Lukf+AUf+FZHg3xZeaj8NYvFWr6PfW0/kySyWkcaySttJwEWNmBzjjn64qL4Z/EbRvHp1CPTbeW2nsGQTxPdW0+AwOPmt5ZEB4OVJDDuKp3UnHsSmnFS6M3P+EX8M/wDQu6R/4BR/4Uf8Iv4Z/wChd0j/AMAo/wDCubtPidps+r/ZX0PWrew/tGTTTqkscQthcoxTZ/rPM+ZhgNs288kVBafFjR3ie6vtF1vTbGSykvtPu7mKLy9QgQZLxBHZl+Uq2JQhww464m+l+n9P8tfTXYvl1sdX/wAIv4Z/6F3SP/AKP/Cj/hF/DP8A0Lukf+AUf+FcDL8WLrUNK8PanoXhfU3h1LW47Bw8trKHiaN2LxyxztE/K/wucbGBAOAeh034i6ZeWmq6hJpOsWmm2CM8V7NApivQrmNvK2sTkONu1wpOQQCOabvG9+n9f18+zFbRPv8A5tfobv8Awi/hn/oXdI/8Ao/8KP8AhF/DP/Qu6R/4BR/4Vy6/FCzSC5jvfDPiCx1WMw/Z9Kljha4uxKcRmIpK0Zyeu5xt6ttrF/4XJaaTpd7feJbCWyuDqstjaafNPbW0w2Alg8ksywZABORJg/w5pc2tv66f569uoW/r73+nz6HoX/CL+Gf+hd0j/wAAo/8ACj/hF/DP/Qu6R/4BR/4Vz+reOre7+EV9438NSwzCOzeaHcVlVXXhlJRirYII+ViDjgkc1TsfihB/Yd/d6j4a160vbC2guXtXjh33EUudkqESFEQlW/1jIVx8wHFDbTkn0t+N/wDIEk0n3v8Ahb/M6z/hF/DP/Qu6R/4BR/4Uf8Iv4Z/6F3SP/AKP/CuEX44eF5PC0GuW9ldTtNqR0xbWO+scmcIHwJvtH2dvlK4CykknAGQQOi8ceK7nS/hhdeK9OtZoJo4o5Vgu7dg65dVKsnXOCenXjGaJNxTb6f5X/IStdLubP/CL+Gf+hd0j/wAAo/8ACj/hF/DP/Qu6R/4BR/4Vx938XNH0vRry68QaTqWi3tq0KfYb6W1ieYyjKFZDN5IB/wBqRcd8VVvPjl4Nt/DdjrCyLNJeTSQraDUrFWV4/vgzPOIDj/ZkOe2aObz/AK/rft1D+v6/Tv0O6/4Rfwz/ANC7pH/gFH/hR/wi/hn/AKF3SP8AwCj/AMK4y4+MWiN5LaRous65C2nR6lNNYfZ2jggd2TLM0qhiGRgQm7pxmuk8b+OND8JeFYvEWozA21w0aWy+bHCZncblUPKyIvAJy7KOOucCm20NK9rdf+H/ACL/APwi/hn/AKF3SP8AwCj/AMKP+EX8M/8AQu6R/wCAUf8AhXGWfxj0PUtO0+bQ9H1TWr2+mmt1sdPmtJnSSJQzq0om8n7rBsiQjtnPFQQ/Fu2bWFvpdNu7fwt/wj76s9/KI18sq4BVh5m4Y5XhTyRzjJo11/ro3+SE7JX/AK3sd1/wi/hn/oXdI/8AAKP/AAo/4Rfwz/0Lukf+AUf+FcNpnxt8M6hpMt3a2V3cXSXkFoLC1vLK6mZpmCxndDO8YBJA5cEdxU158Z/Clj4si8OX6tZ3W6OK6M9/ZobSZ1DCJ4zP5rEAjLRo65/iNPW9v6/rb70txNpK52f/AAi/hn/oXdI/8Ao/8KP+EX8M/wDQu6R/4BR/4VyUPxEudS8XaRpunaHqNvpd5dzwDULqKPyrsRZDeVtcuuGBGXRdw5XI5qXxX8RLXwz4l1Kyu4NQvhbwWXlWlpaIXaS4klRMO0g3ZKAYIUL13EE4lNu3mVb4vLf8jqP+EX8M/wDQu6R/4BR/4Uf8Iv4Z/wChd0j/AMAo/wDCqnhPxVH4i0m+u4tI1Gxu7CeS3uLC68oTLKgztyrtGc5GCHx715n4b+L/AIluf7BuLzwjqF0l9oEmoz2dkkHnbllC+YrNMEEe3JAJ3e2eKd99f6s3+hSg2rpHq/8Awi/hn/oXdI/8Ao/8KP8AhF/DP/Qu6R/4BR/4VxGu/HDwTpGq2llNch45oILiWdry1h+zpMoZCYpZUlfKsp/do/XHXIr01WDKGUggjII703zIjTT7zJ/4Rfwz/wBC7pH/AIBR/wCFH/CL+Gf+hd0j/wAAo/8ACteildjsZH/CL+Gf+hd0j/wCj/wo/wCEX8M/9C7pH/gFH/hWvRRdhYyP+EX8M/8AQu6R/wCAUf8AhR/wi/hn/oXdI/8AAKP/AArXoouwsZH/AAi/hn/oXdI/8Ao/8KP+EX8M/wDQu6R/4BR/4Vr0UXYWMj/hF/DP/Qu6R/4BR/4Uf8Iv4Z/6F3SP/AKP/Cteii7Cxkf8Iv4Z/wChd0j/AMAo/wDCj/hF/DP/AELukf8AgFH/AIVr0UXYWMj/AIRfwz/0Lukf+AUf+FH/AAi/hn/oXdI/8Ao/8K16KLsLGR/wi/hn/oXdI/8AAKP/AAo/4Rfwz/0Lukf+AUf+Fa9FF2FjI/4Rfwz/ANC7pH/gFH/hR/wi/hn/AKF3SP8AwCj/AMK16KLsLHFXfwo+Ht1fyX03hm28+R/MYpLIg3eyqwA+gFdrRRQ22FgooopAYvhXw/FoNhfWi3L3KXl/dXrFlA2meVpCox2G7GfauSh+GE5lNtd+Kbu40e2iuI9MsPs6r9lMwIJZwcy7QTtyBit7T/H3h281TVLFZrmEaYrtNcz27R27hGKuY5CNr7WBBweCKzIvix4TOnXt7cLq1j9kWORoLvTpYppI5CRHJGjDLoxBAYcEjFTpJ3/r+uxTbu2+/wDwWbKeErNvh3B4LuLiWW2i0+Oy88fK52KAH9AcqDWFpfw81GPR7rTNW8VyX8V2EgnWLT47dXthndEVU/ecHDP1I4wKtN8TvDUc9zDcRatbNaQLNdGfT5EFvux5aOSPldywCqeWOQKQfE/w7/YU2qPaa3HJFOtudOfTZRfM7Asu2DG8gqrtnHRGPY1Uvebk+u/3/wCb/ESvZW/rT+n+JmXfwtljj0yLRvEX2CHS3kjs4ZdPS5jhtnH+qVWOMjoH6gZFNs/hFZ23hu70NdcumjuNAj0USGFdyogwJOvLe1bFj49t7/4g6f4bsrG8ms77SW1CO9W2fyx8ygKW6DgnOe+B3rK1f4lSab8QdU0m6sZodG0q2jM0zWE7TXVxL/q4rcr8rkkgbfvE9Kd3Bru7/hdf5/P1FH+aPS36W/Qi+I/gXXL7ULXUPDWoPDeTazZXM0pRCLWKGMoXCsRv7fL71I3wmtbuSO51jXLm+vXS8+3TrCsX2iS4EC7woJCbBbx4AyK0U+Kfhh7S1kWHWDdXNzJaiw/s6X7XHKgBKPDjcp2srDI5Ug9KrP8AGDwl9pa3ht9duX3TxReRpUzieaFykkMZA+eQYJ2DnaM9KVkk13v+K1+//LyGm1Zrpp+f/B+5ljw74R8ReHtOuDH4lGpXztBFC39nxQRxwrIN4KKcM5TcC5OemBxitb4i+E4fGfhabRZr640+RyrRXdt/rIWB6r9RkfQmsjUPiv4Ts7Wxul/tS7hu7f7Sz2thJKLaLdtLz4H7oAhgd391vSr3hPxmuveM/EGgx6deRRaUITHdPbusc4dScq54PbGOoz6U2nLR9P0f+f4kqSja3X9V/kYnjT4Wf29eM1lr39mWc+nDT7mD7CkzGIcDynY/uj9B15p0nwo0+41aW+u9UnmSa5aeSHylAO63jhxnt/qw31Natv8AEjw3P4lk0JF1ISJJLCLprJxaySRgl0WXG1mGDwKp6H8WvB+rWlxeRyajaWkViL9Li8sZII7iA/xxMwxJ+HqKjRp9n/nf89SkndW6f5cv/AMtvhTqN5ZX0OteNrzUZZbCKwtpGs0QQxxSb0LKG/eNn7xON1WNP+GN7bYupPFO/Uv7Qtr4zx6bHHHuiWRCoiBwAySEdeCM1reBfHC+K/EOq2MGm3tjb2Vtbyhb61kt7jdIZMho3AIGEUj1zV4+OfDq2NteS3UkUU9xPB+8iZTGYQ5kZwfuKAh+Y8cr/eFU9Pz/ABvf79+/UmNpK69Pwtb7jmF+Ft7Y2MMfh/xhdaVdeVNb3VwLRJfOhlfcVCkgIwPRxkjnirlt8L9NtLPWrKz1G4it9TjtI1QoGMKwIFGD/FnGTmpovip4XbSbvUriPVrOK2aEeXdafJHJMssixo8aEZdCzqNw4+YVz3iz4r31nFPFoemTT30l7Y2kEFxpV1utTcANm4VeQcZwF74B5pwi0uSPkvxVvxf59xys+acvO/4X/T8Ds/HPha616XT77Stck0TVLBnEN0tuswCSAK6lGIGSBwex5qnfeAYbq81a5fV7otqWl22nOXUMyiFmYSE/xM2/mqui/EvSJINHt9QmkuL3UB80tjYzG3hzIUDSFhmNSykAt1xV2b4j+HYvFLeHmj1MzCc2wuRYyG1efZu8pZcbS+ARt9QR2qXaUXHo7/8AB/P8QTd0+3/DmfbfDeaz8UNqNj4ikt9MnnS5urH7FG0kkyoqZWc/MiEImUA7Hnmmw/DW4Hh7XPDk3iq8l0e/tJbSytfs6gWSSksxJz+9bJ4JxgZFU/CvxYs9TtYL7VIn0mEwX0skFzZyxysILhIlKE8HO9RjqXOB0NaQ+LHhVdMmvLiPWbWaG4it2sLjTZY7zfKGMWISNxD7WCnHJGBVttf158v/AAF9yFZK6/rTX9bsj1f4bNNo11pWk67/AGfazSLILaSxS4t8lCkoaJiAyuDnGRtOCKvxeALKL4Uy+AI72VLeWya2NyE5UsOWVScAZPC5wOla/hTxRpXiTRH1awa4ihikeKeO6haGWB0+8kiNypHcGuS1n4r6Yvgi+8SaPbXLLZzwpJHfWskBaOQjEiggFlKnKkcGpbtdPy/4BUXZqS6bfmW/+FdGay1yO+12We51ma1muZltlQB4IYoyVUHADeVnHbdjtVG3+FckfiRNQk8SPJYw6nLqENr9hQSbpVkDq82dzj95xnoFArVj+J3hx9Fn1HyNYWaC6+yPpz6dIt95xUOFEBG8kqysOOhBp9z8TPDEFrpdwx1FxqJYKkdlI724V1RjOoGYgGZVJbHJo3dv61S/RInRf12uv1ZJbeC5B8N7jwbea1JcCSOSNLtYBGyKWLKCoOGx0PPzDPrUfw98E3PhjUb/AFK91tdTu72KKKTy7FLWNRGCF2ohIHBOfWmaX49t5PEesaPfRBZLTUVtLZLZWkkkQxqzSuB91V3ct0AxV3wb480PxXez2mmR6jG8aGWNrqzeFLiMNtLxMww65wMj1ojLmfMt/wDgf5MGlFcv9b/5o5Dwj8PPEEt9eN4m1h10ga/dajbaSsKHdmYvC5mVs46Nsx7GtLRfhldWc8IvPF17eWum2T2WiRLbpE9jGwC5ZwSZW2qgywHT3rN1/wCLz6Xr2oaedBv/ACrHWrfTWdrOXM6yAZMWB+8fJ+VR1HNdBP8AFLwzHoNnqyQ6xcG7mmhSyg06V7tXhYrKGhA3LsI5yOKafu3W3+aX6PfpsPmbm+//AAX/AJPQw9I+EMlhG10PEcY1dtWg1Jrq30yOGJjErrtMAbblhI+WBB5HpWvp3w6kt7HVdIufEl7caLco62NkIlT7GXk80tvBzIwflScYHFT+H/iDaa543i0GwsL97SfSI9RjvDauIwWd1KM3RWG3GDzkMO1YXiP4svpWqaraf2HfeXpur2tg8j2kmJllQsTER9984AUdc1MpbRfXT/23/gA3o/LX/wBu/Utj4Z6lOk99qfjK6u9fUw/YNRWzSNbMRNlQIgdrbujZPzDjioZPhXetZJcf8JdK+vpfyXw1GbT45I90ilZEMBO3aVJwM/L1rY/4Wf4bbQo9Uih1iaR7l7X+z49Pka9WVBl1MGN42ggnjgGtm68W6HbeC5vF8t0w0iG2N1JKEJZUAycqOcj0oslf+t7P8dL9+obtL+u34dO3Qq3XhH7V8Pbjwnc6rPK1zbtFLeGNQxZjlmCDgDPRegGBWT4o+G6az9plh1qS1uJLSzt4ma3WWNGt2kZWZCQHB8w5U8cCp4vif4Zawv7qVNVtpLN0T7LPYSR3FwX/ANWYYyN0oc8KVzkg1DN8V/C0elQ3vk6zJPJNLC2nppsrXkLRgGTzIcbkCqyMSR0dT3p2u2+9v+B+YL4Uumv/AAfyM7/hVt6vh7UtPj8Uo11qV8by6lm0qKS3kLQrEyG3J27cIpHOQc+tbKfD2wi+Fcfw/t7+6htEhSIXC8yDDh8jPTkcen4VRHxS0tPEOr2k9jqI06x02zvYrpLKRhOZ2ZQi8fMxOwKo5J3j+GtK7+I2g2+g2GrLbaxdNflhBY22nSyXny/fzABvG3vkcZHrRN6NS2dvw0X3At1/XmYtx8L7q9tLi41PxVNd6800UttqJskVIBF9xfIyVYEZDZPze1PvvhnfT2GmyxeK2j1yyeRjfSabFJDIsn3k+zn5VUfw88e9TeJ/ix4b03QI9S043eqNcafJfQfZbSSZI41H+smKj90gPBZsY5q2PiVoUF5ZWF4l4biWKJrmeC1eS1tGkUMFllHyxnBB+bsQaIx1aS1/V6fpr36hJ2Sb/q1vyvp26EcHw6ijuL64k1q6mlvNGh0uRnjXPySSOZOO5Mp+XoABV/xZ4Mj1zwrp2kR6g1pdaY8U1leGBZfLljQoGaNvlYFWYFT61W+Ivjg+ENY0G3k0+4vbfUmnV0tYHmuMoqkCONOWJyePamXfxR8LQabY30X9pXiXaNIY7WyeWS2RWKO0ygZjCsrAluhVvSle935pfdqvzY7NNen4bfpYXQfAc1jf6RqV/r02oXtg9w7uLZIY5DKoXCovEagKMAZ5J9ayY/hLbrpttpba9cmyTRpdKnRYFDyh33rIGz8jKwB4yDitDUfiZoel6hcx3lw91GZ7eCzisLOWaaSSWKSRVwMh8rE2Nvpg9RUx+J/hn+zdOvIo9Wna+Z1FtFp8j3EATiRpowN0aqcBi2MZFNytf+ulvyYk9Ld9fuf+aKFv8Nb2azt49a8UvfT2+p2t8jw6fHbRgQOHCeWpxkkctnNWLr4dzN4vudXs/EMlrp17cC5vLD7HG7vIFCnZMfmjUhRlQOueea6FPFeiN4Oi8WfaiNKlt1uI5GQhmRhlcL1yfTrWDN8VPDEGirqVxBrMDtdrZLYyadKLszMMovk43fMORxzTbs7Pdfrb/JfNCsnG3T/h/wDNkWjfDu90/wARWV4/iq6uNJ024mnsNOa2UeT5pJZWkzlwCx25AwOKn8SfDy31rxTPrz6pNC8xscxLECB9llkkHP8AteYQfTFUk+K2l3HiHw/Z2tjqIsdUt72S4uJrKSM2TWzIGWYEfu8Zbdu6fL/eFW7b4qeFZbC+vpRqlpBaRpKGubCSP7REzqgkhBH7xNzp8y8fMvrQrq0u2v3dfwKcbpx6S0f37fedD4d0GPRp9WlS5eb+0r17tgygeWWAG0eo4rlfCXwyGhPaNLr0179j0mXSYc2yx4haTepODyyjAz361cl+J/h2G5tLea11qNpkV5y+myAWSscKbg4/cg8kbscAmq2tfE7T4fElpoWlWt3dSvqsOnzXTWsgtQzOFdEmxtaRecrnjHNLlv7nfT9P1/EPauKcr+b/ADKSfCiW0urZtJ8UTWNsbW2t9QQWMcktyYI1jV0kbmFiiKDtz0r00DAA9K5XxX4y0/w3rHk6ldRx2yWD3kiLBI8rBTj5SPlP+71NaPhHxJYeJ9OkvLGG+tzFKYZre9tmgmicAHDIwBGQQR6gg0+dzu99/wA7fmTZRtHtZfh/kbNFFFIYUUUUAFFFFABRRRQAUUUUAFFFFABRRRQAUUUUAFFFFABRRRQAUUUUAef2fgXVxb63oN5rlu3hm+Fwbe3htttyrzOzsZJCSGClvlCqvHXNZd78N/FGuRTTeJPEmmy3ix29va/Y7FooliikLlnDOxaRs4JBCjAwvWs2D4wa42sWMD+ENReKXVtUsWt4rdGuJ1tidhi/e7c8YbcQMg445re1j4zeE9NtdMmaK9me+tVu3hD28UlpEWK7pRLKnRlcEIXOUPHTIlZxl10t+Nv1+W46kPipvz/yf4pfMseJ/hwmvW3i63ur6Ixa+1s8aPbh1jaHBAdWyHUkDIwOCR71i6P8K9T0rTFu9NPg3Sdet75Lu0Gl6CLWwBWKSL95GjCSQlJpOsnB24A5z3fiHxXp2k+GoNdjhutUiu/LFlBYqry3RcZURhmUElcnkjgGsvV/iJp9jp+nT22ha/ql5fwyXEenWdqv2qOKMgSO6yOoAViqn5iSWGAetJLlulp0f5/pr5Aru3z/AB0JLHw1rkHjHSdfudZtbwwaXJY6h5lrtknZmVw6bSFTlehB4/OqfirwLearqeo6rZapDbXkk1pdWXmQF0jmt8FRIAQWQkcgFTjoRUF58XfDUMNxdW9lq99ZW2m/2lcXdtAhihgKM4LbnBz8pGADzjtzUWsfGLw7o72sWp6bqlpPMnmzQzvbRyWsWcCSQNMMqeo2bjjsOlOW8W9LN29df+D/AEhLT+vT/gf0xND+HusR+JbPxPrWtWdzqpvpry+FtatHAxaGOFEiUsWUBIlzuLEkmrfh3wDcaVHpatqkUv2HVL6/bEJG8XEjuF68Fd+M98dqvr4906fxFc6LY6bqt35ERb7dFArWrSeWsgi37s7yrqeQBz1qHwl45N/8Mz4z1zS73TEiWWSaB4l3hEcjIVXbPA9eoPFJ2s77af1+C+WvUG+a0d7/APB/zf5dDiPEPwX1PU9Li0ttU0G+tRZzQBdU0xrn7JI0kjia2UuFjkPmKGYgnCDBFegeEvDOo6J4m1O/kv7WexvbW2jEQhZZVliUqW3bsFSD0xketZtp8U9Gksbq4utG16wmijhkt7S5tkE16szbYzCFcg7mwPmKkZGcVBefFzQrPSUurrR9bhv2vfsJ0mVII7pZdpcA7pRHyqkghznHGTxV8zV/63ev479upMkpNX/rT/JfMxYPhLqR8c/8JDdahoczRXk1xDeHTmfUZUkyPKluGc5RVbCqgVRgDGOKvn4VyyeEtE0KbWVB0zQl0vzo4eWkVVAlAJIxlfunP1qaT4pRw+IriOfQtVj0WLQk1UXLWwVyWPEe0uCG/h2lfvd8c1q3PxEsodDsr7/hH/EEl/eTSQQ6OttGL0vGcSfKzhML1zvxgjBNTbkVv6urx/z/ADKvztp/19r+vmu5J4G8PeJLDXdT17xRq2m319f28EBSwtHgijERfoHdjzvzyeue2AMu8+GEF74j8SX1xqkn9n6xZSwRWqxjNtLMqLPICcg7hFDgEYG1uu41HrXxZ0yPQBeaJo+saneNZXFzJBFbKWsfKLIftAZ12gSI6/KWyUbGRzUUPxi8P2i6Laavn7beWdtPeSwSwpDaNMoKhlklEmCTxtV/em1f8vvv/kCXIvx/r+tvJmPovwamtdGuLNh4Q02Yy2flyaLoCWnmJBcxzEzMCXd2EQHDBcknb0x0958P7ifxVqWtDVIlS81TTr4ReScqLUAFc55LY69veu9VlZQykFSMgjuKWmpNP+u6f5pE2Ti49GeZeH/h54i8O3WnTaL4isof3X2fUmlsi7vCJWkHk/NhH+bBLBh7Cqd38KdQvPiJB4lur7RJktdVGoQXUmns+pBNrD7MZ2chYhu4VFUcDOTkn1mipj7trdCraNdzyMfCTUriJYb/AF20KW0N5HaGC1ZWHm3cV1EXyxB2vFhsY3A8Y61fg+HviK/1WLXfEmv6dPqi31pMVsrNordYYA+FVWdm3sZDkliOBgDmvTaKd3p5a/O97/f/AJbA9VJd9/mrfojmfDfhX+zdP1+yuroXEer6hc3R2JtKJN/D1OSPWueXwL4nu/Br+HdY8R2EyQy24sWgsigjiiI+/liWdsckEL6AV6PRServ6fhsEnzO78/x3PLvHHwrbxDearqHnaNdT3GqRahbW2q6cLq0+W2igZJYyfmz5W4FSpGak0z4d65ocGlS+GtU0DSb2JJIb1bfR0itvKeRXIgijKhGGCAX35B5ycGvTaKSVndf1pb8tAm+fc8+svh3JYeM9S8WWOowQ6nfXqySSi2GZbXywjQSc/NyN6njDAcYyDX+Gvw5vvCniy/1iS+02K1niMa2elWz2kMzFgfOmhDmEy4GNyImcnOa9Jopx93YJe9ueeX/AIA1S68ZTasNWs1sH1a11NIfszecGiUKylt2CDjj5ePes3xT8L9S1O0SCG/0W8hOp3l5NZavYvc2cqzyFl3RB1DSJk7WbIB5AFeq0UraW/rZL8kgj7rbX9b/AOb+88/8BeA9R8KanpskWpWE1nb6X/Z80YtCjHbNJJGyYbaoAkIIwegxjpSav4D1O+8SXV8urWcdhNqlrqSxG3Yyh4lZWUtuwQQVxxkc9a9BooaTak+jv873/MVvdcejVvla35Hkvin4RSarJPeh/D2o3X9sXF/Db61pQvLPZMiqUeMsDuG0EMpH5ZFanjDwrfad8BNY8MaJbQXGoDSpYoIrGzjt0eUqcBIkAVRnoK9GoprT8PwL5vfUmeYXPw/8UarJJrur69pf/CRQtbnT3trJ0tYxCxdRKjOWfLMd2GXjpis/xB8Kdb1vRriTUtR8O3+t31+15dtc6W5to28uOJGt9sgnhdEhTDLLkktnPAHr9FO/9fd/kiY3ilZnl8vwz1kidV8Rx3Ak06yjE15HJNMbq1meRHZy+WjO8qQfmwB82ea07/wx42lh0rWYPEOjt4ps0milln09zZPHLgsqxK4cYKLglyeuc13tFEm5b/1/W3oJJLb0PKJ/hj4isdKNl4d8T2cT32nNY6tNfWRlaTd/y1iCsoRxkgA7l9QarX/wZWbxWNUWPwpdRXAtzdz6joMV1ewtEip/o8r5VAQucOr4JOK9gopQSg7xVv6b/NhJcys/62/yOP8AiB4Z1rWdU0XWPD+qWVhf6QZmiF3bNNFKZFUYYKynHy9iD05riNZ+Cj3YsboSeGNU1DyZYr59c0NL2IGSZpTJboSPLZTI4GSwI27gxGa9nopJIrmdrHmlv8MJbfxRZatFqsCw2t/a3QhW0CZENtcQlQEwq5M4PAAG3GOa5/xdoviDwXfx6p4dj1DUdQu5bxZvs2jtdxCCZlfaQJUKSAquGyV65Wva6KJa/wBfL9BRsreX+bf5tnnyeA5dU+CVh4H1aSGO6j06GGRmiWaMSoB95GG11yOQeCKy/D/wpnsE06Zv+EX0ye21iHUJYdC0RLK3ZI1wFABLFj13OzY7ACvVaKtybqOp1ev43JUfcUX0PNrr4b30upW866vbCAvqcd2jW7FmgvNmQh3YV1MY5IIOTxXP6H8FJbHSL2w/4pCwdoYbe3uNJ8Px200qJPHIWuJASzuREo+UquSSVPGPaaKiK5YqK2St8jRyb373/G/5nlHjD4RprXjV9ejh8K3KXkcEd2+raFHe3Nv5XG62d+EJBOQ6uMgcVcX4feIItahgt9e05fDlvrKatFbNZMbrf5m9ozIH27M9PlyOMk16XRVJtWt0/wCA/wBDNwTTTW+n6HE+OvBE3iTWH1BLyzRTpclj5F1ZLcRuWbOXR8qy+qkfjTvhJ4OvPBmiXVleX0EpnuTNHa2nnLZ2ikAeXBHLI5jTIJ2htoJOABxXaUVMVyqy/rW/5lPV3f8AWlgooopgFFFFABRRRQAUUUUAFFFFABRRRQAUUUUAFFFFABRRRQAUUUUAFFFFAHn2k/Di4svFVvrEmvrNb2uo6hfW9sLLay/bOXRn3ndtYkg7RxgY71lal8IHeazuNO1rTUuY7drW5fUNDjvQ8fnPKpjDOPKcGRhuywPHy8V6tRTvt5Dcm22/61v+ZzXibwvJqXhyw0/T9SFlfaZJFNY3c1uJlSRFKhnjUoGBVmyAV68Y6Vkan4K8SSR6Zf6Z40Fv4htLWa0n1C70wXEc8crK7fuRIm0hkTadxwAQQc5rvKKXfz/4b8gTtY8zX4R2kPhvXdDtdamjg1XRU0oO8AdogFYGQ/MNxJYnHH1qfxf8M21jxCmsWOqadaySW6W92LzRo71mVOjQs7Dynxxkhx/s16LRQ9d+9/m7/wCbBtv+vT/JHG2Hg3UdP8U3N9Y+IjDo12fNudO+xqXkmESxhvO3YCbUB2BOuee1Vb3wrrFh8JNV8M216up3pinFm8cAgIDuWRTlyCRn72QDjoK7yilJc0XF9rCSSaaPL9O+HGvX2kRXfiLxQkuvRW1sllPBp4ijszEQ4DR+Y3mksMMdyggYG3rTtT+GGp6noV/DqXiTT77V9RuBLeT3WiiS0kQIyCMW/m7lAV2wyyhgcHJ6V6dRVN3v5/53/wCH79SYxSafVf5W/rt0PMYfhQ8NnFZR+JJDbjRhp0vmW5kkaRW3pMrtISAGA+Q7sjjd3rSvvBfiS6sdMvX8YwN4n0+aaSLUX0vNuFlwGj+ziUHbtAA/eEjGcmu8oou/6+/+vu2HFKO39aW/I8uf4V6pbWTLo3jD7JfX1nNa6xdXGnCf7YJJJJNyKJF8oq80m3lvlIBzjNN/4VEYdTsriz1qwWFba1hvPtWixXE8hgUKHhlZv3JYABgVcemDzXqdFL+v6+/bYptvcrWMV1CZhcXMUyF/3ISHYY0xwp5O4+/H0qzRRQIKKKKACiiigAooooAKKKKACiiigAooooAKKKKACiiigAooooAKKKKACiiigAooooAKKKKACiiigAooooAKKKKACiiigAooooAKKKKACiiigAooooAKKKKACiiigAooooAKKKKACiiigAooooAKKKKAP//Z"/>
          <p:cNvSpPr>
            <a:spLocks noChangeAspect="1" noChangeArrowheads="1"/>
          </p:cNvSpPr>
          <p:nvPr/>
        </p:nvSpPr>
        <p:spPr bwMode="auto">
          <a:xfrm>
            <a:off x="66992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2038" y="2400300"/>
            <a:ext cx="8078787" cy="4127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27858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165100"/>
            <a:ext cx="9744075" cy="652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21806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validation</a:t>
            </a:r>
            <a:endParaRPr lang="ru-RU" i="1" dirty="0"/>
          </a:p>
        </p:txBody>
      </p:sp>
      <p:sp>
        <p:nvSpPr>
          <p:cNvPr id="3" name="Content Placeholder 2"/>
          <p:cNvSpPr>
            <a:spLocks noGrp="1"/>
          </p:cNvSpPr>
          <p:nvPr>
            <p:ph idx="1"/>
          </p:nvPr>
        </p:nvSpPr>
        <p:spPr/>
        <p:txBody>
          <a:bodyPr/>
          <a:lstStyle/>
          <a:p>
            <a:pPr marL="0" indent="0">
              <a:lnSpc>
                <a:spcPct val="80000"/>
              </a:lnSpc>
              <a:buNone/>
            </a:pPr>
            <a:r>
              <a:rPr lang="en-GB" altLang="ru-RU" sz="3600" dirty="0">
                <a:latin typeface="Arial" panose="020B0604020202020204" pitchFamily="34" charset="0"/>
                <a:cs typeface="Arial" panose="020B0604020202020204" pitchFamily="34" charset="0"/>
              </a:rPr>
              <a:t>Validation is a check made by a program to ensure that the data entered is reasonable.</a:t>
            </a:r>
          </a:p>
          <a:p>
            <a:pPr>
              <a:lnSpc>
                <a:spcPct val="80000"/>
              </a:lnSpc>
            </a:pPr>
            <a:endParaRPr lang="en-GB" altLang="ru-RU" sz="3600" dirty="0">
              <a:latin typeface="Arial" panose="020B0604020202020204" pitchFamily="34" charset="0"/>
              <a:cs typeface="Arial" panose="020B0604020202020204" pitchFamily="34" charset="0"/>
            </a:endParaRPr>
          </a:p>
          <a:p>
            <a:pPr marL="0" indent="0">
              <a:lnSpc>
                <a:spcPct val="80000"/>
              </a:lnSpc>
              <a:buNone/>
            </a:pPr>
            <a:r>
              <a:rPr lang="en-GB" altLang="ru-RU" sz="3600" dirty="0">
                <a:latin typeface="Arial" panose="020B0604020202020204" pitchFamily="34" charset="0"/>
                <a:cs typeface="Arial" panose="020B0604020202020204" pitchFamily="34" charset="0"/>
              </a:rPr>
              <a:t>NB: It cannot ensure that the data is correct!</a:t>
            </a:r>
          </a:p>
          <a:p>
            <a:pPr marL="0" indent="0">
              <a:buNone/>
            </a:pPr>
            <a:endParaRPr lang="ru-RU" dirty="0"/>
          </a:p>
        </p:txBody>
      </p:sp>
    </p:spTree>
    <p:extLst>
      <p:ext uri="{BB962C8B-B14F-4D97-AF65-F5344CB8AC3E}">
        <p14:creationId xmlns:p14="http://schemas.microsoft.com/office/powerpoint/2010/main" val="1673334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Validation</a:t>
            </a:r>
            <a:endParaRPr lang="ru-RU" dirty="0"/>
          </a:p>
        </p:txBody>
      </p:sp>
      <p:sp>
        <p:nvSpPr>
          <p:cNvPr id="3" name="Content Placeholder 2"/>
          <p:cNvSpPr>
            <a:spLocks noGrp="1"/>
          </p:cNvSpPr>
          <p:nvPr>
            <p:ph idx="1"/>
          </p:nvPr>
        </p:nvSpPr>
        <p:spPr/>
        <p:txBody>
          <a:bodyPr>
            <a:normAutofit/>
          </a:bodyPr>
          <a:lstStyle/>
          <a:p>
            <a:r>
              <a:rPr lang="en-GB" altLang="ru-RU" sz="3600" dirty="0">
                <a:latin typeface="Arial" panose="020B0604020202020204" pitchFamily="34" charset="0"/>
                <a:cs typeface="Arial" panose="020B0604020202020204" pitchFamily="34" charset="0"/>
              </a:rPr>
              <a:t>Presence check</a:t>
            </a:r>
          </a:p>
          <a:p>
            <a:r>
              <a:rPr lang="en-GB" altLang="ru-RU" sz="3600" dirty="0">
                <a:latin typeface="Arial" panose="020B0604020202020204" pitchFamily="34" charset="0"/>
                <a:cs typeface="Arial" panose="020B0604020202020204" pitchFamily="34" charset="0"/>
              </a:rPr>
              <a:t>Type check</a:t>
            </a:r>
          </a:p>
          <a:p>
            <a:r>
              <a:rPr lang="en-GB" altLang="ru-RU" sz="3600" dirty="0">
                <a:latin typeface="Arial" panose="020B0604020202020204" pitchFamily="34" charset="0"/>
                <a:cs typeface="Arial" panose="020B0604020202020204" pitchFamily="34" charset="0"/>
              </a:rPr>
              <a:t>Format check</a:t>
            </a:r>
          </a:p>
          <a:p>
            <a:r>
              <a:rPr lang="en-GB" altLang="ru-RU" sz="3600" dirty="0">
                <a:latin typeface="Arial" panose="020B0604020202020204" pitchFamily="34" charset="0"/>
                <a:cs typeface="Arial" panose="020B0604020202020204" pitchFamily="34" charset="0"/>
              </a:rPr>
              <a:t>Length check</a:t>
            </a:r>
          </a:p>
          <a:p>
            <a:r>
              <a:rPr lang="en-GB" altLang="ru-RU" sz="3600" dirty="0">
                <a:latin typeface="Arial" panose="020B0604020202020204" pitchFamily="34" charset="0"/>
                <a:cs typeface="Arial" panose="020B0604020202020204" pitchFamily="34" charset="0"/>
              </a:rPr>
              <a:t>Lookup check</a:t>
            </a:r>
          </a:p>
          <a:p>
            <a:r>
              <a:rPr lang="en-GB" altLang="ru-RU" sz="3600" dirty="0">
                <a:latin typeface="Arial" panose="020B0604020202020204" pitchFamily="34" charset="0"/>
                <a:cs typeface="Arial" panose="020B0604020202020204" pitchFamily="34" charset="0"/>
              </a:rPr>
              <a:t>Range check</a:t>
            </a:r>
          </a:p>
          <a:p>
            <a:r>
              <a:rPr lang="en-GB" altLang="ru-RU" sz="3600" dirty="0">
                <a:latin typeface="Arial" panose="020B0604020202020204" pitchFamily="34" charset="0"/>
                <a:cs typeface="Arial" panose="020B0604020202020204" pitchFamily="34" charset="0"/>
              </a:rPr>
              <a:t>Check digit</a:t>
            </a:r>
          </a:p>
          <a:p>
            <a:pPr marL="0" indent="0">
              <a:buNone/>
            </a:pPr>
            <a:endParaRPr lang="ru-RU" dirty="0"/>
          </a:p>
        </p:txBody>
      </p:sp>
    </p:spTree>
    <p:extLst>
      <p:ext uri="{BB962C8B-B14F-4D97-AF65-F5344CB8AC3E}">
        <p14:creationId xmlns:p14="http://schemas.microsoft.com/office/powerpoint/2010/main" val="2167992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ru-RU"/>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90026278"/>
              </p:ext>
            </p:extLst>
          </p:nvPr>
        </p:nvGraphicFramePr>
        <p:xfrm>
          <a:off x="838200" y="365122"/>
          <a:ext cx="10237630" cy="6048556"/>
        </p:xfrm>
        <a:graphic>
          <a:graphicData uri="http://schemas.openxmlformats.org/drawingml/2006/table">
            <a:tbl>
              <a:tblPr firstRow="1" firstCol="1" bandRow="1">
                <a:tableStyleId>{5C22544A-7EE6-4342-B048-85BDC9FD1C3A}</a:tableStyleId>
              </a:tblPr>
              <a:tblGrid>
                <a:gridCol w="2065054">
                  <a:extLst>
                    <a:ext uri="{9D8B030D-6E8A-4147-A177-3AD203B41FA5}">
                      <a16:colId xmlns:a16="http://schemas.microsoft.com/office/drawing/2014/main" val="20000"/>
                    </a:ext>
                  </a:extLst>
                </a:gridCol>
                <a:gridCol w="3549483">
                  <a:extLst>
                    <a:ext uri="{9D8B030D-6E8A-4147-A177-3AD203B41FA5}">
                      <a16:colId xmlns:a16="http://schemas.microsoft.com/office/drawing/2014/main" val="20001"/>
                    </a:ext>
                  </a:extLst>
                </a:gridCol>
                <a:gridCol w="4623093">
                  <a:extLst>
                    <a:ext uri="{9D8B030D-6E8A-4147-A177-3AD203B41FA5}">
                      <a16:colId xmlns:a16="http://schemas.microsoft.com/office/drawing/2014/main" val="20002"/>
                    </a:ext>
                  </a:extLst>
                </a:gridCol>
              </a:tblGrid>
              <a:tr h="354038">
                <a:tc>
                  <a:txBody>
                    <a:bodyPr/>
                    <a:lstStyle/>
                    <a:p>
                      <a:pPr marL="0" marR="0">
                        <a:lnSpc>
                          <a:spcPct val="106000"/>
                        </a:lnSpc>
                        <a:spcBef>
                          <a:spcPts val="0"/>
                        </a:spcBef>
                        <a:spcAft>
                          <a:spcPts val="0"/>
                        </a:spcAft>
                      </a:pPr>
                      <a:r>
                        <a:rPr lang="ru-RU" sz="1800" dirty="0" err="1">
                          <a:effectLst/>
                        </a:rPr>
                        <a:t>Validation</a:t>
                      </a:r>
                      <a:r>
                        <a:rPr lang="ru-RU" sz="1800" dirty="0">
                          <a:effectLst/>
                        </a:rPr>
                        <a:t> </a:t>
                      </a:r>
                      <a:r>
                        <a:rPr lang="ru-RU" sz="1800" dirty="0" err="1">
                          <a:effectLst/>
                        </a:rPr>
                        <a:t>type</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ru-RU" sz="1800" dirty="0" err="1">
                          <a:effectLst/>
                        </a:rPr>
                        <a:t>How</a:t>
                      </a:r>
                      <a:r>
                        <a:rPr lang="ru-RU" sz="1800" dirty="0">
                          <a:effectLst/>
                        </a:rPr>
                        <a:t> </a:t>
                      </a:r>
                      <a:r>
                        <a:rPr lang="ru-RU" sz="1800" dirty="0" err="1">
                          <a:effectLst/>
                        </a:rPr>
                        <a:t>it</a:t>
                      </a:r>
                      <a:r>
                        <a:rPr lang="ru-RU" sz="1800" dirty="0">
                          <a:effectLst/>
                        </a:rPr>
                        <a:t> </a:t>
                      </a:r>
                      <a:r>
                        <a:rPr lang="ru-RU" sz="1800" dirty="0" err="1">
                          <a:effectLst/>
                        </a:rPr>
                        <a:t>works</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ru-RU" sz="1800" dirty="0" err="1">
                          <a:effectLst/>
                        </a:rPr>
                        <a:t>Example</a:t>
                      </a:r>
                      <a:r>
                        <a:rPr lang="ru-RU" sz="1800" dirty="0">
                          <a:effectLst/>
                        </a:rPr>
                        <a:t> </a:t>
                      </a:r>
                      <a:r>
                        <a:rPr lang="ru-RU" sz="1800" dirty="0" err="1">
                          <a:effectLst/>
                        </a:rPr>
                        <a:t>usage</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145437">
                <a:tc>
                  <a:txBody>
                    <a:bodyPr/>
                    <a:lstStyle/>
                    <a:p>
                      <a:pPr marL="0" marR="0">
                        <a:lnSpc>
                          <a:spcPct val="106000"/>
                        </a:lnSpc>
                        <a:spcBef>
                          <a:spcPts val="0"/>
                        </a:spcBef>
                        <a:spcAft>
                          <a:spcPts val="0"/>
                        </a:spcAft>
                      </a:pPr>
                      <a:r>
                        <a:rPr lang="en-US" sz="1800">
                          <a:effectLst/>
                        </a:rPr>
                        <a:t>Check digit</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dirty="0">
                          <a:effectLst/>
                        </a:rPr>
                        <a:t>The last one or two digits in a code are used to check the other digits are correct</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dirty="0">
                          <a:effectLst/>
                        </a:rPr>
                        <a:t>Bar code readers in supermarkets use check digits</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145437">
                <a:tc>
                  <a:txBody>
                    <a:bodyPr/>
                    <a:lstStyle/>
                    <a:p>
                      <a:pPr marL="0" marR="0">
                        <a:lnSpc>
                          <a:spcPct val="106000"/>
                        </a:lnSpc>
                        <a:spcBef>
                          <a:spcPts val="0"/>
                        </a:spcBef>
                        <a:spcAft>
                          <a:spcPts val="0"/>
                        </a:spcAft>
                      </a:pPr>
                      <a:r>
                        <a:rPr lang="en-US" sz="1800">
                          <a:effectLst/>
                        </a:rPr>
                        <a:t>Format check</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Checks the data is in the right format</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A National Insurance number is in the form LL 99 99 99 L where L is any letter and 9 is any number</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758180">
                <a:tc>
                  <a:txBody>
                    <a:bodyPr/>
                    <a:lstStyle/>
                    <a:p>
                      <a:pPr marL="0" marR="0">
                        <a:lnSpc>
                          <a:spcPct val="106000"/>
                        </a:lnSpc>
                        <a:spcBef>
                          <a:spcPts val="0"/>
                        </a:spcBef>
                        <a:spcAft>
                          <a:spcPts val="0"/>
                        </a:spcAft>
                      </a:pPr>
                      <a:r>
                        <a:rPr lang="en-US" sz="1800">
                          <a:effectLst/>
                        </a:rPr>
                        <a:t>Length check</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Checks the data isn't too short or too long</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A  password which needs to be six letters long</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758180">
                <a:tc>
                  <a:txBody>
                    <a:bodyPr/>
                    <a:lstStyle/>
                    <a:p>
                      <a:pPr marL="0" marR="0">
                        <a:lnSpc>
                          <a:spcPct val="106000"/>
                        </a:lnSpc>
                        <a:spcBef>
                          <a:spcPts val="0"/>
                        </a:spcBef>
                        <a:spcAft>
                          <a:spcPts val="0"/>
                        </a:spcAft>
                      </a:pPr>
                      <a:r>
                        <a:rPr lang="en-US" sz="1800">
                          <a:effectLst/>
                        </a:rPr>
                        <a:t>Lookup table</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Looks up acceptable values in a table</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There are only seven possible days of the week</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8180">
                <a:tc>
                  <a:txBody>
                    <a:bodyPr/>
                    <a:lstStyle/>
                    <a:p>
                      <a:pPr marL="0" marR="0">
                        <a:lnSpc>
                          <a:spcPct val="106000"/>
                        </a:lnSpc>
                        <a:spcBef>
                          <a:spcPts val="0"/>
                        </a:spcBef>
                        <a:spcAft>
                          <a:spcPts val="0"/>
                        </a:spcAft>
                      </a:pPr>
                      <a:r>
                        <a:rPr lang="en-US" sz="1800">
                          <a:effectLst/>
                        </a:rPr>
                        <a:t>Presence check</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Checks that data has been entered into a field</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In most databases a key field cannot be left blank</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758180">
                <a:tc>
                  <a:txBody>
                    <a:bodyPr/>
                    <a:lstStyle/>
                    <a:p>
                      <a:pPr marL="0" marR="0">
                        <a:lnSpc>
                          <a:spcPct val="106000"/>
                        </a:lnSpc>
                        <a:spcBef>
                          <a:spcPts val="0"/>
                        </a:spcBef>
                        <a:spcAft>
                          <a:spcPts val="0"/>
                        </a:spcAft>
                      </a:pPr>
                      <a:r>
                        <a:rPr lang="en-US" sz="1800">
                          <a:effectLst/>
                        </a:rPr>
                        <a:t>Range check</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Checks that a value falls within the specified range</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Number of hours worked must be less than 50 and more than 0</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370924">
                <a:tc>
                  <a:txBody>
                    <a:bodyPr/>
                    <a:lstStyle/>
                    <a:p>
                      <a:pPr marL="0" marR="0">
                        <a:lnSpc>
                          <a:spcPct val="106000"/>
                        </a:lnSpc>
                        <a:spcBef>
                          <a:spcPts val="0"/>
                        </a:spcBef>
                        <a:spcAft>
                          <a:spcPts val="0"/>
                        </a:spcAft>
                      </a:pPr>
                      <a:r>
                        <a:rPr lang="en-US" sz="1800">
                          <a:effectLst/>
                        </a:rPr>
                        <a:t>Spell check</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Looks up words in a dictionary</a:t>
                      </a:r>
                      <a:endParaRPr lang="ru-R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dirty="0">
                          <a:effectLst/>
                        </a:rPr>
                        <a:t>When word processing</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43078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0B84F-FE02-4391-63CB-767F0C9EF0EC}"/>
              </a:ext>
            </a:extLst>
          </p:cNvPr>
          <p:cNvSpPr>
            <a:spLocks noGrp="1"/>
          </p:cNvSpPr>
          <p:nvPr>
            <p:ph type="title"/>
          </p:nvPr>
        </p:nvSpPr>
        <p:spPr/>
        <p:txBody>
          <a:bodyPr/>
          <a:lstStyle/>
          <a:p>
            <a:r>
              <a:rPr lang="en-US" dirty="0"/>
              <a:t>Activity</a:t>
            </a:r>
          </a:p>
        </p:txBody>
      </p:sp>
      <p:sp>
        <p:nvSpPr>
          <p:cNvPr id="3" name="Content Placeholder 2">
            <a:extLst>
              <a:ext uri="{FF2B5EF4-FFF2-40B4-BE49-F238E27FC236}">
                <a16:creationId xmlns:a16="http://schemas.microsoft.com/office/drawing/2014/main" id="{4AA2986F-912B-181A-CEC6-DCA8A7B49698}"/>
              </a:ext>
            </a:extLst>
          </p:cNvPr>
          <p:cNvSpPr>
            <a:spLocks noGrp="1"/>
          </p:cNvSpPr>
          <p:nvPr>
            <p:ph idx="1"/>
          </p:nvPr>
        </p:nvSpPr>
        <p:spPr/>
        <p:txBody>
          <a:bodyPr/>
          <a:lstStyle/>
          <a:p>
            <a:r>
              <a:rPr lang="en-US" dirty="0"/>
              <a:t>Watch this in your own time: </a:t>
            </a:r>
            <a:r>
              <a:rPr lang="en-GB" b="0" i="0" u="none" strike="noStrike" dirty="0">
                <a:solidFill>
                  <a:srgbClr val="FFFFFF"/>
                </a:solidFill>
                <a:effectLst/>
                <a:latin typeface="YouTube Noto"/>
                <a:hlinkClick r:id="rId2"/>
              </a:rPr>
              <a:t>https://youtu.be/iS9tqYuVQ08</a:t>
            </a:r>
            <a:r>
              <a:rPr lang="en-GB" b="0" i="0" u="none" strike="noStrike" dirty="0">
                <a:solidFill>
                  <a:srgbClr val="FFFFFF"/>
                </a:solidFill>
                <a:effectLst/>
                <a:latin typeface="YouTube Noto"/>
              </a:rPr>
              <a:t> </a:t>
            </a:r>
          </a:p>
          <a:p>
            <a:pPr marL="0" indent="0">
              <a:buNone/>
            </a:pPr>
            <a:endParaRPr lang="en-GB" dirty="0">
              <a:solidFill>
                <a:srgbClr val="FFFFFF"/>
              </a:solidFill>
              <a:latin typeface="YouTube Noto"/>
            </a:endParaRPr>
          </a:p>
          <a:p>
            <a:pPr marL="0" indent="0">
              <a:buNone/>
            </a:pPr>
            <a:r>
              <a:rPr lang="en-GB" b="0" i="0" u="none" strike="noStrike" dirty="0">
                <a:effectLst/>
                <a:latin typeface="YouTube Noto"/>
              </a:rPr>
              <a:t>Complete the Quiz Questions!</a:t>
            </a:r>
          </a:p>
          <a:p>
            <a:r>
              <a:rPr lang="en-GB" dirty="0">
                <a:solidFill>
                  <a:srgbClr val="FFFFFF"/>
                </a:solidFill>
                <a:latin typeface="YouTube Noto"/>
              </a:rPr>
              <a:t>Complete</a:t>
            </a:r>
            <a:endParaRPr lang="en-US" dirty="0"/>
          </a:p>
        </p:txBody>
      </p:sp>
    </p:spTree>
    <p:extLst>
      <p:ext uri="{BB962C8B-B14F-4D97-AF65-F5344CB8AC3E}">
        <p14:creationId xmlns:p14="http://schemas.microsoft.com/office/powerpoint/2010/main" val="3688556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0"/>
          <p:cNvSpPr txBox="1">
            <a:spLocks noGrp="1"/>
          </p:cNvSpPr>
          <p:nvPr>
            <p:ph type="title"/>
          </p:nvPr>
        </p:nvSpPr>
        <p:spPr>
          <a:xfrm rot="-5400000">
            <a:off x="-3176800" y="3165000"/>
            <a:ext cx="6881600" cy="528000"/>
          </a:xfrm>
          <a:prstGeom prst="rect">
            <a:avLst/>
          </a:prstGeom>
        </p:spPr>
        <p:txBody>
          <a:bodyPr spcFirstLastPara="1" wrap="square" lIns="121897" tIns="121897" rIns="121897" bIns="121897" anchor="t" anchorCtr="0">
            <a:noAutofit/>
          </a:bodyPr>
          <a:lstStyle/>
          <a:p>
            <a:r>
              <a:rPr lang="en"/>
              <a:t>Discussion</a:t>
            </a:r>
            <a:endParaRPr/>
          </a:p>
        </p:txBody>
      </p:sp>
      <p:sp>
        <p:nvSpPr>
          <p:cNvPr id="262" name="Google Shape;262;p40"/>
          <p:cNvSpPr txBox="1">
            <a:spLocks noGrp="1"/>
          </p:cNvSpPr>
          <p:nvPr>
            <p:ph type="body" idx="1"/>
          </p:nvPr>
        </p:nvSpPr>
        <p:spPr>
          <a:xfrm>
            <a:off x="1225600" y="983000"/>
            <a:ext cx="9740800" cy="4892000"/>
          </a:xfrm>
          <a:prstGeom prst="rect">
            <a:avLst/>
          </a:prstGeom>
        </p:spPr>
        <p:txBody>
          <a:bodyPr spcFirstLastPara="1" wrap="square" lIns="121897" tIns="121897" rIns="121897" bIns="121897" anchor="ctr" anchorCtr="0">
            <a:noAutofit/>
          </a:bodyPr>
          <a:lstStyle/>
          <a:p>
            <a:pPr marL="0" indent="0" algn="ctr">
              <a:spcAft>
                <a:spcPts val="2133"/>
              </a:spcAft>
              <a:buNone/>
            </a:pPr>
            <a:r>
              <a:rPr lang="en" sz="6400"/>
              <a:t>How can we detect errors that occurred during data transmission?</a:t>
            </a:r>
            <a:endParaRPr sz="6400"/>
          </a:p>
        </p:txBody>
      </p:sp>
    </p:spTree>
    <p:extLst>
      <p:ext uri="{BB962C8B-B14F-4D97-AF65-F5344CB8AC3E}">
        <p14:creationId xmlns:p14="http://schemas.microsoft.com/office/powerpoint/2010/main" val="811631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1"/>
          <p:cNvSpPr txBox="1">
            <a:spLocks noGrp="1"/>
          </p:cNvSpPr>
          <p:nvPr>
            <p:ph type="title"/>
          </p:nvPr>
        </p:nvSpPr>
        <p:spPr>
          <a:xfrm rot="-5400000">
            <a:off x="-3182600" y="3165000"/>
            <a:ext cx="6893200" cy="528000"/>
          </a:xfrm>
          <a:prstGeom prst="rect">
            <a:avLst/>
          </a:prstGeom>
        </p:spPr>
        <p:txBody>
          <a:bodyPr spcFirstLastPara="1" wrap="square" lIns="121897" tIns="121897" rIns="121897" bIns="121897" anchor="t" anchorCtr="0">
            <a:noAutofit/>
          </a:bodyPr>
          <a:lstStyle/>
          <a:p>
            <a:r>
              <a:rPr lang="en"/>
              <a:t>Error detection</a:t>
            </a:r>
            <a:endParaRPr/>
          </a:p>
        </p:txBody>
      </p:sp>
      <p:grpSp>
        <p:nvGrpSpPr>
          <p:cNvPr id="268" name="Google Shape;268;p41"/>
          <p:cNvGrpSpPr/>
          <p:nvPr/>
        </p:nvGrpSpPr>
        <p:grpSpPr>
          <a:xfrm>
            <a:off x="4909533" y="730502"/>
            <a:ext cx="2676800" cy="5396999"/>
            <a:chOff x="3682150" y="547876"/>
            <a:chExt cx="2007600" cy="4047749"/>
          </a:xfrm>
        </p:grpSpPr>
        <p:sp>
          <p:nvSpPr>
            <p:cNvPr id="269" name="Google Shape;269;p41"/>
            <p:cNvSpPr txBox="1"/>
            <p:nvPr/>
          </p:nvSpPr>
          <p:spPr>
            <a:xfrm>
              <a:off x="3840557" y="2689937"/>
              <a:ext cx="1690800" cy="352800"/>
            </a:xfrm>
            <a:prstGeom prst="rect">
              <a:avLst/>
            </a:prstGeom>
            <a:noFill/>
            <a:ln>
              <a:noFill/>
            </a:ln>
          </p:spPr>
          <p:txBody>
            <a:bodyPr spcFirstLastPara="1" wrap="square" lIns="91425" tIns="91425" rIns="91425" bIns="91425" anchor="t" anchorCtr="0">
              <a:noAutofit/>
            </a:bodyPr>
            <a:lstStyle/>
            <a:p>
              <a:pPr algn="ctr">
                <a:lnSpc>
                  <a:spcPct val="115000"/>
                </a:lnSpc>
              </a:pPr>
              <a:r>
                <a:rPr lang="en" b="1">
                  <a:solidFill>
                    <a:srgbClr val="990000"/>
                  </a:solidFill>
                  <a:latin typeface="Roboto"/>
                  <a:ea typeface="Roboto"/>
                  <a:cs typeface="Roboto"/>
                  <a:sym typeface="Roboto"/>
                </a:rPr>
                <a:t>Parity bits</a:t>
              </a:r>
              <a:endParaRPr b="1">
                <a:solidFill>
                  <a:srgbClr val="990000"/>
                </a:solidFill>
                <a:latin typeface="Roboto"/>
                <a:ea typeface="Roboto"/>
                <a:cs typeface="Roboto"/>
                <a:sym typeface="Roboto"/>
              </a:endParaRPr>
            </a:p>
          </p:txBody>
        </p:sp>
        <p:sp>
          <p:nvSpPr>
            <p:cNvPr id="270" name="Google Shape;270;p41"/>
            <p:cNvSpPr txBox="1"/>
            <p:nvPr/>
          </p:nvSpPr>
          <p:spPr>
            <a:xfrm>
              <a:off x="3682150" y="3050325"/>
              <a:ext cx="2007600" cy="1545300"/>
            </a:xfrm>
            <a:prstGeom prst="rect">
              <a:avLst/>
            </a:prstGeom>
            <a:noFill/>
            <a:ln>
              <a:noFill/>
            </a:ln>
          </p:spPr>
          <p:txBody>
            <a:bodyPr spcFirstLastPara="1" wrap="square" lIns="91425" tIns="91425" rIns="91425" bIns="91425" anchor="t" anchorCtr="0">
              <a:noAutofit/>
            </a:bodyPr>
            <a:lstStyle/>
            <a:p>
              <a:pPr algn="ctr">
                <a:lnSpc>
                  <a:spcPct val="115000"/>
                </a:lnSpc>
              </a:pPr>
              <a:r>
                <a:rPr lang="en" sz="1300">
                  <a:solidFill>
                    <a:srgbClr val="545454"/>
                  </a:solidFill>
                  <a:highlight>
                    <a:srgbClr val="FFFFFF"/>
                  </a:highlight>
                  <a:latin typeface="Roboto"/>
                  <a:ea typeface="Roboto"/>
                  <a:cs typeface="Roboto"/>
                  <a:sym typeface="Roboto"/>
                </a:rPr>
                <a:t>A </a:t>
              </a:r>
              <a:r>
                <a:rPr lang="en" sz="1300" b="1">
                  <a:solidFill>
                    <a:srgbClr val="6A6A6A"/>
                  </a:solidFill>
                  <a:highlight>
                    <a:srgbClr val="FFFFFF"/>
                  </a:highlight>
                  <a:latin typeface="Roboto"/>
                  <a:ea typeface="Roboto"/>
                  <a:cs typeface="Roboto"/>
                  <a:sym typeface="Roboto"/>
                </a:rPr>
                <a:t>parity bit</a:t>
              </a:r>
              <a:r>
                <a:rPr lang="en" sz="1300">
                  <a:solidFill>
                    <a:srgbClr val="545454"/>
                  </a:solidFill>
                  <a:highlight>
                    <a:srgbClr val="FFFFFF"/>
                  </a:highlight>
                  <a:latin typeface="Roboto"/>
                  <a:ea typeface="Roboto"/>
                  <a:cs typeface="Roboto"/>
                  <a:sym typeface="Roboto"/>
                </a:rPr>
                <a:t> is added as the last bit in a byte of data. The parity bit is used to keep the total number of 1-bits even or odd depending on whether even or odd parity is being used.</a:t>
              </a:r>
              <a:endParaRPr sz="1300">
                <a:solidFill>
                  <a:schemeClr val="dk2"/>
                </a:solidFill>
                <a:latin typeface="Roboto"/>
                <a:ea typeface="Roboto"/>
                <a:cs typeface="Roboto"/>
                <a:sym typeface="Roboto"/>
              </a:endParaRPr>
            </a:p>
          </p:txBody>
        </p:sp>
        <p:pic>
          <p:nvPicPr>
            <p:cNvPr id="271" name="Google Shape;271;p41"/>
            <p:cNvPicPr preferRelativeResize="0"/>
            <p:nvPr/>
          </p:nvPicPr>
          <p:blipFill>
            <a:blip r:embed="rId3">
              <a:alphaModFix/>
            </a:blip>
            <a:stretch>
              <a:fillRect/>
            </a:stretch>
          </p:blipFill>
          <p:spPr>
            <a:xfrm>
              <a:off x="3785207" y="547876"/>
              <a:ext cx="1801500" cy="1801444"/>
            </a:xfrm>
            <a:prstGeom prst="rect">
              <a:avLst/>
            </a:prstGeom>
            <a:noFill/>
            <a:ln>
              <a:noFill/>
            </a:ln>
          </p:spPr>
        </p:pic>
      </p:grpSp>
      <p:grpSp>
        <p:nvGrpSpPr>
          <p:cNvPr id="272" name="Google Shape;272;p41"/>
          <p:cNvGrpSpPr/>
          <p:nvPr/>
        </p:nvGrpSpPr>
        <p:grpSpPr>
          <a:xfrm>
            <a:off x="1169333" y="762833"/>
            <a:ext cx="2676800" cy="5364600"/>
            <a:chOff x="877000" y="572125"/>
            <a:chExt cx="2007600" cy="4023450"/>
          </a:xfrm>
        </p:grpSpPr>
        <p:sp>
          <p:nvSpPr>
            <p:cNvPr id="273" name="Google Shape;273;p41"/>
            <p:cNvSpPr txBox="1"/>
            <p:nvPr/>
          </p:nvSpPr>
          <p:spPr>
            <a:xfrm>
              <a:off x="1150289" y="2680887"/>
              <a:ext cx="1461000" cy="352800"/>
            </a:xfrm>
            <a:prstGeom prst="rect">
              <a:avLst/>
            </a:prstGeom>
            <a:noFill/>
            <a:ln>
              <a:noFill/>
            </a:ln>
          </p:spPr>
          <p:txBody>
            <a:bodyPr spcFirstLastPara="1" wrap="square" lIns="91425" tIns="91425" rIns="91425" bIns="91425" anchor="t" anchorCtr="0">
              <a:noAutofit/>
            </a:bodyPr>
            <a:lstStyle/>
            <a:p>
              <a:pPr algn="ctr">
                <a:lnSpc>
                  <a:spcPct val="115000"/>
                </a:lnSpc>
              </a:pPr>
              <a:r>
                <a:rPr lang="en" b="1">
                  <a:solidFill>
                    <a:srgbClr val="990000"/>
                  </a:solidFill>
                  <a:latin typeface="Roboto"/>
                  <a:ea typeface="Roboto"/>
                  <a:cs typeface="Roboto"/>
                  <a:sym typeface="Roboto"/>
                </a:rPr>
                <a:t>Checksums</a:t>
              </a:r>
              <a:endParaRPr b="1">
                <a:solidFill>
                  <a:srgbClr val="990000"/>
                </a:solidFill>
                <a:latin typeface="Roboto"/>
                <a:ea typeface="Roboto"/>
                <a:cs typeface="Roboto"/>
                <a:sym typeface="Roboto"/>
              </a:endParaRPr>
            </a:p>
          </p:txBody>
        </p:sp>
        <p:sp>
          <p:nvSpPr>
            <p:cNvPr id="274" name="Google Shape;274;p41"/>
            <p:cNvSpPr txBox="1"/>
            <p:nvPr/>
          </p:nvSpPr>
          <p:spPr>
            <a:xfrm>
              <a:off x="877000" y="3041275"/>
              <a:ext cx="2007600" cy="1554300"/>
            </a:xfrm>
            <a:prstGeom prst="rect">
              <a:avLst/>
            </a:prstGeom>
            <a:noFill/>
            <a:ln>
              <a:noFill/>
            </a:ln>
          </p:spPr>
          <p:txBody>
            <a:bodyPr spcFirstLastPara="1" wrap="square" lIns="91425" tIns="91425" rIns="91425" bIns="91425" anchor="t" anchorCtr="0">
              <a:noAutofit/>
            </a:bodyPr>
            <a:lstStyle/>
            <a:p>
              <a:pPr algn="ctr">
                <a:lnSpc>
                  <a:spcPct val="115000"/>
                </a:lnSpc>
              </a:pPr>
              <a:r>
                <a:rPr lang="en" sz="1300">
                  <a:solidFill>
                    <a:schemeClr val="dk2"/>
                  </a:solidFill>
                  <a:latin typeface="Roboto"/>
                  <a:ea typeface="Roboto"/>
                  <a:cs typeface="Roboto"/>
                  <a:sym typeface="Roboto"/>
                </a:rPr>
                <a:t>A checksum </a:t>
              </a:r>
              <a:r>
                <a:rPr lang="en" sz="1300" b="1">
                  <a:solidFill>
                    <a:schemeClr val="dk2"/>
                  </a:solidFill>
                  <a:latin typeface="Roboto"/>
                  <a:ea typeface="Roboto"/>
                  <a:cs typeface="Roboto"/>
                  <a:sym typeface="Roboto"/>
                </a:rPr>
                <a:t>algorithm </a:t>
              </a:r>
              <a:r>
                <a:rPr lang="en" sz="1300">
                  <a:solidFill>
                    <a:schemeClr val="dk2"/>
                  </a:solidFill>
                  <a:latin typeface="Roboto"/>
                  <a:ea typeface="Roboto"/>
                  <a:cs typeface="Roboto"/>
                  <a:sym typeface="Roboto"/>
                </a:rPr>
                <a:t>is run on a block of data. The </a:t>
              </a:r>
              <a:r>
                <a:rPr lang="en" sz="1300" b="1">
                  <a:solidFill>
                    <a:schemeClr val="dk2"/>
                  </a:solidFill>
                  <a:latin typeface="Roboto"/>
                  <a:ea typeface="Roboto"/>
                  <a:cs typeface="Roboto"/>
                  <a:sym typeface="Roboto"/>
                </a:rPr>
                <a:t>checksum </a:t>
              </a:r>
              <a:r>
                <a:rPr lang="en" sz="1300">
                  <a:solidFill>
                    <a:schemeClr val="dk2"/>
                  </a:solidFill>
                  <a:latin typeface="Roboto"/>
                  <a:ea typeface="Roboto"/>
                  <a:cs typeface="Roboto"/>
                  <a:sym typeface="Roboto"/>
                </a:rPr>
                <a:t>calculated is then transmitted with the data. When the data is received the sum is calculated again. If it does not match the checksum sent with the block of data an error has occurred.</a:t>
              </a:r>
              <a:endParaRPr sz="1300">
                <a:solidFill>
                  <a:schemeClr val="dk2"/>
                </a:solidFill>
                <a:latin typeface="Roboto"/>
                <a:ea typeface="Roboto"/>
                <a:cs typeface="Roboto"/>
                <a:sym typeface="Roboto"/>
              </a:endParaRPr>
            </a:p>
          </p:txBody>
        </p:sp>
        <p:pic>
          <p:nvPicPr>
            <p:cNvPr id="275" name="Google Shape;275;p41"/>
            <p:cNvPicPr preferRelativeResize="0"/>
            <p:nvPr/>
          </p:nvPicPr>
          <p:blipFill>
            <a:blip r:embed="rId4">
              <a:alphaModFix/>
            </a:blip>
            <a:stretch>
              <a:fillRect/>
            </a:stretch>
          </p:blipFill>
          <p:spPr>
            <a:xfrm>
              <a:off x="980039" y="572125"/>
              <a:ext cx="1801500" cy="1801500"/>
            </a:xfrm>
            <a:prstGeom prst="rect">
              <a:avLst/>
            </a:prstGeom>
            <a:noFill/>
            <a:ln>
              <a:noFill/>
            </a:ln>
          </p:spPr>
        </p:pic>
      </p:grpSp>
      <p:grpSp>
        <p:nvGrpSpPr>
          <p:cNvPr id="276" name="Google Shape;276;p41"/>
          <p:cNvGrpSpPr/>
          <p:nvPr/>
        </p:nvGrpSpPr>
        <p:grpSpPr>
          <a:xfrm>
            <a:off x="8649767" y="819334"/>
            <a:ext cx="2676800" cy="5308167"/>
            <a:chOff x="6487325" y="614500"/>
            <a:chExt cx="2007600" cy="3981125"/>
          </a:xfrm>
        </p:grpSpPr>
        <p:sp>
          <p:nvSpPr>
            <p:cNvPr id="277" name="Google Shape;277;p41"/>
            <p:cNvSpPr txBox="1"/>
            <p:nvPr/>
          </p:nvSpPr>
          <p:spPr>
            <a:xfrm>
              <a:off x="6821375" y="2689937"/>
              <a:ext cx="1339500" cy="352800"/>
            </a:xfrm>
            <a:prstGeom prst="rect">
              <a:avLst/>
            </a:prstGeom>
            <a:noFill/>
            <a:ln>
              <a:noFill/>
            </a:ln>
          </p:spPr>
          <p:txBody>
            <a:bodyPr spcFirstLastPara="1" wrap="square" lIns="91425" tIns="91425" rIns="91425" bIns="91425" anchor="t" anchorCtr="0">
              <a:noAutofit/>
            </a:bodyPr>
            <a:lstStyle/>
            <a:p>
              <a:pPr algn="ctr">
                <a:lnSpc>
                  <a:spcPct val="115000"/>
                </a:lnSpc>
              </a:pPr>
              <a:r>
                <a:rPr lang="en" b="1">
                  <a:solidFill>
                    <a:srgbClr val="990000"/>
                  </a:solidFill>
                  <a:latin typeface="Roboto"/>
                  <a:ea typeface="Roboto"/>
                  <a:cs typeface="Roboto"/>
                  <a:sym typeface="Roboto"/>
                </a:rPr>
                <a:t>Parity blocks</a:t>
              </a:r>
              <a:endParaRPr b="1">
                <a:solidFill>
                  <a:srgbClr val="990000"/>
                </a:solidFill>
                <a:latin typeface="Roboto"/>
                <a:ea typeface="Roboto"/>
                <a:cs typeface="Roboto"/>
                <a:sym typeface="Roboto"/>
              </a:endParaRPr>
            </a:p>
          </p:txBody>
        </p:sp>
        <p:sp>
          <p:nvSpPr>
            <p:cNvPr id="278" name="Google Shape;278;p41"/>
            <p:cNvSpPr txBox="1"/>
            <p:nvPr/>
          </p:nvSpPr>
          <p:spPr>
            <a:xfrm>
              <a:off x="6487325" y="3050325"/>
              <a:ext cx="2007600" cy="1545300"/>
            </a:xfrm>
            <a:prstGeom prst="rect">
              <a:avLst/>
            </a:prstGeom>
            <a:noFill/>
            <a:ln>
              <a:noFill/>
            </a:ln>
          </p:spPr>
          <p:txBody>
            <a:bodyPr spcFirstLastPara="1" wrap="square" lIns="91425" tIns="91425" rIns="91425" bIns="91425" anchor="t" anchorCtr="0">
              <a:noAutofit/>
            </a:bodyPr>
            <a:lstStyle/>
            <a:p>
              <a:pPr algn="ctr">
                <a:lnSpc>
                  <a:spcPct val="115000"/>
                </a:lnSpc>
              </a:pPr>
              <a:r>
                <a:rPr lang="en" sz="1300">
                  <a:solidFill>
                    <a:schemeClr val="dk2"/>
                  </a:solidFill>
                  <a:latin typeface="Roboto"/>
                  <a:ea typeface="Roboto"/>
                  <a:cs typeface="Roboto"/>
                  <a:sym typeface="Roboto"/>
                </a:rPr>
                <a:t>A </a:t>
              </a:r>
              <a:r>
                <a:rPr lang="en" sz="1300" b="1">
                  <a:solidFill>
                    <a:schemeClr val="dk2"/>
                  </a:solidFill>
                  <a:latin typeface="Roboto"/>
                  <a:ea typeface="Roboto"/>
                  <a:cs typeface="Roboto"/>
                  <a:sym typeface="Roboto"/>
                </a:rPr>
                <a:t>parity byte</a:t>
              </a:r>
              <a:r>
                <a:rPr lang="en" sz="1300">
                  <a:solidFill>
                    <a:schemeClr val="dk2"/>
                  </a:solidFill>
                  <a:latin typeface="Roboto"/>
                  <a:ea typeface="Roboto"/>
                  <a:cs typeface="Roboto"/>
                  <a:sym typeface="Roboto"/>
                </a:rPr>
                <a:t> is added to a block of data. The bits for the parity byte are calculated using the above column of data. If an incorrect parity for a row and a column are detected the exact position of the error can be located at the intersection.</a:t>
              </a:r>
              <a:endParaRPr sz="1300">
                <a:solidFill>
                  <a:schemeClr val="dk2"/>
                </a:solidFill>
                <a:latin typeface="Roboto"/>
                <a:ea typeface="Roboto"/>
                <a:cs typeface="Roboto"/>
                <a:sym typeface="Roboto"/>
              </a:endParaRPr>
            </a:p>
          </p:txBody>
        </p:sp>
        <p:pic>
          <p:nvPicPr>
            <p:cNvPr id="279" name="Google Shape;279;p41"/>
            <p:cNvPicPr preferRelativeResize="0"/>
            <p:nvPr/>
          </p:nvPicPr>
          <p:blipFill>
            <a:blip r:embed="rId5">
              <a:alphaModFix/>
            </a:blip>
            <a:stretch>
              <a:fillRect/>
            </a:stretch>
          </p:blipFill>
          <p:spPr>
            <a:xfrm>
              <a:off x="6623700" y="614500"/>
              <a:ext cx="1734850" cy="1734850"/>
            </a:xfrm>
            <a:prstGeom prst="rect">
              <a:avLst/>
            </a:prstGeom>
            <a:noFill/>
            <a:ln>
              <a:noFill/>
            </a:ln>
          </p:spPr>
        </p:pic>
      </p:grpSp>
    </p:spTree>
    <p:extLst>
      <p:ext uri="{BB962C8B-B14F-4D97-AF65-F5344CB8AC3E}">
        <p14:creationId xmlns:p14="http://schemas.microsoft.com/office/powerpoint/2010/main" val="227807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animEffect transition="in" filter="fade">
                                      <p:cBhvr>
                                        <p:cTn id="7" dur="1000"/>
                                        <p:tgtEl>
                                          <p:spTgt spid="2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6"/>
                                        </p:tgtEl>
                                        <p:attrNameLst>
                                          <p:attrName>style.visibility</p:attrName>
                                        </p:attrNameLst>
                                      </p:cBhvr>
                                      <p:to>
                                        <p:strVal val="visible"/>
                                      </p:to>
                                    </p:set>
                                    <p:animEffect transition="in" filter="fade">
                                      <p:cBhvr>
                                        <p:cTn id="12" dur="1000"/>
                                        <p:tgtEl>
                                          <p:spTgt spid="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73BB0A-57A4-84A4-501B-B84BEDAF9DF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D49B7CE-2815-CB41-8B7E-0A726944C321}"/>
              </a:ext>
            </a:extLst>
          </p:cNvPr>
          <p:cNvSpPr>
            <a:spLocks noGrp="1"/>
          </p:cNvSpPr>
          <p:nvPr>
            <p:ph type="title"/>
          </p:nvPr>
        </p:nvSpPr>
        <p:spPr>
          <a:xfrm>
            <a:off x="1115568" y="548640"/>
            <a:ext cx="10168128" cy="1179576"/>
          </a:xfrm>
        </p:spPr>
        <p:txBody>
          <a:bodyPr>
            <a:normAutofit/>
          </a:bodyPr>
          <a:lstStyle/>
          <a:p>
            <a:r>
              <a:rPr lang="en-US" sz="4000"/>
              <a:t>Parity Check (bit)</a:t>
            </a:r>
            <a:endParaRPr lang="ru-RU"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F3DE683-6755-4B62-1755-AEDBEC71723D}"/>
              </a:ext>
            </a:extLst>
          </p:cNvPr>
          <p:cNvSpPr>
            <a:spLocks noGrp="1"/>
          </p:cNvSpPr>
          <p:nvPr>
            <p:ph idx="1"/>
          </p:nvPr>
        </p:nvSpPr>
        <p:spPr>
          <a:xfrm>
            <a:off x="1115568" y="2481943"/>
            <a:ext cx="10168128" cy="3695020"/>
          </a:xfrm>
        </p:spPr>
        <p:txBody>
          <a:bodyPr>
            <a:normAutofit/>
          </a:bodyPr>
          <a:lstStyle/>
          <a:p>
            <a:pPr>
              <a:buFont typeface="Arial" panose="020B0604020202020204" pitchFamily="34" charset="0"/>
              <a:buChar char="•"/>
            </a:pPr>
            <a:r>
              <a:rPr lang="en-GB" sz="1900" b="0" i="0">
                <a:effectLst/>
                <a:latin typeface="jakarta"/>
              </a:rPr>
              <a:t>A parity check determines whether </a:t>
            </a:r>
            <a:r>
              <a:rPr lang="en-GB" sz="1900" b="1" i="0">
                <a:effectLst/>
                <a:latin typeface="jakarta"/>
              </a:rPr>
              <a:t>bits in a transmission</a:t>
            </a:r>
            <a:r>
              <a:rPr lang="en-GB" sz="1900" b="0" i="0">
                <a:effectLst/>
                <a:latin typeface="jakarta"/>
              </a:rPr>
              <a:t> have been </a:t>
            </a:r>
            <a:r>
              <a:rPr lang="en-GB" sz="1900" b="1" i="0">
                <a:effectLst/>
                <a:latin typeface="jakarta"/>
              </a:rPr>
              <a:t>corrupted</a:t>
            </a:r>
            <a:endParaRPr lang="en-GB" sz="1900" b="0" i="0">
              <a:effectLst/>
              <a:latin typeface="jakarta"/>
            </a:endParaRPr>
          </a:p>
          <a:p>
            <a:pPr>
              <a:buFont typeface="Arial" panose="020B0604020202020204" pitchFamily="34" charset="0"/>
              <a:buChar char="•"/>
            </a:pPr>
            <a:r>
              <a:rPr lang="en-GB" sz="1900" b="0" i="0">
                <a:effectLst/>
                <a:latin typeface="jakarta"/>
              </a:rPr>
              <a:t>Every byte transmitted has </a:t>
            </a:r>
            <a:r>
              <a:rPr lang="en-GB" sz="1900" b="1" i="0">
                <a:effectLst/>
                <a:latin typeface="jakarta"/>
              </a:rPr>
              <a:t>one of its bits</a:t>
            </a:r>
            <a:r>
              <a:rPr lang="en-GB" sz="1900" b="0" i="0">
                <a:effectLst/>
                <a:latin typeface="jakarta"/>
              </a:rPr>
              <a:t> allocated as a</a:t>
            </a:r>
            <a:r>
              <a:rPr lang="en-GB" sz="1900" b="1" i="0">
                <a:effectLst/>
                <a:latin typeface="jakarta"/>
              </a:rPr>
              <a:t> parity bit</a:t>
            </a:r>
            <a:endParaRPr lang="en-GB" sz="1900" b="0" i="0">
              <a:effectLst/>
              <a:latin typeface="jakarta"/>
            </a:endParaRPr>
          </a:p>
          <a:p>
            <a:pPr>
              <a:buFont typeface="Arial" panose="020B0604020202020204" pitchFamily="34" charset="0"/>
              <a:buChar char="•"/>
            </a:pPr>
            <a:r>
              <a:rPr lang="en-GB" sz="1900" b="0" i="0">
                <a:effectLst/>
                <a:latin typeface="jakarta"/>
              </a:rPr>
              <a:t>The sender and receiver must </a:t>
            </a:r>
            <a:r>
              <a:rPr lang="en-GB" sz="1900" b="1" i="0">
                <a:effectLst/>
                <a:latin typeface="jakarta"/>
              </a:rPr>
              <a:t>agree</a:t>
            </a:r>
            <a:r>
              <a:rPr lang="en-GB" sz="1900" b="0" i="0">
                <a:effectLst/>
                <a:latin typeface="jakarta"/>
              </a:rPr>
              <a:t> before transmission whether they are using </a:t>
            </a:r>
            <a:r>
              <a:rPr lang="en-GB" sz="1900" b="1" i="0">
                <a:effectLst/>
                <a:latin typeface="jakarta"/>
              </a:rPr>
              <a:t>odd </a:t>
            </a:r>
            <a:r>
              <a:rPr lang="en-GB" sz="1900" b="0" i="0">
                <a:effectLst/>
                <a:latin typeface="jakarta"/>
              </a:rPr>
              <a:t>or </a:t>
            </a:r>
            <a:r>
              <a:rPr lang="en-GB" sz="1900" b="1" i="0">
                <a:effectLst/>
                <a:latin typeface="jakarta"/>
              </a:rPr>
              <a:t>even parity</a:t>
            </a:r>
            <a:endParaRPr lang="en-GB" sz="1900" b="0" i="0">
              <a:effectLst/>
              <a:latin typeface="jakarta"/>
            </a:endParaRPr>
          </a:p>
          <a:p>
            <a:pPr>
              <a:buFont typeface="Arial" panose="020B0604020202020204" pitchFamily="34" charset="0"/>
              <a:buChar char="•"/>
            </a:pPr>
            <a:r>
              <a:rPr lang="en-GB" sz="1900" b="0" i="0">
                <a:effectLst/>
                <a:latin typeface="jakarta"/>
              </a:rPr>
              <a:t>If</a:t>
            </a:r>
            <a:r>
              <a:rPr lang="en-GB" sz="1900" b="1" i="0">
                <a:effectLst/>
                <a:latin typeface="jakarta"/>
              </a:rPr>
              <a:t> odd parity</a:t>
            </a:r>
            <a:r>
              <a:rPr lang="en-GB" sz="1900" b="0" i="0">
                <a:effectLst/>
                <a:latin typeface="jakarta"/>
              </a:rPr>
              <a:t> is used then there must be an </a:t>
            </a:r>
            <a:r>
              <a:rPr lang="en-GB" sz="1900" b="1" i="0">
                <a:effectLst/>
                <a:latin typeface="jakarta"/>
              </a:rPr>
              <a:t>odd number of 1’s in the byte</a:t>
            </a:r>
            <a:r>
              <a:rPr lang="en-GB" sz="1900" b="0" i="0">
                <a:effectLst/>
                <a:latin typeface="jakarta"/>
              </a:rPr>
              <a:t>, including the parity bit</a:t>
            </a:r>
          </a:p>
          <a:p>
            <a:pPr>
              <a:buFont typeface="Arial" panose="020B0604020202020204" pitchFamily="34" charset="0"/>
              <a:buChar char="•"/>
            </a:pPr>
            <a:r>
              <a:rPr lang="en-GB" sz="1900" b="0" i="0">
                <a:effectLst/>
                <a:latin typeface="jakarta"/>
              </a:rPr>
              <a:t>If </a:t>
            </a:r>
            <a:r>
              <a:rPr lang="en-GB" sz="1900" b="1" i="0">
                <a:effectLst/>
                <a:latin typeface="jakarta"/>
              </a:rPr>
              <a:t>even parity </a:t>
            </a:r>
            <a:r>
              <a:rPr lang="en-GB" sz="1900" b="0" i="0">
                <a:effectLst/>
                <a:latin typeface="jakarta"/>
              </a:rPr>
              <a:t>is used then there must be an </a:t>
            </a:r>
            <a:r>
              <a:rPr lang="en-GB" sz="1900" b="1" i="0">
                <a:effectLst/>
                <a:latin typeface="jakarta"/>
              </a:rPr>
              <a:t>even number of 1’s in the byte</a:t>
            </a:r>
            <a:r>
              <a:rPr lang="en-GB" sz="1900" b="0" i="0">
                <a:effectLst/>
                <a:latin typeface="jakarta"/>
              </a:rPr>
              <a:t>, including the parity bit</a:t>
            </a:r>
          </a:p>
          <a:p>
            <a:pPr>
              <a:buFont typeface="Arial" panose="020B0604020202020204" pitchFamily="34" charset="0"/>
              <a:buChar char="•"/>
            </a:pPr>
            <a:r>
              <a:rPr lang="en-GB" sz="1900" b="0" i="0">
                <a:effectLst/>
                <a:latin typeface="jakarta"/>
              </a:rPr>
              <a:t>The </a:t>
            </a:r>
            <a:r>
              <a:rPr lang="en-GB" sz="1900" b="1" i="0">
                <a:effectLst/>
                <a:latin typeface="jakarta"/>
              </a:rPr>
              <a:t>value of the parity bit</a:t>
            </a:r>
            <a:r>
              <a:rPr lang="en-GB" sz="1900" b="0" i="0">
                <a:effectLst/>
                <a:latin typeface="jakarta"/>
              </a:rPr>
              <a:t> is determined by</a:t>
            </a:r>
            <a:r>
              <a:rPr lang="en-GB" sz="1900" b="1" i="0">
                <a:effectLst/>
                <a:latin typeface="jakarta"/>
              </a:rPr>
              <a:t> counting the number of 1’s in the byte</a:t>
            </a:r>
            <a:r>
              <a:rPr lang="en-GB" sz="1900" b="0" i="0">
                <a:effectLst/>
                <a:latin typeface="jakarta"/>
              </a:rPr>
              <a:t>, including the parity bit</a:t>
            </a:r>
          </a:p>
          <a:p>
            <a:pPr>
              <a:buFont typeface="Arial" panose="020B0604020202020204" pitchFamily="34" charset="0"/>
              <a:buChar char="•"/>
            </a:pPr>
            <a:r>
              <a:rPr lang="en-GB" sz="1900" b="0" i="0">
                <a:effectLst/>
                <a:latin typeface="jakarta"/>
              </a:rPr>
              <a:t>If the number of 1’s </a:t>
            </a:r>
            <a:r>
              <a:rPr lang="en-GB" sz="1900" b="1" i="0">
                <a:effectLst/>
                <a:latin typeface="jakarta"/>
              </a:rPr>
              <a:t>does not match the agreed parity</a:t>
            </a:r>
            <a:r>
              <a:rPr lang="en-GB" sz="1900" b="0" i="0">
                <a:effectLst/>
                <a:latin typeface="jakarta"/>
              </a:rPr>
              <a:t> then an</a:t>
            </a:r>
            <a:r>
              <a:rPr lang="en-GB" sz="1900" b="1" i="0">
                <a:effectLst/>
                <a:latin typeface="jakarta"/>
              </a:rPr>
              <a:t> error has occurred</a:t>
            </a:r>
            <a:endParaRPr lang="en-GB" sz="1900" b="0" i="0">
              <a:effectLst/>
              <a:latin typeface="jakarta"/>
            </a:endParaRPr>
          </a:p>
          <a:p>
            <a:pPr>
              <a:buFont typeface="Arial" panose="020B0604020202020204" pitchFamily="34" charset="0"/>
              <a:buChar char="•"/>
            </a:pPr>
            <a:r>
              <a:rPr lang="en-GB" sz="1900" b="0" i="0">
                <a:effectLst/>
                <a:latin typeface="jakarta"/>
              </a:rPr>
              <a:t>Parity checks </a:t>
            </a:r>
            <a:r>
              <a:rPr lang="en-GB" sz="1900" b="1" i="0">
                <a:effectLst/>
                <a:latin typeface="jakarta"/>
              </a:rPr>
              <a:t>only check that an error has occurred</a:t>
            </a:r>
            <a:r>
              <a:rPr lang="en-GB" sz="1900" b="0" i="0">
                <a:effectLst/>
                <a:latin typeface="jakarta"/>
              </a:rPr>
              <a:t>, they do not reveal where the error(s) occurred</a:t>
            </a:r>
          </a:p>
          <a:p>
            <a:pPr marL="0" indent="0">
              <a:buNone/>
            </a:pPr>
            <a:endParaRPr lang="ru-RU" sz="1900"/>
          </a:p>
        </p:txBody>
      </p:sp>
    </p:spTree>
    <p:extLst>
      <p:ext uri="{BB962C8B-B14F-4D97-AF65-F5344CB8AC3E}">
        <p14:creationId xmlns:p14="http://schemas.microsoft.com/office/powerpoint/2010/main" val="3437360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AEF7034B-3E68-2ACF-0CFA-0CC404F5A9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827" y="218663"/>
            <a:ext cx="11078816" cy="6314922"/>
          </a:xfrm>
          <a:prstGeom prst="rect">
            <a:avLst/>
          </a:prstGeom>
        </p:spPr>
      </p:pic>
    </p:spTree>
    <p:extLst>
      <p:ext uri="{BB962C8B-B14F-4D97-AF65-F5344CB8AC3E}">
        <p14:creationId xmlns:p14="http://schemas.microsoft.com/office/powerpoint/2010/main" val="3679196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E66F4359-CA71-32A4-CB43-D8E61B956A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2696" y="159026"/>
            <a:ext cx="9908520" cy="6546574"/>
          </a:xfrm>
          <a:prstGeom prst="rect">
            <a:avLst/>
          </a:prstGeom>
        </p:spPr>
      </p:pic>
    </p:spTree>
    <p:extLst>
      <p:ext uri="{BB962C8B-B14F-4D97-AF65-F5344CB8AC3E}">
        <p14:creationId xmlns:p14="http://schemas.microsoft.com/office/powerpoint/2010/main" val="2073785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306" name="Google Shape;306;p43"/>
          <p:cNvPicPr preferRelativeResize="0"/>
          <p:nvPr/>
        </p:nvPicPr>
        <p:blipFill rotWithShape="1">
          <a:blip r:embed="rId3">
            <a:alphaModFix/>
          </a:blip>
          <a:srcRect t="29737" b="29979"/>
          <a:stretch/>
        </p:blipFill>
        <p:spPr>
          <a:xfrm>
            <a:off x="1891934" y="2157433"/>
            <a:ext cx="2906133" cy="1170667"/>
          </a:xfrm>
          <a:prstGeom prst="rect">
            <a:avLst/>
          </a:prstGeom>
          <a:noFill/>
          <a:ln>
            <a:noFill/>
          </a:ln>
        </p:spPr>
      </p:pic>
      <p:sp>
        <p:nvSpPr>
          <p:cNvPr id="307" name="Google Shape;307;p43"/>
          <p:cNvSpPr txBox="1">
            <a:spLocks noGrp="1"/>
          </p:cNvSpPr>
          <p:nvPr>
            <p:ph type="title"/>
          </p:nvPr>
        </p:nvSpPr>
        <p:spPr>
          <a:xfrm rot="-5400000">
            <a:off x="-3190400" y="3165000"/>
            <a:ext cx="6908800" cy="528000"/>
          </a:xfrm>
          <a:prstGeom prst="rect">
            <a:avLst/>
          </a:prstGeom>
        </p:spPr>
        <p:txBody>
          <a:bodyPr spcFirstLastPara="1" wrap="square" lIns="121897" tIns="121897" rIns="121897" bIns="121897" anchor="t" anchorCtr="0">
            <a:noAutofit/>
          </a:bodyPr>
          <a:lstStyle/>
          <a:p>
            <a:r>
              <a:rPr lang="en"/>
              <a:t>Parity checks</a:t>
            </a:r>
            <a:endParaRPr/>
          </a:p>
        </p:txBody>
      </p:sp>
      <p:sp>
        <p:nvSpPr>
          <p:cNvPr id="308" name="Google Shape;308;p43"/>
          <p:cNvSpPr txBox="1">
            <a:spLocks noGrp="1"/>
          </p:cNvSpPr>
          <p:nvPr>
            <p:ph type="body" idx="1"/>
          </p:nvPr>
        </p:nvSpPr>
        <p:spPr>
          <a:xfrm>
            <a:off x="1504767" y="1585833"/>
            <a:ext cx="3861600" cy="571600"/>
          </a:xfrm>
          <a:prstGeom prst="rect">
            <a:avLst/>
          </a:prstGeom>
        </p:spPr>
        <p:txBody>
          <a:bodyPr spcFirstLastPara="1" wrap="square" lIns="121897" tIns="121897" rIns="121897" bIns="121897" anchor="t" anchorCtr="0">
            <a:noAutofit/>
          </a:bodyPr>
          <a:lstStyle/>
          <a:p>
            <a:pPr marL="0" indent="0">
              <a:spcAft>
                <a:spcPts val="2133"/>
              </a:spcAft>
              <a:buNone/>
            </a:pPr>
            <a:r>
              <a:rPr lang="en" sz="1900">
                <a:solidFill>
                  <a:srgbClr val="000000"/>
                </a:solidFill>
                <a:latin typeface="Roboto"/>
                <a:ea typeface="Roboto"/>
                <a:cs typeface="Roboto"/>
                <a:sym typeface="Roboto"/>
              </a:rPr>
              <a:t>Set the parity bit using </a:t>
            </a:r>
            <a:r>
              <a:rPr lang="en" sz="1900" b="1">
                <a:solidFill>
                  <a:srgbClr val="000000"/>
                </a:solidFill>
                <a:latin typeface="Roboto"/>
                <a:ea typeface="Roboto"/>
                <a:cs typeface="Roboto"/>
                <a:sym typeface="Roboto"/>
              </a:rPr>
              <a:t>even </a:t>
            </a:r>
            <a:r>
              <a:rPr lang="en" sz="1900">
                <a:solidFill>
                  <a:srgbClr val="000000"/>
                </a:solidFill>
                <a:latin typeface="Roboto"/>
                <a:ea typeface="Roboto"/>
                <a:cs typeface="Roboto"/>
                <a:sym typeface="Roboto"/>
              </a:rPr>
              <a:t>parity.</a:t>
            </a:r>
            <a:endParaRPr sz="1900">
              <a:solidFill>
                <a:srgbClr val="000000"/>
              </a:solidFill>
              <a:latin typeface="Roboto"/>
              <a:ea typeface="Roboto"/>
              <a:cs typeface="Roboto"/>
              <a:sym typeface="Roboto"/>
            </a:endParaRPr>
          </a:p>
        </p:txBody>
      </p:sp>
      <p:sp>
        <p:nvSpPr>
          <p:cNvPr id="309" name="Google Shape;309;p43"/>
          <p:cNvSpPr txBox="1">
            <a:spLocks noGrp="1"/>
          </p:cNvSpPr>
          <p:nvPr>
            <p:ph type="body" idx="1"/>
          </p:nvPr>
        </p:nvSpPr>
        <p:spPr>
          <a:xfrm>
            <a:off x="7006767" y="1585833"/>
            <a:ext cx="3861600" cy="571600"/>
          </a:xfrm>
          <a:prstGeom prst="rect">
            <a:avLst/>
          </a:prstGeom>
        </p:spPr>
        <p:txBody>
          <a:bodyPr spcFirstLastPara="1" wrap="square" lIns="121897" tIns="121897" rIns="121897" bIns="121897" anchor="t" anchorCtr="0">
            <a:noAutofit/>
          </a:bodyPr>
          <a:lstStyle/>
          <a:p>
            <a:pPr marL="0" indent="0">
              <a:spcAft>
                <a:spcPts val="2133"/>
              </a:spcAft>
              <a:buNone/>
            </a:pPr>
            <a:r>
              <a:rPr lang="en" sz="1900">
                <a:solidFill>
                  <a:srgbClr val="000000"/>
                </a:solidFill>
                <a:latin typeface="Roboto"/>
                <a:ea typeface="Roboto"/>
                <a:cs typeface="Roboto"/>
                <a:sym typeface="Roboto"/>
              </a:rPr>
              <a:t>Set the parity bit using </a:t>
            </a:r>
            <a:r>
              <a:rPr lang="en" sz="1900" b="1">
                <a:solidFill>
                  <a:srgbClr val="000000"/>
                </a:solidFill>
                <a:latin typeface="Roboto"/>
                <a:ea typeface="Roboto"/>
                <a:cs typeface="Roboto"/>
                <a:sym typeface="Roboto"/>
              </a:rPr>
              <a:t>odd </a:t>
            </a:r>
            <a:r>
              <a:rPr lang="en" sz="1900">
                <a:solidFill>
                  <a:srgbClr val="000000"/>
                </a:solidFill>
                <a:latin typeface="Roboto"/>
                <a:ea typeface="Roboto"/>
                <a:cs typeface="Roboto"/>
                <a:sym typeface="Roboto"/>
              </a:rPr>
              <a:t>parity.</a:t>
            </a:r>
            <a:endParaRPr sz="1900">
              <a:solidFill>
                <a:srgbClr val="000000"/>
              </a:solidFill>
              <a:latin typeface="Roboto"/>
              <a:ea typeface="Roboto"/>
              <a:cs typeface="Roboto"/>
              <a:sym typeface="Roboto"/>
            </a:endParaRPr>
          </a:p>
        </p:txBody>
      </p:sp>
      <p:sp>
        <p:nvSpPr>
          <p:cNvPr id="310" name="Google Shape;310;p43"/>
          <p:cNvSpPr/>
          <p:nvPr/>
        </p:nvSpPr>
        <p:spPr>
          <a:xfrm>
            <a:off x="5912533" y="5375733"/>
            <a:ext cx="5779200" cy="514800"/>
          </a:xfrm>
          <a:prstGeom prst="wedgeRoundRectCallout">
            <a:avLst>
              <a:gd name="adj1" fmla="val 55246"/>
              <a:gd name="adj2" fmla="val 34881"/>
              <a:gd name="adj3" fmla="val 0"/>
            </a:avLst>
          </a:prstGeom>
          <a:solidFill>
            <a:srgbClr val="F3F3F3"/>
          </a:solidFill>
          <a:ln w="9525" cap="flat" cmpd="sng">
            <a:solidFill>
              <a:schemeClr val="dk2"/>
            </a:solidFill>
            <a:prstDash val="solid"/>
            <a:round/>
            <a:headEnd type="none" w="sm" len="sm"/>
            <a:tailEnd type="none" w="sm" len="sm"/>
          </a:ln>
        </p:spPr>
        <p:txBody>
          <a:bodyPr spcFirstLastPara="1" wrap="square" lIns="121897" tIns="121897" rIns="121897" bIns="121897" anchor="ctr" anchorCtr="0">
            <a:noAutofit/>
          </a:bodyPr>
          <a:lstStyle/>
          <a:p>
            <a:pPr algn="ctr"/>
            <a:r>
              <a:rPr lang="en">
                <a:solidFill>
                  <a:schemeClr val="dk1"/>
                </a:solidFill>
              </a:rPr>
              <a:t>(b) Will the use of a parity bit always detect errors?</a:t>
            </a:r>
            <a:endParaRPr>
              <a:solidFill>
                <a:schemeClr val="dk1"/>
              </a:solidFill>
            </a:endParaRPr>
          </a:p>
        </p:txBody>
      </p:sp>
      <p:sp>
        <p:nvSpPr>
          <p:cNvPr id="311" name="Google Shape;311;p43"/>
          <p:cNvSpPr/>
          <p:nvPr/>
        </p:nvSpPr>
        <p:spPr>
          <a:xfrm>
            <a:off x="5419833" y="4753333"/>
            <a:ext cx="6271600" cy="514800"/>
          </a:xfrm>
          <a:prstGeom prst="wedgeRoundRectCallout">
            <a:avLst>
              <a:gd name="adj1" fmla="val 55246"/>
              <a:gd name="adj2" fmla="val 34881"/>
              <a:gd name="adj3" fmla="val 0"/>
            </a:avLst>
          </a:prstGeom>
          <a:solidFill>
            <a:srgbClr val="F3F3F3"/>
          </a:solidFill>
          <a:ln w="9525" cap="flat" cmpd="sng">
            <a:solidFill>
              <a:schemeClr val="dk2"/>
            </a:solidFill>
            <a:prstDash val="solid"/>
            <a:round/>
            <a:headEnd type="none" w="sm" len="sm"/>
            <a:tailEnd type="none" w="sm" len="sm"/>
          </a:ln>
        </p:spPr>
        <p:txBody>
          <a:bodyPr spcFirstLastPara="1" wrap="square" lIns="121897" tIns="121897" rIns="121897" bIns="121897" anchor="ctr" anchorCtr="0">
            <a:noAutofit/>
          </a:bodyPr>
          <a:lstStyle/>
          <a:p>
            <a:pPr algn="ctr"/>
            <a:r>
              <a:rPr lang="en">
                <a:solidFill>
                  <a:schemeClr val="dk1"/>
                </a:solidFill>
              </a:rPr>
              <a:t>5. (a) Complete the parity bits for each nibble of data.</a:t>
            </a:r>
            <a:endParaRPr>
              <a:solidFill>
                <a:schemeClr val="dk1"/>
              </a:solidFill>
            </a:endParaRPr>
          </a:p>
        </p:txBody>
      </p:sp>
      <p:sp>
        <p:nvSpPr>
          <p:cNvPr id="312" name="Google Shape;312;p43"/>
          <p:cNvSpPr txBox="1"/>
          <p:nvPr/>
        </p:nvSpPr>
        <p:spPr>
          <a:xfrm>
            <a:off x="2051267" y="2359567"/>
            <a:ext cx="2653600" cy="865600"/>
          </a:xfrm>
          <a:prstGeom prst="rect">
            <a:avLst/>
          </a:prstGeom>
          <a:noFill/>
          <a:ln>
            <a:noFill/>
          </a:ln>
        </p:spPr>
        <p:txBody>
          <a:bodyPr spcFirstLastPara="1" wrap="square" lIns="121897" tIns="121897" rIns="121897" bIns="121897" anchor="t" anchorCtr="0">
            <a:noAutofit/>
          </a:bodyPr>
          <a:lstStyle/>
          <a:p>
            <a:r>
              <a:rPr lang="en" sz="3200">
                <a:solidFill>
                  <a:srgbClr val="FFFFFF"/>
                </a:solidFill>
              </a:rPr>
              <a:t>0    1    1</a:t>
            </a:r>
            <a:endParaRPr sz="3200">
              <a:solidFill>
                <a:srgbClr val="FFFFFF"/>
              </a:solidFill>
            </a:endParaRPr>
          </a:p>
        </p:txBody>
      </p:sp>
      <p:pic>
        <p:nvPicPr>
          <p:cNvPr id="313" name="Google Shape;313;p43"/>
          <p:cNvPicPr preferRelativeResize="0"/>
          <p:nvPr/>
        </p:nvPicPr>
        <p:blipFill rotWithShape="1">
          <a:blip r:embed="rId3">
            <a:alphaModFix/>
          </a:blip>
          <a:srcRect t="29737" b="29979"/>
          <a:stretch/>
        </p:blipFill>
        <p:spPr>
          <a:xfrm>
            <a:off x="7393934" y="2207033"/>
            <a:ext cx="2906133" cy="1170667"/>
          </a:xfrm>
          <a:prstGeom prst="rect">
            <a:avLst/>
          </a:prstGeom>
          <a:noFill/>
          <a:ln>
            <a:noFill/>
          </a:ln>
        </p:spPr>
      </p:pic>
      <p:sp>
        <p:nvSpPr>
          <p:cNvPr id="314" name="Google Shape;314;p43"/>
          <p:cNvSpPr txBox="1"/>
          <p:nvPr/>
        </p:nvSpPr>
        <p:spPr>
          <a:xfrm>
            <a:off x="7553267" y="2409167"/>
            <a:ext cx="2653600" cy="865600"/>
          </a:xfrm>
          <a:prstGeom prst="rect">
            <a:avLst/>
          </a:prstGeom>
          <a:noFill/>
          <a:ln>
            <a:noFill/>
          </a:ln>
        </p:spPr>
        <p:txBody>
          <a:bodyPr spcFirstLastPara="1" wrap="square" lIns="121897" tIns="121897" rIns="121897" bIns="121897" anchor="t" anchorCtr="0">
            <a:noAutofit/>
          </a:bodyPr>
          <a:lstStyle/>
          <a:p>
            <a:r>
              <a:rPr lang="en" sz="3200">
                <a:solidFill>
                  <a:srgbClr val="FFFFFF"/>
                </a:solidFill>
              </a:rPr>
              <a:t>1    0    1</a:t>
            </a:r>
            <a:endParaRPr sz="3200">
              <a:solidFill>
                <a:srgbClr val="FFFFFF"/>
              </a:solidFill>
            </a:endParaRPr>
          </a:p>
        </p:txBody>
      </p:sp>
      <p:cxnSp>
        <p:nvCxnSpPr>
          <p:cNvPr id="315" name="Google Shape;315;p43"/>
          <p:cNvCxnSpPr>
            <a:stCxn id="306" idx="3"/>
            <a:endCxn id="316" idx="1"/>
          </p:cNvCxnSpPr>
          <p:nvPr/>
        </p:nvCxnSpPr>
        <p:spPr>
          <a:xfrm>
            <a:off x="4798067" y="2742767"/>
            <a:ext cx="568400" cy="451200"/>
          </a:xfrm>
          <a:prstGeom prst="curvedConnector3">
            <a:avLst>
              <a:gd name="adj1" fmla="val 49991"/>
            </a:avLst>
          </a:prstGeom>
          <a:noFill/>
          <a:ln w="9525" cap="flat" cmpd="sng">
            <a:solidFill>
              <a:schemeClr val="dk2"/>
            </a:solidFill>
            <a:prstDash val="solid"/>
            <a:round/>
            <a:headEnd type="triangle" w="med" len="med"/>
            <a:tailEnd type="none" w="med" len="med"/>
          </a:ln>
        </p:spPr>
      </p:cxnSp>
      <p:sp>
        <p:nvSpPr>
          <p:cNvPr id="316" name="Google Shape;316;p43"/>
          <p:cNvSpPr txBox="1"/>
          <p:nvPr/>
        </p:nvSpPr>
        <p:spPr>
          <a:xfrm>
            <a:off x="5366367" y="2958600"/>
            <a:ext cx="1114400" cy="470400"/>
          </a:xfrm>
          <a:prstGeom prst="rect">
            <a:avLst/>
          </a:prstGeom>
          <a:noFill/>
          <a:ln>
            <a:noFill/>
          </a:ln>
        </p:spPr>
        <p:txBody>
          <a:bodyPr spcFirstLastPara="1" wrap="square" lIns="121897" tIns="121897" rIns="121897" bIns="121897" anchor="t" anchorCtr="0">
            <a:noAutofit/>
          </a:bodyPr>
          <a:lstStyle/>
          <a:p>
            <a:pPr algn="ctr"/>
            <a:r>
              <a:rPr lang="en" sz="1300">
                <a:latin typeface="Roboto"/>
                <a:ea typeface="Roboto"/>
                <a:cs typeface="Roboto"/>
                <a:sym typeface="Roboto"/>
              </a:rPr>
              <a:t>parity bit</a:t>
            </a:r>
            <a:endParaRPr sz="1300">
              <a:latin typeface="Roboto"/>
              <a:ea typeface="Roboto"/>
              <a:cs typeface="Roboto"/>
              <a:sym typeface="Roboto"/>
            </a:endParaRPr>
          </a:p>
        </p:txBody>
      </p:sp>
    </p:spTree>
    <p:extLst>
      <p:ext uri="{BB962C8B-B14F-4D97-AF65-F5344CB8AC3E}">
        <p14:creationId xmlns:p14="http://schemas.microsoft.com/office/powerpoint/2010/main" val="3277475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4BEC3-F004-2F7D-6F8E-02D25FCE92A2}"/>
              </a:ext>
            </a:extLst>
          </p:cNvPr>
          <p:cNvSpPr>
            <a:spLocks noGrp="1"/>
          </p:cNvSpPr>
          <p:nvPr>
            <p:ph type="title"/>
          </p:nvPr>
        </p:nvSpPr>
        <p:spPr/>
        <p:txBody>
          <a:bodyPr/>
          <a:lstStyle/>
          <a:p>
            <a:r>
              <a:rPr lang="en-US" dirty="0"/>
              <a:t>Parity Block</a:t>
            </a:r>
          </a:p>
        </p:txBody>
      </p:sp>
      <p:sp>
        <p:nvSpPr>
          <p:cNvPr id="3" name="Content Placeholder 2">
            <a:extLst>
              <a:ext uri="{FF2B5EF4-FFF2-40B4-BE49-F238E27FC236}">
                <a16:creationId xmlns:a16="http://schemas.microsoft.com/office/drawing/2014/main" id="{A3051728-E7E7-2BF6-D42E-5AEDFD24C5C4}"/>
              </a:ext>
            </a:extLst>
          </p:cNvPr>
          <p:cNvSpPr>
            <a:spLocks noGrp="1"/>
          </p:cNvSpPr>
          <p:nvPr>
            <p:ph idx="1"/>
          </p:nvPr>
        </p:nvSpPr>
        <p:spPr>
          <a:xfrm>
            <a:off x="838200" y="1800155"/>
            <a:ext cx="10515600" cy="4692720"/>
          </a:xfrm>
        </p:spPr>
        <p:txBody>
          <a:bodyPr/>
          <a:lstStyle/>
          <a:p>
            <a:pPr>
              <a:lnSpc>
                <a:spcPts val="2250"/>
              </a:lnSpc>
            </a:pPr>
            <a:r>
              <a:rPr lang="en-GB" b="0" i="0" dirty="0">
                <a:effectLst/>
                <a:latin typeface="Lato" panose="020F0502020204030203" pitchFamily="34" charset="0"/>
              </a:rPr>
              <a:t>Parity block checks are used in data storage and data transmission systems to add an additional layer of error detection to a group of bytes (usually a larger chunk of data). </a:t>
            </a:r>
          </a:p>
          <a:p>
            <a:pPr>
              <a:lnSpc>
                <a:spcPts val="2250"/>
              </a:lnSpc>
            </a:pPr>
            <a:r>
              <a:rPr lang="en-GB" b="0" i="0" dirty="0">
                <a:effectLst/>
                <a:latin typeface="Lato" panose="020F0502020204030203" pitchFamily="34" charset="0"/>
              </a:rPr>
              <a:t>They are similar in concept to parity bits, but instead of applying parity to individual bits within a byte, they apply it to a group of </a:t>
            </a:r>
            <a:r>
              <a:rPr lang="en-GB" b="1" i="0" dirty="0">
                <a:solidFill>
                  <a:srgbClr val="0000FF"/>
                </a:solidFill>
                <a:effectLst/>
                <a:latin typeface="Lato" panose="020F0502020204030203" pitchFamily="34" charset="0"/>
              </a:rPr>
              <a:t>parity bytes.</a:t>
            </a:r>
            <a:endParaRPr lang="en-GB" b="0" i="0" dirty="0">
              <a:effectLst/>
              <a:latin typeface="Lato" panose="020F0502020204030203" pitchFamily="34" charset="0"/>
            </a:endParaRPr>
          </a:p>
          <a:p>
            <a:pPr algn="l">
              <a:lnSpc>
                <a:spcPts val="2250"/>
              </a:lnSpc>
            </a:pPr>
            <a:r>
              <a:rPr lang="en-GB" b="0" i="0" dirty="0">
                <a:effectLst/>
                <a:latin typeface="Lato" panose="020F0502020204030203" pitchFamily="34" charset="0"/>
              </a:rPr>
              <a:t>The purpose of parity bytes is to detect errors in a larger data unit, such as a block of data, rather than just individual bits or bytes. </a:t>
            </a:r>
          </a:p>
          <a:p>
            <a:pPr algn="l">
              <a:lnSpc>
                <a:spcPts val="2250"/>
              </a:lnSpc>
            </a:pPr>
            <a:r>
              <a:rPr lang="en-GB" b="0" i="0" dirty="0">
                <a:effectLst/>
                <a:latin typeface="Lato" panose="020F0502020204030203" pitchFamily="34" charset="0"/>
              </a:rPr>
              <a:t>By using parity bytes, you can detect errors in the entire data block more effectively. </a:t>
            </a:r>
          </a:p>
          <a:p>
            <a:pPr algn="l">
              <a:lnSpc>
                <a:spcPts val="2250"/>
              </a:lnSpc>
            </a:pPr>
            <a:endParaRPr lang="en-GB" dirty="0">
              <a:latin typeface="Lato" panose="020F0502020204030203" pitchFamily="34" charset="0"/>
            </a:endParaRPr>
          </a:p>
          <a:p>
            <a:pPr algn="l">
              <a:lnSpc>
                <a:spcPts val="2250"/>
              </a:lnSpc>
            </a:pPr>
            <a:r>
              <a:rPr lang="en-GB" b="0" i="0" u="none" strike="noStrike" dirty="0">
                <a:solidFill>
                  <a:srgbClr val="FFFFFF"/>
                </a:solidFill>
                <a:effectLst/>
                <a:latin typeface="YouTube Noto"/>
                <a:hlinkClick r:id="rId2"/>
              </a:rPr>
              <a:t>https://youtu.be/jLuj62Gq-1I</a:t>
            </a:r>
            <a:r>
              <a:rPr lang="en-GB" b="0" i="0" u="none" strike="noStrike" dirty="0">
                <a:solidFill>
                  <a:srgbClr val="FFFFFF"/>
                </a:solidFill>
                <a:effectLst/>
                <a:latin typeface="Lato" panose="020F0502020204030203" pitchFamily="34" charset="0"/>
              </a:rPr>
              <a:t> </a:t>
            </a:r>
            <a:r>
              <a:rPr lang="en-GB" b="0" i="0" u="none" strike="noStrike" dirty="0">
                <a:effectLst/>
                <a:latin typeface="Lato" panose="020F0502020204030203" pitchFamily="34" charset="0"/>
              </a:rPr>
              <a:t>- in your own time</a:t>
            </a:r>
            <a:endParaRPr lang="en-GB" b="0" i="0" dirty="0">
              <a:effectLst/>
              <a:latin typeface="Lato" panose="020F0502020204030203" pitchFamily="34" charset="0"/>
            </a:endParaRPr>
          </a:p>
          <a:p>
            <a:endParaRPr lang="en-US" dirty="0"/>
          </a:p>
        </p:txBody>
      </p:sp>
    </p:spTree>
    <p:extLst>
      <p:ext uri="{BB962C8B-B14F-4D97-AF65-F5344CB8AC3E}">
        <p14:creationId xmlns:p14="http://schemas.microsoft.com/office/powerpoint/2010/main" val="1313880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348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icture">
            <a:extLst>
              <a:ext uri="{FF2B5EF4-FFF2-40B4-BE49-F238E27FC236}">
                <a16:creationId xmlns:a16="http://schemas.microsoft.com/office/drawing/2014/main" id="{07FF8124-6FE8-4D41-4DC1-EE78FC44282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730272"/>
            <a:ext cx="10905066" cy="539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1210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5B3C9609-C495-2AE9-C1BC-BD04022C3A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2871" y="-20208"/>
            <a:ext cx="7640750" cy="6857572"/>
          </a:xfrm>
          <a:prstGeom prst="rect">
            <a:avLst/>
          </a:prstGeom>
        </p:spPr>
      </p:pic>
    </p:spTree>
    <p:extLst>
      <p:ext uri="{BB962C8B-B14F-4D97-AF65-F5344CB8AC3E}">
        <p14:creationId xmlns:p14="http://schemas.microsoft.com/office/powerpoint/2010/main" val="2081867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F31D59F-928F-7017-7CED-594584193A1B}"/>
              </a:ext>
            </a:extLst>
          </p:cNvPr>
          <p:cNvSpPr>
            <a:spLocks noGrp="1"/>
          </p:cNvSpPr>
          <p:nvPr>
            <p:ph type="title"/>
          </p:nvPr>
        </p:nvSpPr>
        <p:spPr>
          <a:xfrm>
            <a:off x="1115568" y="548640"/>
            <a:ext cx="10168128" cy="1179576"/>
          </a:xfrm>
        </p:spPr>
        <p:txBody>
          <a:bodyPr>
            <a:normAutofit/>
          </a:bodyPr>
          <a:lstStyle/>
          <a:p>
            <a:r>
              <a:rPr lang="en-US" sz="4000"/>
              <a:t>Checksum</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8DDD03D-11CB-611A-AC36-F51E528B47E4}"/>
              </a:ext>
            </a:extLst>
          </p:cNvPr>
          <p:cNvSpPr>
            <a:spLocks noGrp="1"/>
          </p:cNvSpPr>
          <p:nvPr>
            <p:ph idx="1"/>
          </p:nvPr>
        </p:nvSpPr>
        <p:spPr>
          <a:xfrm>
            <a:off x="1115568" y="2481943"/>
            <a:ext cx="10493336" cy="4144144"/>
          </a:xfrm>
        </p:spPr>
        <p:txBody>
          <a:bodyPr>
            <a:normAutofit/>
          </a:bodyPr>
          <a:lstStyle/>
          <a:p>
            <a:pPr>
              <a:buFont typeface="Arial" panose="020B0604020202020204" pitchFamily="34" charset="0"/>
              <a:buChar char="•"/>
            </a:pPr>
            <a:r>
              <a:rPr lang="en-GB" b="0" i="0" dirty="0">
                <a:effectLst/>
                <a:latin typeface="jakarta"/>
              </a:rPr>
              <a:t>A checksum is a value that can be used to determine if data has been</a:t>
            </a:r>
            <a:r>
              <a:rPr lang="en-GB" b="1" i="0" dirty="0">
                <a:effectLst/>
                <a:latin typeface="jakarta"/>
              </a:rPr>
              <a:t> corrupted or altered</a:t>
            </a:r>
            <a:endParaRPr lang="en-GB" b="0" i="0" dirty="0">
              <a:effectLst/>
              <a:latin typeface="jakarta"/>
            </a:endParaRPr>
          </a:p>
          <a:p>
            <a:pPr>
              <a:buFont typeface="Arial" panose="020B0604020202020204" pitchFamily="34" charset="0"/>
              <a:buChar char="•"/>
            </a:pPr>
            <a:r>
              <a:rPr lang="en-GB" b="0" i="0" dirty="0">
                <a:effectLst/>
                <a:latin typeface="jakarta"/>
              </a:rPr>
              <a:t>It indicates whether data </a:t>
            </a:r>
            <a:r>
              <a:rPr lang="en-GB" b="1" i="0" dirty="0">
                <a:effectLst/>
                <a:latin typeface="jakarta"/>
              </a:rPr>
              <a:t>differs from its original form</a:t>
            </a:r>
            <a:r>
              <a:rPr lang="en-GB" b="0" i="0" dirty="0">
                <a:effectLst/>
                <a:latin typeface="jakarta"/>
              </a:rPr>
              <a:t> but </a:t>
            </a:r>
            <a:r>
              <a:rPr lang="en-GB" b="1" i="0" dirty="0">
                <a:effectLst/>
                <a:latin typeface="jakarta"/>
              </a:rPr>
              <a:t>does not </a:t>
            </a:r>
            <a:r>
              <a:rPr lang="en-GB" b="0" i="0" dirty="0">
                <a:effectLst/>
                <a:latin typeface="jakarta"/>
              </a:rPr>
              <a:t>specify where</a:t>
            </a:r>
          </a:p>
          <a:p>
            <a:pPr>
              <a:buFont typeface="Arial" panose="020B0604020202020204" pitchFamily="34" charset="0"/>
              <a:buChar char="•"/>
            </a:pPr>
            <a:r>
              <a:rPr lang="en-GB" b="0" i="0" dirty="0">
                <a:effectLst/>
                <a:latin typeface="jakarta"/>
              </a:rPr>
              <a:t>Checksums are </a:t>
            </a:r>
            <a:r>
              <a:rPr lang="en-GB" b="1" i="0" dirty="0">
                <a:effectLst/>
                <a:latin typeface="jakarta"/>
              </a:rPr>
              <a:t>calculated using an algorithm</a:t>
            </a:r>
            <a:r>
              <a:rPr lang="en-GB" b="0" i="0" dirty="0">
                <a:effectLst/>
                <a:latin typeface="jakarta"/>
              </a:rPr>
              <a:t> and the value is </a:t>
            </a:r>
            <a:r>
              <a:rPr lang="en-GB" b="1" i="0" dirty="0">
                <a:effectLst/>
                <a:latin typeface="jakarta"/>
              </a:rPr>
              <a:t>added to the transmission</a:t>
            </a:r>
            <a:endParaRPr lang="en-GB" b="0" i="0" dirty="0">
              <a:effectLst/>
              <a:latin typeface="jakarta"/>
            </a:endParaRPr>
          </a:p>
          <a:p>
            <a:pPr>
              <a:buFont typeface="Arial" panose="020B0604020202020204" pitchFamily="34" charset="0"/>
              <a:buChar char="•"/>
            </a:pPr>
            <a:r>
              <a:rPr lang="en-GB" b="0" i="0" dirty="0">
                <a:effectLst/>
                <a:latin typeface="jakarta"/>
              </a:rPr>
              <a:t>The receiving device </a:t>
            </a:r>
            <a:r>
              <a:rPr lang="en-GB" b="1" i="0" dirty="0">
                <a:effectLst/>
                <a:latin typeface="jakarta"/>
              </a:rPr>
              <a:t>re-calculates</a:t>
            </a:r>
            <a:r>
              <a:rPr lang="en-GB" b="0" i="0" dirty="0">
                <a:effectLst/>
                <a:latin typeface="jakarta"/>
              </a:rPr>
              <a:t> the checksum and </a:t>
            </a:r>
            <a:r>
              <a:rPr lang="en-GB" b="1" i="0" dirty="0">
                <a:effectLst/>
                <a:latin typeface="jakarta"/>
              </a:rPr>
              <a:t>compares</a:t>
            </a:r>
            <a:r>
              <a:rPr lang="en-GB" b="0" i="0" dirty="0">
                <a:effectLst/>
                <a:latin typeface="jakarta"/>
              </a:rPr>
              <a:t> to the original</a:t>
            </a:r>
          </a:p>
          <a:p>
            <a:pPr>
              <a:buFont typeface="Arial" panose="020B0604020202020204" pitchFamily="34" charset="0"/>
              <a:buChar char="•"/>
            </a:pPr>
            <a:r>
              <a:rPr lang="en-GB" b="0" i="0" dirty="0">
                <a:effectLst/>
                <a:latin typeface="jakarta"/>
              </a:rPr>
              <a:t>If the </a:t>
            </a:r>
            <a:r>
              <a:rPr lang="en-GB" b="1" i="0" dirty="0">
                <a:effectLst/>
                <a:latin typeface="jakarta"/>
              </a:rPr>
              <a:t>checksums do not match</a:t>
            </a:r>
            <a:r>
              <a:rPr lang="en-GB" b="0" i="0" dirty="0">
                <a:effectLst/>
                <a:latin typeface="jakarta"/>
              </a:rPr>
              <a:t>, it is assumed an error has occurred</a:t>
            </a:r>
          </a:p>
          <a:p>
            <a:endParaRPr lang="en-US" sz="2200" dirty="0"/>
          </a:p>
        </p:txBody>
      </p:sp>
    </p:spTree>
    <p:extLst>
      <p:ext uri="{BB962C8B-B14F-4D97-AF65-F5344CB8AC3E}">
        <p14:creationId xmlns:p14="http://schemas.microsoft.com/office/powerpoint/2010/main" val="1781983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8BDF5A86-E3FE-0AF9-17F8-7FD6DC54C9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233" y="457200"/>
            <a:ext cx="11109533" cy="5943600"/>
          </a:xfrm>
          <a:prstGeom prst="rect">
            <a:avLst/>
          </a:prstGeom>
        </p:spPr>
      </p:pic>
    </p:spTree>
    <p:extLst>
      <p:ext uri="{BB962C8B-B14F-4D97-AF65-F5344CB8AC3E}">
        <p14:creationId xmlns:p14="http://schemas.microsoft.com/office/powerpoint/2010/main" val="3112436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math test&#10;&#10;AI-generated content may be incorrect.">
            <a:extLst>
              <a:ext uri="{FF2B5EF4-FFF2-40B4-BE49-F238E27FC236}">
                <a16:creationId xmlns:a16="http://schemas.microsoft.com/office/drawing/2014/main" id="{C15CAD39-3D90-6B7A-A6F5-DAE9040B0AA3}"/>
              </a:ext>
            </a:extLst>
          </p:cNvPr>
          <p:cNvPicPr>
            <a:picLocks noChangeAspect="1"/>
          </p:cNvPicPr>
          <p:nvPr/>
        </p:nvPicPr>
        <p:blipFill>
          <a:blip r:embed="rId3">
            <a:extLst>
              <a:ext uri="{28A0092B-C50C-407E-A947-70E740481C1C}">
                <a14:useLocalDpi xmlns:a14="http://schemas.microsoft.com/office/drawing/2010/main" val="0"/>
              </a:ext>
            </a:extLst>
          </a:blip>
          <a:srcRect t="1490"/>
          <a:stretch/>
        </p:blipFill>
        <p:spPr>
          <a:xfrm>
            <a:off x="457200" y="457200"/>
            <a:ext cx="11277600" cy="5943600"/>
          </a:xfrm>
          <a:prstGeom prst="rect">
            <a:avLst/>
          </a:prstGeom>
        </p:spPr>
      </p:pic>
    </p:spTree>
    <p:extLst>
      <p:ext uri="{BB962C8B-B14F-4D97-AF65-F5344CB8AC3E}">
        <p14:creationId xmlns:p14="http://schemas.microsoft.com/office/powerpoint/2010/main" val="1200403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2"/>
          <p:cNvSpPr txBox="1">
            <a:spLocks noGrp="1"/>
          </p:cNvSpPr>
          <p:nvPr>
            <p:ph type="title"/>
          </p:nvPr>
        </p:nvSpPr>
        <p:spPr>
          <a:xfrm rot="-5400000">
            <a:off x="-3190400" y="3165000"/>
            <a:ext cx="6908800" cy="528000"/>
          </a:xfrm>
          <a:prstGeom prst="rect">
            <a:avLst/>
          </a:prstGeom>
        </p:spPr>
        <p:txBody>
          <a:bodyPr spcFirstLastPara="1" wrap="square" lIns="121897" tIns="121897" rIns="121897" bIns="121897" anchor="t" anchorCtr="0">
            <a:noAutofit/>
          </a:bodyPr>
          <a:lstStyle/>
          <a:p>
            <a:r>
              <a:rPr lang="en"/>
              <a:t>Checksums</a:t>
            </a:r>
            <a:endParaRPr/>
          </a:p>
        </p:txBody>
      </p:sp>
      <p:sp>
        <p:nvSpPr>
          <p:cNvPr id="297" name="Google Shape;297;p42"/>
          <p:cNvSpPr/>
          <p:nvPr/>
        </p:nvSpPr>
        <p:spPr>
          <a:xfrm>
            <a:off x="3981667" y="5938833"/>
            <a:ext cx="7408400" cy="514800"/>
          </a:xfrm>
          <a:prstGeom prst="wedgeRoundRectCallout">
            <a:avLst>
              <a:gd name="adj1" fmla="val 58029"/>
              <a:gd name="adj2" fmla="val -26658"/>
              <a:gd name="adj3" fmla="val 0"/>
            </a:avLst>
          </a:prstGeom>
          <a:solidFill>
            <a:srgbClr val="F3F3F3"/>
          </a:solidFill>
          <a:ln w="9525" cap="flat" cmpd="sng">
            <a:solidFill>
              <a:schemeClr val="dk2"/>
            </a:solidFill>
            <a:prstDash val="solid"/>
            <a:round/>
            <a:headEnd type="none" w="sm" len="sm"/>
            <a:tailEnd type="none" w="sm" len="sm"/>
          </a:ln>
        </p:spPr>
        <p:txBody>
          <a:bodyPr spcFirstLastPara="1" wrap="square" lIns="121897" tIns="121897" rIns="121897" bIns="121897" anchor="ctr" anchorCtr="0">
            <a:noAutofit/>
          </a:bodyPr>
          <a:lstStyle/>
          <a:p>
            <a:pPr algn="ctr"/>
            <a:r>
              <a:rPr lang="en">
                <a:solidFill>
                  <a:schemeClr val="dk1"/>
                </a:solidFill>
              </a:rPr>
              <a:t>(b) What could go wrong using this method of error detection?</a:t>
            </a:r>
            <a:endParaRPr>
              <a:solidFill>
                <a:schemeClr val="dk1"/>
              </a:solidFill>
            </a:endParaRPr>
          </a:p>
        </p:txBody>
      </p:sp>
      <p:sp>
        <p:nvSpPr>
          <p:cNvPr id="298" name="Google Shape;298;p42"/>
          <p:cNvSpPr/>
          <p:nvPr/>
        </p:nvSpPr>
        <p:spPr>
          <a:xfrm>
            <a:off x="3981667" y="5302400"/>
            <a:ext cx="7898800" cy="566800"/>
          </a:xfrm>
          <a:prstGeom prst="wedgeRoundRectCallout">
            <a:avLst>
              <a:gd name="adj1" fmla="val 53647"/>
              <a:gd name="adj2" fmla="val 38238"/>
              <a:gd name="adj3" fmla="val 0"/>
            </a:avLst>
          </a:prstGeom>
          <a:solidFill>
            <a:srgbClr val="F3F3F3"/>
          </a:solidFill>
          <a:ln w="9525" cap="flat" cmpd="sng">
            <a:solidFill>
              <a:schemeClr val="dk2"/>
            </a:solidFill>
            <a:prstDash val="solid"/>
            <a:round/>
            <a:headEnd type="none" w="sm" len="sm"/>
            <a:tailEnd type="none" w="sm" len="sm"/>
          </a:ln>
        </p:spPr>
        <p:txBody>
          <a:bodyPr spcFirstLastPara="1" wrap="square" lIns="121897" tIns="121897" rIns="121897" bIns="121897" anchor="ctr" anchorCtr="0">
            <a:noAutofit/>
          </a:bodyPr>
          <a:lstStyle/>
          <a:p>
            <a:pPr algn="ctr"/>
            <a:r>
              <a:rPr lang="en">
                <a:solidFill>
                  <a:schemeClr val="dk1"/>
                </a:solidFill>
              </a:rPr>
              <a:t>4. (a) Circle the bit that got flipped and caused the error to be detected?</a:t>
            </a:r>
            <a:endParaRPr>
              <a:solidFill>
                <a:schemeClr val="dk1"/>
              </a:solidFill>
            </a:endParaRPr>
          </a:p>
        </p:txBody>
      </p:sp>
      <p:pic>
        <p:nvPicPr>
          <p:cNvPr id="2050" name="Picture 2" descr="C:\Users\Админ\Desktop\Снимо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3314" y="597877"/>
            <a:ext cx="7765335" cy="3597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73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pic>
        <p:nvPicPr>
          <p:cNvPr id="321" name="Google Shape;321;p44"/>
          <p:cNvPicPr preferRelativeResize="0"/>
          <p:nvPr/>
        </p:nvPicPr>
        <p:blipFill>
          <a:blip r:embed="rId3">
            <a:alphaModFix/>
          </a:blip>
          <a:stretch>
            <a:fillRect/>
          </a:stretch>
        </p:blipFill>
        <p:spPr>
          <a:xfrm>
            <a:off x="4092301" y="491485"/>
            <a:ext cx="4007367" cy="4007367"/>
          </a:xfrm>
          <a:prstGeom prst="rect">
            <a:avLst/>
          </a:prstGeom>
          <a:noFill/>
          <a:ln>
            <a:noFill/>
          </a:ln>
        </p:spPr>
      </p:pic>
      <p:sp>
        <p:nvSpPr>
          <p:cNvPr id="322" name="Google Shape;322;p44"/>
          <p:cNvSpPr txBox="1">
            <a:spLocks noGrp="1"/>
          </p:cNvSpPr>
          <p:nvPr>
            <p:ph type="title"/>
          </p:nvPr>
        </p:nvSpPr>
        <p:spPr>
          <a:xfrm rot="-5400000">
            <a:off x="-3190400" y="3165000"/>
            <a:ext cx="6908800" cy="528000"/>
          </a:xfrm>
          <a:prstGeom prst="rect">
            <a:avLst/>
          </a:prstGeom>
        </p:spPr>
        <p:txBody>
          <a:bodyPr spcFirstLastPara="1" wrap="square" lIns="121897" tIns="121897" rIns="121897" bIns="121897" anchor="t" anchorCtr="0">
            <a:noAutofit/>
          </a:bodyPr>
          <a:lstStyle/>
          <a:p>
            <a:r>
              <a:rPr lang="en"/>
              <a:t>Parity block checks</a:t>
            </a:r>
            <a:endParaRPr/>
          </a:p>
        </p:txBody>
      </p:sp>
      <p:sp>
        <p:nvSpPr>
          <p:cNvPr id="323" name="Google Shape;323;p44"/>
          <p:cNvSpPr/>
          <p:nvPr/>
        </p:nvSpPr>
        <p:spPr>
          <a:xfrm>
            <a:off x="6005733" y="5524767"/>
            <a:ext cx="5153600" cy="514800"/>
          </a:xfrm>
          <a:prstGeom prst="wedgeRoundRectCallout">
            <a:avLst>
              <a:gd name="adj1" fmla="val 63052"/>
              <a:gd name="adj2" fmla="val -8307"/>
              <a:gd name="adj3" fmla="val 0"/>
            </a:avLst>
          </a:prstGeom>
          <a:solidFill>
            <a:srgbClr val="F3F3F3"/>
          </a:solidFill>
          <a:ln w="9525" cap="flat" cmpd="sng">
            <a:solidFill>
              <a:schemeClr val="dk2"/>
            </a:solidFill>
            <a:prstDash val="solid"/>
            <a:round/>
            <a:headEnd type="none" w="sm" len="sm"/>
            <a:tailEnd type="none" w="sm" len="sm"/>
          </a:ln>
        </p:spPr>
        <p:txBody>
          <a:bodyPr spcFirstLastPara="1" wrap="square" lIns="121897" tIns="121897" rIns="121897" bIns="121897" anchor="ctr" anchorCtr="0">
            <a:noAutofit/>
          </a:bodyPr>
          <a:lstStyle/>
          <a:p>
            <a:r>
              <a:rPr lang="en">
                <a:solidFill>
                  <a:schemeClr val="dk1"/>
                </a:solidFill>
              </a:rPr>
              <a:t>(b) What are the advantages of this method?</a:t>
            </a:r>
            <a:endParaRPr>
              <a:solidFill>
                <a:schemeClr val="dk1"/>
              </a:solidFill>
            </a:endParaRPr>
          </a:p>
        </p:txBody>
      </p:sp>
      <p:sp>
        <p:nvSpPr>
          <p:cNvPr id="324" name="Google Shape;324;p44"/>
          <p:cNvSpPr/>
          <p:nvPr/>
        </p:nvSpPr>
        <p:spPr>
          <a:xfrm>
            <a:off x="6005733" y="6176333"/>
            <a:ext cx="5806000" cy="514800"/>
          </a:xfrm>
          <a:prstGeom prst="wedgeRoundRectCallout">
            <a:avLst>
              <a:gd name="adj1" fmla="val 54258"/>
              <a:gd name="adj2" fmla="val -52098"/>
              <a:gd name="adj3" fmla="val 0"/>
            </a:avLst>
          </a:prstGeom>
          <a:solidFill>
            <a:srgbClr val="F3F3F3"/>
          </a:solidFill>
          <a:ln w="9525" cap="flat" cmpd="sng">
            <a:solidFill>
              <a:schemeClr val="dk2"/>
            </a:solidFill>
            <a:prstDash val="solid"/>
            <a:round/>
            <a:headEnd type="none" w="sm" len="sm"/>
            <a:tailEnd type="none" w="sm" len="sm"/>
          </a:ln>
        </p:spPr>
        <p:txBody>
          <a:bodyPr spcFirstLastPara="1" wrap="square" lIns="121897" tIns="121897" rIns="121897" bIns="121897" anchor="ctr" anchorCtr="0">
            <a:noAutofit/>
          </a:bodyPr>
          <a:lstStyle/>
          <a:p>
            <a:pPr algn="ctr"/>
            <a:r>
              <a:rPr lang="en">
                <a:solidFill>
                  <a:schemeClr val="dk1"/>
                </a:solidFill>
              </a:rPr>
              <a:t>(c) What if two bits in one of the nibbles are flipped?</a:t>
            </a:r>
            <a:endParaRPr>
              <a:solidFill>
                <a:schemeClr val="dk1"/>
              </a:solidFill>
            </a:endParaRPr>
          </a:p>
        </p:txBody>
      </p:sp>
      <p:sp>
        <p:nvSpPr>
          <p:cNvPr id="325" name="Google Shape;325;p44"/>
          <p:cNvSpPr txBox="1"/>
          <p:nvPr/>
        </p:nvSpPr>
        <p:spPr>
          <a:xfrm>
            <a:off x="4447600" y="491500"/>
            <a:ext cx="3364400" cy="865600"/>
          </a:xfrm>
          <a:prstGeom prst="rect">
            <a:avLst/>
          </a:prstGeom>
          <a:noFill/>
          <a:ln>
            <a:noFill/>
          </a:ln>
        </p:spPr>
        <p:txBody>
          <a:bodyPr spcFirstLastPara="1" wrap="square" lIns="121897" tIns="121897" rIns="121897" bIns="121897" anchor="t" anchorCtr="0">
            <a:noAutofit/>
          </a:bodyPr>
          <a:lstStyle/>
          <a:p>
            <a:r>
              <a:rPr lang="en" sz="4800">
                <a:solidFill>
                  <a:srgbClr val="FFFFFF"/>
                </a:solidFill>
              </a:rPr>
              <a:t>0   0	   1</a:t>
            </a:r>
            <a:endParaRPr sz="4800">
              <a:solidFill>
                <a:srgbClr val="FFFFFF"/>
              </a:solidFill>
            </a:endParaRPr>
          </a:p>
        </p:txBody>
      </p:sp>
      <p:sp>
        <p:nvSpPr>
          <p:cNvPr id="326" name="Google Shape;326;p44"/>
          <p:cNvSpPr/>
          <p:nvPr/>
        </p:nvSpPr>
        <p:spPr>
          <a:xfrm>
            <a:off x="5646167" y="4873200"/>
            <a:ext cx="6085200" cy="514800"/>
          </a:xfrm>
          <a:prstGeom prst="wedgeRoundRectCallout">
            <a:avLst>
              <a:gd name="adj1" fmla="val 55246"/>
              <a:gd name="adj2" fmla="val 34881"/>
              <a:gd name="adj3" fmla="val 0"/>
            </a:avLst>
          </a:prstGeom>
          <a:solidFill>
            <a:srgbClr val="F3F3F3"/>
          </a:solidFill>
          <a:ln w="9525" cap="flat" cmpd="sng">
            <a:solidFill>
              <a:schemeClr val="dk2"/>
            </a:solidFill>
            <a:prstDash val="solid"/>
            <a:round/>
            <a:headEnd type="none" w="sm" len="sm"/>
            <a:tailEnd type="none" w="sm" len="sm"/>
          </a:ln>
        </p:spPr>
        <p:txBody>
          <a:bodyPr spcFirstLastPara="1" wrap="square" lIns="121897" tIns="121897" rIns="121897" bIns="121897" anchor="ctr" anchorCtr="0">
            <a:noAutofit/>
          </a:bodyPr>
          <a:lstStyle/>
          <a:p>
            <a:pPr algn="ctr"/>
            <a:r>
              <a:rPr lang="en">
                <a:solidFill>
                  <a:schemeClr val="dk1"/>
                </a:solidFill>
              </a:rPr>
              <a:t>6. (a) Complete the parity bits for each nibble of data.</a:t>
            </a:r>
            <a:endParaRPr>
              <a:solidFill>
                <a:schemeClr val="dk1"/>
              </a:solidFill>
            </a:endParaRPr>
          </a:p>
        </p:txBody>
      </p:sp>
      <p:sp>
        <p:nvSpPr>
          <p:cNvPr id="327" name="Google Shape;327;p44"/>
          <p:cNvSpPr txBox="1"/>
          <p:nvPr/>
        </p:nvSpPr>
        <p:spPr>
          <a:xfrm>
            <a:off x="4447600" y="1423700"/>
            <a:ext cx="3364400" cy="865600"/>
          </a:xfrm>
          <a:prstGeom prst="rect">
            <a:avLst/>
          </a:prstGeom>
          <a:noFill/>
          <a:ln>
            <a:noFill/>
          </a:ln>
        </p:spPr>
        <p:txBody>
          <a:bodyPr spcFirstLastPara="1" wrap="square" lIns="121897" tIns="121897" rIns="121897" bIns="121897" anchor="t" anchorCtr="0">
            <a:noAutofit/>
          </a:bodyPr>
          <a:lstStyle/>
          <a:p>
            <a:r>
              <a:rPr lang="en" sz="4800">
                <a:solidFill>
                  <a:srgbClr val="FFFFFF"/>
                </a:solidFill>
              </a:rPr>
              <a:t>1   0	   1</a:t>
            </a:r>
            <a:endParaRPr sz="4800">
              <a:solidFill>
                <a:srgbClr val="FFFFFF"/>
              </a:solidFill>
            </a:endParaRPr>
          </a:p>
        </p:txBody>
      </p:sp>
      <p:sp>
        <p:nvSpPr>
          <p:cNvPr id="328" name="Google Shape;328;p44"/>
          <p:cNvSpPr txBox="1"/>
          <p:nvPr/>
        </p:nvSpPr>
        <p:spPr>
          <a:xfrm>
            <a:off x="4447600" y="2355900"/>
            <a:ext cx="3364400" cy="865600"/>
          </a:xfrm>
          <a:prstGeom prst="rect">
            <a:avLst/>
          </a:prstGeom>
          <a:noFill/>
          <a:ln>
            <a:noFill/>
          </a:ln>
        </p:spPr>
        <p:txBody>
          <a:bodyPr spcFirstLastPara="1" wrap="square" lIns="121897" tIns="121897" rIns="121897" bIns="121897" anchor="t" anchorCtr="0">
            <a:noAutofit/>
          </a:bodyPr>
          <a:lstStyle/>
          <a:p>
            <a:r>
              <a:rPr lang="en" sz="4800">
                <a:solidFill>
                  <a:srgbClr val="FFFFFF"/>
                </a:solidFill>
              </a:rPr>
              <a:t>0   1	   1</a:t>
            </a:r>
            <a:endParaRPr sz="4800">
              <a:solidFill>
                <a:srgbClr val="FFFFFF"/>
              </a:solidFill>
            </a:endParaRPr>
          </a:p>
        </p:txBody>
      </p:sp>
      <p:sp>
        <p:nvSpPr>
          <p:cNvPr id="329" name="Google Shape;329;p44"/>
          <p:cNvSpPr txBox="1"/>
          <p:nvPr/>
        </p:nvSpPr>
        <p:spPr>
          <a:xfrm>
            <a:off x="1424867" y="3561100"/>
            <a:ext cx="1898800" cy="613600"/>
          </a:xfrm>
          <a:prstGeom prst="rect">
            <a:avLst/>
          </a:prstGeom>
          <a:noFill/>
          <a:ln>
            <a:noFill/>
          </a:ln>
        </p:spPr>
        <p:txBody>
          <a:bodyPr spcFirstLastPara="1" wrap="square" lIns="121897" tIns="121897" rIns="121897" bIns="121897" anchor="t" anchorCtr="0">
            <a:noAutofit/>
          </a:bodyPr>
          <a:lstStyle/>
          <a:p>
            <a:pPr algn="ctr"/>
            <a:r>
              <a:rPr lang="en" sz="1300">
                <a:latin typeface="Roboto"/>
                <a:ea typeface="Roboto"/>
                <a:cs typeface="Roboto"/>
                <a:sym typeface="Roboto"/>
              </a:rPr>
              <a:t>Parity byte</a:t>
            </a:r>
            <a:endParaRPr sz="1300">
              <a:latin typeface="Roboto"/>
              <a:ea typeface="Roboto"/>
              <a:cs typeface="Roboto"/>
              <a:sym typeface="Roboto"/>
            </a:endParaRPr>
          </a:p>
          <a:p>
            <a:pPr algn="ctr"/>
            <a:r>
              <a:rPr lang="en" sz="1300">
                <a:latin typeface="Roboto"/>
                <a:ea typeface="Roboto"/>
                <a:cs typeface="Roboto"/>
                <a:sym typeface="Roboto"/>
              </a:rPr>
              <a:t> (nibble in this case)</a:t>
            </a:r>
            <a:endParaRPr sz="1300">
              <a:latin typeface="Roboto"/>
              <a:ea typeface="Roboto"/>
              <a:cs typeface="Roboto"/>
              <a:sym typeface="Roboto"/>
            </a:endParaRPr>
          </a:p>
        </p:txBody>
      </p:sp>
      <p:cxnSp>
        <p:nvCxnSpPr>
          <p:cNvPr id="330" name="Google Shape;330;p44"/>
          <p:cNvCxnSpPr>
            <a:endCxn id="329" idx="3"/>
          </p:cNvCxnSpPr>
          <p:nvPr/>
        </p:nvCxnSpPr>
        <p:spPr>
          <a:xfrm rot="10800000">
            <a:off x="3323667" y="3867900"/>
            <a:ext cx="737600" cy="51200"/>
          </a:xfrm>
          <a:prstGeom prst="curvedConnector3">
            <a:avLst>
              <a:gd name="adj1" fmla="val 50000"/>
            </a:avLst>
          </a:prstGeom>
          <a:noFill/>
          <a:ln w="9525" cap="flat" cmpd="sng">
            <a:solidFill>
              <a:schemeClr val="dk2"/>
            </a:solidFill>
            <a:prstDash val="solid"/>
            <a:round/>
            <a:headEnd type="triangle" w="med" len="med"/>
            <a:tailEnd type="none" w="med" len="med"/>
          </a:ln>
        </p:spPr>
      </p:cxnSp>
    </p:spTree>
    <p:extLst>
      <p:ext uri="{BB962C8B-B14F-4D97-AF65-F5344CB8AC3E}">
        <p14:creationId xmlns:p14="http://schemas.microsoft.com/office/powerpoint/2010/main" val="865688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5"/>
          <p:cNvSpPr txBox="1">
            <a:spLocks noGrp="1"/>
          </p:cNvSpPr>
          <p:nvPr>
            <p:ph type="title"/>
          </p:nvPr>
        </p:nvSpPr>
        <p:spPr>
          <a:xfrm rot="-5400000">
            <a:off x="-3190400" y="3165000"/>
            <a:ext cx="6908800" cy="528000"/>
          </a:xfrm>
          <a:prstGeom prst="rect">
            <a:avLst/>
          </a:prstGeom>
        </p:spPr>
        <p:txBody>
          <a:bodyPr spcFirstLastPara="1" wrap="square" lIns="121897" tIns="121897" rIns="121897" bIns="121897" anchor="t" anchorCtr="0">
            <a:noAutofit/>
          </a:bodyPr>
          <a:lstStyle/>
          <a:p>
            <a:r>
              <a:rPr lang="en"/>
              <a:t>Fill in the blanks</a:t>
            </a:r>
            <a:endParaRPr/>
          </a:p>
        </p:txBody>
      </p:sp>
      <p:sp>
        <p:nvSpPr>
          <p:cNvPr id="336" name="Google Shape;336;p45"/>
          <p:cNvSpPr txBox="1"/>
          <p:nvPr/>
        </p:nvSpPr>
        <p:spPr>
          <a:xfrm>
            <a:off x="1767400" y="1212300"/>
            <a:ext cx="8657200" cy="1674800"/>
          </a:xfrm>
          <a:prstGeom prst="rect">
            <a:avLst/>
          </a:prstGeom>
          <a:noFill/>
          <a:ln>
            <a:noFill/>
          </a:ln>
        </p:spPr>
        <p:txBody>
          <a:bodyPr spcFirstLastPara="1" wrap="square" lIns="121897" tIns="121897" rIns="121897" bIns="121897" anchor="t" anchorCtr="0">
            <a:noAutofit/>
          </a:bodyPr>
          <a:lstStyle/>
          <a:p>
            <a:pPr>
              <a:lnSpc>
                <a:spcPct val="115000"/>
              </a:lnSpc>
            </a:pPr>
            <a:r>
              <a:rPr lang="en">
                <a:solidFill>
                  <a:schemeClr val="dk2"/>
                </a:solidFill>
                <a:latin typeface="Roboto"/>
                <a:ea typeface="Roboto"/>
                <a:cs typeface="Roboto"/>
                <a:sym typeface="Roboto"/>
              </a:rPr>
              <a:t>A checksum </a:t>
            </a:r>
            <a:r>
              <a:rPr lang="en" b="1">
                <a:solidFill>
                  <a:schemeClr val="dk2"/>
                </a:solidFill>
                <a:latin typeface="Roboto"/>
                <a:ea typeface="Roboto"/>
                <a:cs typeface="Roboto"/>
                <a:sym typeface="Roboto"/>
              </a:rPr>
              <a:t>____________ </a:t>
            </a:r>
            <a:r>
              <a:rPr lang="en">
                <a:solidFill>
                  <a:schemeClr val="dk2"/>
                </a:solidFill>
                <a:latin typeface="Roboto"/>
                <a:ea typeface="Roboto"/>
                <a:cs typeface="Roboto"/>
                <a:sym typeface="Roboto"/>
              </a:rPr>
              <a:t>is run on a block of data. The </a:t>
            </a:r>
            <a:r>
              <a:rPr lang="en" b="1">
                <a:solidFill>
                  <a:schemeClr val="dk2"/>
                </a:solidFill>
                <a:latin typeface="Roboto"/>
                <a:ea typeface="Roboto"/>
                <a:cs typeface="Roboto"/>
                <a:sym typeface="Roboto"/>
              </a:rPr>
              <a:t>_____________ </a:t>
            </a:r>
            <a:r>
              <a:rPr lang="en">
                <a:solidFill>
                  <a:schemeClr val="dk2"/>
                </a:solidFill>
                <a:latin typeface="Roboto"/>
                <a:ea typeface="Roboto"/>
                <a:cs typeface="Roboto"/>
                <a:sym typeface="Roboto"/>
              </a:rPr>
              <a:t>calculated is then transmitted with the data. When the data is received the checksum is </a:t>
            </a:r>
            <a:r>
              <a:rPr lang="en" b="1">
                <a:solidFill>
                  <a:schemeClr val="dk2"/>
                </a:solidFill>
                <a:latin typeface="Roboto"/>
                <a:ea typeface="Roboto"/>
                <a:cs typeface="Roboto"/>
                <a:sym typeface="Roboto"/>
              </a:rPr>
              <a:t>______________</a:t>
            </a:r>
            <a:r>
              <a:rPr lang="en">
                <a:solidFill>
                  <a:schemeClr val="dk2"/>
                </a:solidFill>
                <a:latin typeface="Roboto"/>
                <a:ea typeface="Roboto"/>
                <a:cs typeface="Roboto"/>
                <a:sym typeface="Roboto"/>
              </a:rPr>
              <a:t>  again. If it does not match the checksum sent with the </a:t>
            </a:r>
            <a:r>
              <a:rPr lang="en" b="1">
                <a:solidFill>
                  <a:schemeClr val="dk2"/>
                </a:solidFill>
                <a:latin typeface="Roboto"/>
                <a:ea typeface="Roboto"/>
                <a:cs typeface="Roboto"/>
                <a:sym typeface="Roboto"/>
              </a:rPr>
              <a:t>__________</a:t>
            </a:r>
            <a:r>
              <a:rPr lang="en">
                <a:solidFill>
                  <a:schemeClr val="dk2"/>
                </a:solidFill>
                <a:latin typeface="Roboto"/>
                <a:ea typeface="Roboto"/>
                <a:cs typeface="Roboto"/>
                <a:sym typeface="Roboto"/>
              </a:rPr>
              <a:t> of data an error has occurred.</a:t>
            </a:r>
            <a:endParaRPr>
              <a:solidFill>
                <a:schemeClr val="dk2"/>
              </a:solidFill>
              <a:latin typeface="Roboto"/>
              <a:ea typeface="Roboto"/>
              <a:cs typeface="Roboto"/>
              <a:sym typeface="Roboto"/>
            </a:endParaRPr>
          </a:p>
        </p:txBody>
      </p:sp>
      <p:sp>
        <p:nvSpPr>
          <p:cNvPr id="337" name="Google Shape;337;p45"/>
          <p:cNvSpPr txBox="1"/>
          <p:nvPr/>
        </p:nvSpPr>
        <p:spPr>
          <a:xfrm>
            <a:off x="1767385" y="741916"/>
            <a:ext cx="1948000" cy="470400"/>
          </a:xfrm>
          <a:prstGeom prst="rect">
            <a:avLst/>
          </a:prstGeom>
          <a:noFill/>
          <a:ln>
            <a:noFill/>
          </a:ln>
        </p:spPr>
        <p:txBody>
          <a:bodyPr spcFirstLastPara="1" wrap="square" lIns="121897" tIns="121897" rIns="121897" bIns="121897" anchor="t" anchorCtr="0">
            <a:noAutofit/>
          </a:bodyPr>
          <a:lstStyle/>
          <a:p>
            <a:pPr>
              <a:lnSpc>
                <a:spcPct val="115000"/>
              </a:lnSpc>
            </a:pPr>
            <a:r>
              <a:rPr lang="en" b="1">
                <a:latin typeface="Roboto"/>
                <a:ea typeface="Roboto"/>
                <a:cs typeface="Roboto"/>
                <a:sym typeface="Roboto"/>
              </a:rPr>
              <a:t>Checksums</a:t>
            </a:r>
            <a:endParaRPr b="1">
              <a:latin typeface="Roboto"/>
              <a:ea typeface="Roboto"/>
              <a:cs typeface="Roboto"/>
              <a:sym typeface="Roboto"/>
            </a:endParaRPr>
          </a:p>
        </p:txBody>
      </p:sp>
      <p:grpSp>
        <p:nvGrpSpPr>
          <p:cNvPr id="338" name="Google Shape;338;p45"/>
          <p:cNvGrpSpPr/>
          <p:nvPr/>
        </p:nvGrpSpPr>
        <p:grpSpPr>
          <a:xfrm>
            <a:off x="1767249" y="3101013"/>
            <a:ext cx="8657515" cy="2155321"/>
            <a:chOff x="6487321" y="2689937"/>
            <a:chExt cx="6022200" cy="1616491"/>
          </a:xfrm>
        </p:grpSpPr>
        <p:sp>
          <p:nvSpPr>
            <p:cNvPr id="339" name="Google Shape;339;p45"/>
            <p:cNvSpPr txBox="1"/>
            <p:nvPr/>
          </p:nvSpPr>
          <p:spPr>
            <a:xfrm>
              <a:off x="6487325" y="2689937"/>
              <a:ext cx="1339500" cy="352800"/>
            </a:xfrm>
            <a:prstGeom prst="rect">
              <a:avLst/>
            </a:prstGeom>
            <a:noFill/>
            <a:ln>
              <a:noFill/>
            </a:ln>
          </p:spPr>
          <p:txBody>
            <a:bodyPr spcFirstLastPara="1" wrap="square" lIns="91425" tIns="91425" rIns="91425" bIns="91425" anchor="t" anchorCtr="0">
              <a:noAutofit/>
            </a:bodyPr>
            <a:lstStyle/>
            <a:p>
              <a:pPr>
                <a:lnSpc>
                  <a:spcPct val="115000"/>
                </a:lnSpc>
              </a:pPr>
              <a:r>
                <a:rPr lang="en" b="1">
                  <a:latin typeface="Roboto"/>
                  <a:ea typeface="Roboto"/>
                  <a:cs typeface="Roboto"/>
                  <a:sym typeface="Roboto"/>
                </a:rPr>
                <a:t>Parity blocks</a:t>
              </a:r>
              <a:endParaRPr b="1">
                <a:latin typeface="Roboto"/>
                <a:ea typeface="Roboto"/>
                <a:cs typeface="Roboto"/>
                <a:sym typeface="Roboto"/>
              </a:endParaRPr>
            </a:p>
          </p:txBody>
        </p:sp>
        <p:sp>
          <p:nvSpPr>
            <p:cNvPr id="340" name="Google Shape;340;p45"/>
            <p:cNvSpPr txBox="1"/>
            <p:nvPr/>
          </p:nvSpPr>
          <p:spPr>
            <a:xfrm>
              <a:off x="6487321" y="3050327"/>
              <a:ext cx="6022200" cy="1256100"/>
            </a:xfrm>
            <a:prstGeom prst="rect">
              <a:avLst/>
            </a:prstGeom>
            <a:noFill/>
            <a:ln>
              <a:noFill/>
            </a:ln>
          </p:spPr>
          <p:txBody>
            <a:bodyPr spcFirstLastPara="1" wrap="square" lIns="91425" tIns="91425" rIns="91425" bIns="91425" anchor="t" anchorCtr="0">
              <a:noAutofit/>
            </a:bodyPr>
            <a:lstStyle/>
            <a:p>
              <a:pPr>
                <a:lnSpc>
                  <a:spcPct val="115000"/>
                </a:lnSpc>
              </a:pPr>
              <a:r>
                <a:rPr lang="en">
                  <a:solidFill>
                    <a:schemeClr val="dk2"/>
                  </a:solidFill>
                  <a:latin typeface="Roboto"/>
                  <a:ea typeface="Roboto"/>
                  <a:cs typeface="Roboto"/>
                  <a:sym typeface="Roboto"/>
                </a:rPr>
                <a:t>A </a:t>
              </a:r>
              <a:r>
                <a:rPr lang="en" b="1">
                  <a:solidFill>
                    <a:schemeClr val="dk2"/>
                  </a:solidFill>
                  <a:latin typeface="Roboto"/>
                  <a:ea typeface="Roboto"/>
                  <a:cs typeface="Roboto"/>
                  <a:sym typeface="Roboto"/>
                </a:rPr>
                <a:t>_______________</a:t>
              </a:r>
              <a:r>
                <a:rPr lang="en">
                  <a:solidFill>
                    <a:schemeClr val="dk2"/>
                  </a:solidFill>
                  <a:latin typeface="Roboto"/>
                  <a:ea typeface="Roboto"/>
                  <a:cs typeface="Roboto"/>
                  <a:sym typeface="Roboto"/>
                </a:rPr>
                <a:t> is added to a block of data. The bits for the parity byte are calculated using the above </a:t>
              </a:r>
              <a:r>
                <a:rPr lang="en" b="1">
                  <a:solidFill>
                    <a:schemeClr val="dk2"/>
                  </a:solidFill>
                  <a:latin typeface="Roboto"/>
                  <a:ea typeface="Roboto"/>
                  <a:cs typeface="Roboto"/>
                  <a:sym typeface="Roboto"/>
                </a:rPr>
                <a:t>______________</a:t>
              </a:r>
              <a:r>
                <a:rPr lang="en">
                  <a:solidFill>
                    <a:schemeClr val="dk2"/>
                  </a:solidFill>
                  <a:latin typeface="Roboto"/>
                  <a:ea typeface="Roboto"/>
                  <a:cs typeface="Roboto"/>
                  <a:sym typeface="Roboto"/>
                </a:rPr>
                <a:t> of data. If an incorrect parity for a row and a column are </a:t>
              </a:r>
              <a:r>
                <a:rPr lang="en" b="1">
                  <a:solidFill>
                    <a:schemeClr val="dk2"/>
                  </a:solidFill>
                  <a:latin typeface="Roboto"/>
                  <a:ea typeface="Roboto"/>
                  <a:cs typeface="Roboto"/>
                  <a:sym typeface="Roboto"/>
                </a:rPr>
                <a:t>________________</a:t>
              </a:r>
              <a:r>
                <a:rPr lang="en">
                  <a:solidFill>
                    <a:schemeClr val="dk2"/>
                  </a:solidFill>
                  <a:latin typeface="Roboto"/>
                  <a:ea typeface="Roboto"/>
                  <a:cs typeface="Roboto"/>
                  <a:sym typeface="Roboto"/>
                </a:rPr>
                <a:t> the exact position of the error can be located at the </a:t>
              </a:r>
              <a:r>
                <a:rPr lang="en" b="1">
                  <a:solidFill>
                    <a:schemeClr val="dk2"/>
                  </a:solidFill>
                  <a:latin typeface="Roboto"/>
                  <a:ea typeface="Roboto"/>
                  <a:cs typeface="Roboto"/>
                  <a:sym typeface="Roboto"/>
                </a:rPr>
                <a:t>___________________</a:t>
              </a:r>
              <a:r>
                <a:rPr lang="en">
                  <a:solidFill>
                    <a:schemeClr val="dk2"/>
                  </a:solidFill>
                  <a:latin typeface="Roboto"/>
                  <a:ea typeface="Roboto"/>
                  <a:cs typeface="Roboto"/>
                  <a:sym typeface="Roboto"/>
                </a:rPr>
                <a:t>.</a:t>
              </a:r>
              <a:endParaRPr>
                <a:solidFill>
                  <a:schemeClr val="dk2"/>
                </a:solidFill>
                <a:latin typeface="Roboto"/>
                <a:ea typeface="Roboto"/>
                <a:cs typeface="Roboto"/>
                <a:sym typeface="Roboto"/>
              </a:endParaRPr>
            </a:p>
          </p:txBody>
        </p:sp>
      </p:grpSp>
      <p:sp>
        <p:nvSpPr>
          <p:cNvPr id="341" name="Google Shape;341;p45"/>
          <p:cNvSpPr/>
          <p:nvPr/>
        </p:nvSpPr>
        <p:spPr>
          <a:xfrm>
            <a:off x="6626133" y="5617567"/>
            <a:ext cx="5007600" cy="514800"/>
          </a:xfrm>
          <a:prstGeom prst="wedgeRoundRectCallout">
            <a:avLst>
              <a:gd name="adj1" fmla="val 55246"/>
              <a:gd name="adj2" fmla="val 34881"/>
              <a:gd name="adj3" fmla="val 0"/>
            </a:avLst>
          </a:prstGeom>
          <a:solidFill>
            <a:srgbClr val="F3F3F3"/>
          </a:solidFill>
          <a:ln w="9525" cap="flat" cmpd="sng">
            <a:solidFill>
              <a:schemeClr val="dk2"/>
            </a:solidFill>
            <a:prstDash val="solid"/>
            <a:round/>
            <a:headEnd type="none" w="sm" len="sm"/>
            <a:tailEnd type="none" w="sm" len="sm"/>
          </a:ln>
        </p:spPr>
        <p:txBody>
          <a:bodyPr spcFirstLastPara="1" wrap="square" lIns="121897" tIns="121897" rIns="121897" bIns="121897" anchor="ctr" anchorCtr="0">
            <a:noAutofit/>
          </a:bodyPr>
          <a:lstStyle/>
          <a:p>
            <a:pPr algn="ctr"/>
            <a:r>
              <a:rPr lang="en">
                <a:solidFill>
                  <a:schemeClr val="dk1"/>
                </a:solidFill>
              </a:rPr>
              <a:t>7. Fill the blanks for each paragraph.</a:t>
            </a:r>
            <a:endParaRPr>
              <a:solidFill>
                <a:schemeClr val="dk1"/>
              </a:solidFill>
            </a:endParaRPr>
          </a:p>
        </p:txBody>
      </p:sp>
    </p:spTree>
    <p:extLst>
      <p:ext uri="{BB962C8B-B14F-4D97-AF65-F5344CB8AC3E}">
        <p14:creationId xmlns:p14="http://schemas.microsoft.com/office/powerpoint/2010/main" val="2770927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US" sz="3400" b="1">
                <a:solidFill>
                  <a:srgbClr val="FFFFFF"/>
                </a:solidFill>
              </a:rPr>
              <a:t>Verification</a:t>
            </a:r>
            <a:br>
              <a:rPr lang="en-US" sz="3400" b="1">
                <a:solidFill>
                  <a:srgbClr val="FFFFFF"/>
                </a:solidFill>
              </a:rPr>
            </a:br>
            <a:endParaRPr lang="ru-RU" sz="3400">
              <a:solidFill>
                <a:srgbClr val="FFFFFF"/>
              </a:solidFill>
            </a:endParaRPr>
          </a:p>
        </p:txBody>
      </p:sp>
      <p:sp>
        <p:nvSpPr>
          <p:cNvPr id="3" name="Content Placeholder 2"/>
          <p:cNvSpPr>
            <a:spLocks noGrp="1"/>
          </p:cNvSpPr>
          <p:nvPr>
            <p:ph idx="1"/>
          </p:nvPr>
        </p:nvSpPr>
        <p:spPr>
          <a:xfrm>
            <a:off x="291549" y="1885278"/>
            <a:ext cx="11502886" cy="4678183"/>
          </a:xfrm>
        </p:spPr>
        <p:txBody>
          <a:bodyPr anchor="ctr">
            <a:normAutofit/>
          </a:bodyPr>
          <a:lstStyle/>
          <a:p>
            <a:pPr marL="0" indent="0">
              <a:buNone/>
            </a:pPr>
            <a:r>
              <a:rPr lang="en-US" b="1" dirty="0"/>
              <a:t>Verification is performed to ensure that the data entered exactly matches the original source.</a:t>
            </a:r>
            <a:endParaRPr lang="en-US" dirty="0"/>
          </a:p>
          <a:p>
            <a:pPr marL="0" indent="0">
              <a:buNone/>
            </a:pPr>
            <a:endParaRPr lang="en-US" dirty="0"/>
          </a:p>
          <a:p>
            <a:pPr marL="0" indent="0">
              <a:buNone/>
            </a:pPr>
            <a:r>
              <a:rPr lang="en-US" dirty="0"/>
              <a:t>There are two main methods of verification:</a:t>
            </a:r>
          </a:p>
          <a:p>
            <a:pPr marL="0" indent="0">
              <a:buNone/>
            </a:pPr>
            <a:r>
              <a:rPr lang="en-US" b="1" dirty="0"/>
              <a:t>Double entry</a:t>
            </a:r>
            <a:r>
              <a:rPr lang="en-US" dirty="0"/>
              <a:t> - entering the data twice and comparing the two copies. This effectively doubles the workload, and as most people are paid by the hour, it costs more too.</a:t>
            </a:r>
          </a:p>
          <a:p>
            <a:pPr marL="0" indent="0">
              <a:buNone/>
            </a:pPr>
            <a:r>
              <a:rPr lang="en-US" b="1" dirty="0"/>
              <a:t>Two Factor Authentication </a:t>
            </a:r>
            <a:r>
              <a:rPr lang="en-US" dirty="0"/>
              <a:t>– verifying someone through password then SMS</a:t>
            </a:r>
          </a:p>
          <a:p>
            <a:pPr marL="0" indent="0">
              <a:buNone/>
            </a:pPr>
            <a:r>
              <a:rPr lang="en-US" b="1" dirty="0"/>
              <a:t>Proofreading data</a:t>
            </a:r>
            <a:r>
              <a:rPr lang="en-US" dirty="0"/>
              <a:t> - this method involves someone checking the data entered against the original document. This is also time-consuming and costly.</a:t>
            </a:r>
          </a:p>
          <a:p>
            <a:pPr marL="0" indent="0">
              <a:buNone/>
            </a:pPr>
            <a:endParaRPr lang="ru-RU" sz="2000" dirty="0"/>
          </a:p>
        </p:txBody>
      </p:sp>
    </p:spTree>
    <p:extLst>
      <p:ext uri="{BB962C8B-B14F-4D97-AF65-F5344CB8AC3E}">
        <p14:creationId xmlns:p14="http://schemas.microsoft.com/office/powerpoint/2010/main" val="360241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Look at the video</a:t>
            </a:r>
            <a:endParaRPr lang="ru-RU" dirty="0"/>
          </a:p>
        </p:txBody>
      </p:sp>
      <p:sp>
        <p:nvSpPr>
          <p:cNvPr id="3" name="Объект 2"/>
          <p:cNvSpPr>
            <a:spLocks noGrp="1"/>
          </p:cNvSpPr>
          <p:nvPr>
            <p:ph idx="1"/>
          </p:nvPr>
        </p:nvSpPr>
        <p:spPr/>
        <p:txBody>
          <a:bodyPr/>
          <a:lstStyle/>
          <a:p>
            <a:r>
              <a:rPr lang="en-US" dirty="0">
                <a:hlinkClick r:id="rId2"/>
              </a:rPr>
              <a:t>https://www.youtube.com/watch?v=gQrSxbfUjug&amp;ab_channel=Udacity</a:t>
            </a:r>
            <a:endParaRPr lang="en-US" dirty="0"/>
          </a:p>
          <a:p>
            <a:endParaRPr lang="ru-RU" dirty="0"/>
          </a:p>
        </p:txBody>
      </p:sp>
    </p:spTree>
    <p:extLst>
      <p:ext uri="{BB962C8B-B14F-4D97-AF65-F5344CB8AC3E}">
        <p14:creationId xmlns:p14="http://schemas.microsoft.com/office/powerpoint/2010/main" val="3744211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11" y="254832"/>
            <a:ext cx="9021580" cy="599607"/>
          </a:xfrm>
        </p:spPr>
        <p:txBody>
          <a:bodyPr>
            <a:normAutofit fontScale="90000"/>
          </a:bodyPr>
          <a:lstStyle/>
          <a:p>
            <a:r>
              <a:rPr lang="en-GB" dirty="0"/>
              <a:t>Why?</a:t>
            </a:r>
          </a:p>
        </p:txBody>
      </p:sp>
      <p:sp>
        <p:nvSpPr>
          <p:cNvPr id="4" name="Slide Number Placeholder 3"/>
          <p:cNvSpPr>
            <a:spLocks noGrp="1"/>
          </p:cNvSpPr>
          <p:nvPr>
            <p:ph type="sldNum" sz="quarter" idx="12"/>
          </p:nvPr>
        </p:nvSpPr>
        <p:spPr>
          <a:xfrm>
            <a:off x="11507788" y="6546850"/>
            <a:ext cx="684212" cy="350838"/>
          </a:xfrm>
          <a:prstGeom prst="rect">
            <a:avLst/>
          </a:prstGeom>
        </p:spPr>
        <p:txBody>
          <a:bodyPr/>
          <a:lstStyle/>
          <a:p>
            <a:fld id="{525555F4-47BE-4721-8CA0-7B59355C00EB}" type="slidenum">
              <a:rPr lang="en-GB" smtClean="0"/>
              <a:t>26</a:t>
            </a:fld>
            <a:endParaRPr lang="en-GB"/>
          </a:p>
        </p:txBody>
      </p:sp>
      <p:sp>
        <p:nvSpPr>
          <p:cNvPr id="3" name="Rectangle 2"/>
          <p:cNvSpPr/>
          <p:nvPr/>
        </p:nvSpPr>
        <p:spPr>
          <a:xfrm>
            <a:off x="287311" y="1216912"/>
            <a:ext cx="10763866" cy="5262979"/>
          </a:xfrm>
          <a:prstGeom prst="rect">
            <a:avLst/>
          </a:prstGeom>
        </p:spPr>
        <p:txBody>
          <a:bodyPr wrap="square">
            <a:spAutoFit/>
          </a:bodyPr>
          <a:lstStyle/>
          <a:p>
            <a:r>
              <a:rPr lang="en-US" sz="2800" dirty="0"/>
              <a:t>Explain why we need to validate and verify input data.</a:t>
            </a:r>
          </a:p>
          <a:p>
            <a:endParaRPr lang="en-US" sz="2800" dirty="0"/>
          </a:p>
          <a:p>
            <a:pPr marL="457200" indent="-457200">
              <a:buFontTx/>
              <a:buChar char="-"/>
            </a:pPr>
            <a:r>
              <a:rPr lang="en-US" sz="2800" dirty="0"/>
              <a:t>Saves time correcting errors later  </a:t>
            </a:r>
          </a:p>
          <a:p>
            <a:pPr marL="457200" indent="-457200">
              <a:buFontTx/>
              <a:buChar char="-"/>
            </a:pPr>
            <a:r>
              <a:rPr lang="en-US" sz="2800" dirty="0"/>
              <a:t>GIGO – garbage in, garbage out</a:t>
            </a:r>
          </a:p>
          <a:p>
            <a:pPr marL="457200" indent="-457200">
              <a:buFontTx/>
              <a:buChar char="-"/>
            </a:pPr>
            <a:r>
              <a:rPr lang="en-US" sz="2800" dirty="0"/>
              <a:t>Ensures completeness</a:t>
            </a:r>
          </a:p>
          <a:p>
            <a:pPr marL="457200" indent="-457200">
              <a:buFontTx/>
              <a:buChar char="-"/>
            </a:pPr>
            <a:r>
              <a:rPr lang="en-US" sz="2800" dirty="0"/>
              <a:t>Ensures consistency.  Queries difficult if criteria inconsistent.</a:t>
            </a:r>
          </a:p>
          <a:p>
            <a:pPr marL="457200" indent="-457200">
              <a:buFontTx/>
              <a:buChar char="-"/>
            </a:pPr>
            <a:r>
              <a:rPr lang="en-US" sz="2800" dirty="0"/>
              <a:t>Security.  Certain strings can present security concerns.</a:t>
            </a:r>
          </a:p>
          <a:p>
            <a:pPr marL="457200" indent="-457200">
              <a:buFontTx/>
              <a:buChar char="-"/>
            </a:pPr>
            <a:r>
              <a:rPr lang="en-US" sz="2800" dirty="0"/>
              <a:t>Prevent runtime errors </a:t>
            </a:r>
            <a:r>
              <a:rPr lang="en-US" sz="2800" dirty="0" err="1"/>
              <a:t>eg</a:t>
            </a:r>
            <a:r>
              <a:rPr lang="en-US" sz="2800" dirty="0"/>
              <a:t> when text is entered instead of a number</a:t>
            </a:r>
          </a:p>
          <a:p>
            <a:endParaRPr lang="en-US" sz="2800" dirty="0"/>
          </a:p>
          <a:p>
            <a:pPr marL="457200" indent="-457200">
              <a:buFontTx/>
              <a:buChar char="-"/>
            </a:pPr>
            <a:r>
              <a:rPr lang="en-US" sz="2800" dirty="0"/>
              <a:t>Correctness.  Email wrong customers - costly, embarrassing.</a:t>
            </a:r>
          </a:p>
          <a:p>
            <a:pPr marL="457200" indent="-457200">
              <a:buFontTx/>
              <a:buChar char="-"/>
            </a:pPr>
            <a:endParaRPr lang="en-US" sz="2800" dirty="0"/>
          </a:p>
        </p:txBody>
      </p:sp>
    </p:spTree>
    <p:extLst>
      <p:ext uri="{BB962C8B-B14F-4D97-AF65-F5344CB8AC3E}">
        <p14:creationId xmlns:p14="http://schemas.microsoft.com/office/powerpoint/2010/main" val="1011932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0D5C5C-4DFF-4786-B9E2-055EA9B82584}"/>
              </a:ext>
            </a:extLst>
          </p:cNvPr>
          <p:cNvSpPr>
            <a:spLocks noGrp="1"/>
          </p:cNvSpPr>
          <p:nvPr>
            <p:ph type="title"/>
          </p:nvPr>
        </p:nvSpPr>
        <p:spPr>
          <a:xfrm>
            <a:off x="838200" y="365125"/>
            <a:ext cx="10515600" cy="1325563"/>
          </a:xfrm>
        </p:spPr>
        <p:txBody>
          <a:bodyPr>
            <a:normAutofit/>
          </a:bodyPr>
          <a:lstStyle/>
          <a:p>
            <a:r>
              <a:rPr lang="en-GB" sz="5400"/>
              <a:t>Data Testing</a:t>
            </a:r>
          </a:p>
        </p:txBody>
      </p:sp>
      <p:sp>
        <p:nvSpPr>
          <p:cNvPr id="1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8B39C95-8EA8-4CF4-80F5-2730C74F6654}"/>
              </a:ext>
            </a:extLst>
          </p:cNvPr>
          <p:cNvSpPr>
            <a:spLocks noGrp="1"/>
          </p:cNvSpPr>
          <p:nvPr>
            <p:ph idx="1"/>
          </p:nvPr>
        </p:nvSpPr>
        <p:spPr>
          <a:xfrm>
            <a:off x="838200" y="1929384"/>
            <a:ext cx="10515600" cy="4251960"/>
          </a:xfrm>
        </p:spPr>
        <p:txBody>
          <a:bodyPr>
            <a:normAutofit/>
          </a:bodyPr>
          <a:lstStyle/>
          <a:p>
            <a:pPr marL="0" indent="0">
              <a:buNone/>
            </a:pPr>
            <a:r>
              <a:rPr lang="en-GB" sz="2000" dirty="0"/>
              <a:t>It is important to test algorithms to check how they perform under a range of conditions.</a:t>
            </a:r>
          </a:p>
          <a:p>
            <a:r>
              <a:rPr lang="en-GB" sz="2000" dirty="0"/>
              <a:t>This includes testing any validation you have created to ensure it performs as expected.</a:t>
            </a:r>
          </a:p>
          <a:p>
            <a:r>
              <a:rPr lang="en-GB" sz="2000" dirty="0"/>
              <a:t>When creating a testing plan, the test data that you use shouldn’t be random values, but rather values that </a:t>
            </a:r>
            <a:r>
              <a:rPr lang="en-GB" sz="2000" dirty="0" err="1"/>
              <a:t>fulfill</a:t>
            </a:r>
            <a:r>
              <a:rPr lang="en-GB" sz="2000" dirty="0"/>
              <a:t> the following test criteria.</a:t>
            </a:r>
          </a:p>
          <a:p>
            <a:pPr marL="0" indent="0">
              <a:buNone/>
            </a:pPr>
            <a:r>
              <a:rPr lang="en-GB" sz="2000" b="1" dirty="0"/>
              <a:t>Normal data</a:t>
            </a:r>
          </a:p>
          <a:p>
            <a:pPr lvl="1"/>
            <a:r>
              <a:rPr lang="en-GB" sz="2000" dirty="0"/>
              <a:t>Normal data is test data that is typical (expected) and should be </a:t>
            </a:r>
            <a:r>
              <a:rPr lang="en-GB" sz="2000" b="1" dirty="0"/>
              <a:t>accepted</a:t>
            </a:r>
            <a:r>
              <a:rPr lang="en-GB" sz="2000" dirty="0"/>
              <a:t> by the system.</a:t>
            </a:r>
          </a:p>
          <a:p>
            <a:pPr marL="0" indent="0">
              <a:buNone/>
            </a:pPr>
            <a:r>
              <a:rPr lang="en-GB" sz="2000" b="1" dirty="0"/>
              <a:t>Boundary data (extreme data)</a:t>
            </a:r>
          </a:p>
          <a:p>
            <a:pPr lvl="1"/>
            <a:r>
              <a:rPr lang="en-GB" sz="2000" dirty="0"/>
              <a:t>Boundary data (sometimes called extreme data) is test data at the upper or lower limits of expectations that should be </a:t>
            </a:r>
            <a:r>
              <a:rPr lang="en-GB" sz="2000" b="1" dirty="0"/>
              <a:t>accepted </a:t>
            </a:r>
            <a:r>
              <a:rPr lang="en-GB" sz="2000" dirty="0"/>
              <a:t>by the system.</a:t>
            </a:r>
          </a:p>
          <a:p>
            <a:pPr marL="0" indent="0">
              <a:buNone/>
            </a:pPr>
            <a:r>
              <a:rPr lang="en-GB" sz="2000" b="1" dirty="0"/>
              <a:t>Abnormal data (erroneous data)</a:t>
            </a:r>
          </a:p>
          <a:p>
            <a:pPr lvl="1"/>
            <a:r>
              <a:rPr lang="en-GB" sz="2000" dirty="0"/>
              <a:t>Abnormal data is test data that falls outside of what is acceptable and should be</a:t>
            </a:r>
            <a:r>
              <a:rPr lang="en-GB" sz="2000" b="1" dirty="0"/>
              <a:t> rejected</a:t>
            </a:r>
            <a:r>
              <a:rPr lang="en-GB" sz="2000" dirty="0"/>
              <a:t> by the system.</a:t>
            </a:r>
          </a:p>
          <a:p>
            <a:endParaRPr lang="en-GB" sz="2000" dirty="0"/>
          </a:p>
        </p:txBody>
      </p:sp>
    </p:spTree>
    <p:extLst>
      <p:ext uri="{BB962C8B-B14F-4D97-AF65-F5344CB8AC3E}">
        <p14:creationId xmlns:p14="http://schemas.microsoft.com/office/powerpoint/2010/main" val="3614752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017601-E533-4F17-92BA-B46BC7015782}"/>
              </a:ext>
            </a:extLst>
          </p:cNvPr>
          <p:cNvSpPr>
            <a:spLocks noGrp="1"/>
          </p:cNvSpPr>
          <p:nvPr>
            <p:ph type="title"/>
          </p:nvPr>
        </p:nvSpPr>
        <p:spPr>
          <a:xfrm>
            <a:off x="838200" y="365125"/>
            <a:ext cx="10515600" cy="1325563"/>
          </a:xfrm>
        </p:spPr>
        <p:txBody>
          <a:bodyPr>
            <a:normAutofit fontScale="90000"/>
          </a:bodyPr>
          <a:lstStyle/>
          <a:p>
            <a:r>
              <a:rPr lang="en-GB" sz="3400" b="1"/>
              <a:t>Example of normal data, boundary data and abnormal data:</a:t>
            </a:r>
            <a:br>
              <a:rPr lang="en-GB" sz="3400" b="1"/>
            </a:br>
            <a:endParaRPr lang="en-GB" sz="3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131049D-0908-448E-8E0D-69B23765EE74}"/>
              </a:ext>
            </a:extLst>
          </p:cNvPr>
          <p:cNvSpPr>
            <a:spLocks noGrp="1"/>
          </p:cNvSpPr>
          <p:nvPr>
            <p:ph idx="1"/>
          </p:nvPr>
        </p:nvSpPr>
        <p:spPr>
          <a:xfrm>
            <a:off x="838200" y="1929384"/>
            <a:ext cx="10515600" cy="4251960"/>
          </a:xfrm>
        </p:spPr>
        <p:txBody>
          <a:bodyPr>
            <a:normAutofit/>
          </a:bodyPr>
          <a:lstStyle/>
          <a:p>
            <a:r>
              <a:rPr lang="en-GB" sz="3600" dirty="0"/>
              <a:t>A system has validation to ensure that only numerical values between </a:t>
            </a:r>
            <a:r>
              <a:rPr lang="en-GB" sz="3600" b="1" dirty="0"/>
              <a:t>2012 – 2025 </a:t>
            </a:r>
            <a:r>
              <a:rPr lang="en-GB" sz="3600" dirty="0"/>
              <a:t>are entered as an input.</a:t>
            </a:r>
          </a:p>
          <a:p>
            <a:r>
              <a:rPr lang="en-GB" sz="3600" dirty="0"/>
              <a:t>The test data for this could be:</a:t>
            </a:r>
          </a:p>
          <a:p>
            <a:pPr marL="0" indent="0">
              <a:buNone/>
            </a:pPr>
            <a:r>
              <a:rPr lang="en-GB" sz="3600" b="1" dirty="0"/>
              <a:t>Normal data:</a:t>
            </a:r>
            <a:r>
              <a:rPr lang="en-GB" sz="3600" dirty="0"/>
              <a:t> 2012-2025</a:t>
            </a:r>
            <a:br>
              <a:rPr lang="en-GB" sz="3600" dirty="0"/>
            </a:br>
            <a:r>
              <a:rPr lang="en-GB" sz="3600" b="1" dirty="0"/>
              <a:t>Boundary data (extreme data):</a:t>
            </a:r>
            <a:r>
              <a:rPr lang="en-GB" sz="3600" dirty="0"/>
              <a:t> 2012</a:t>
            </a:r>
            <a:br>
              <a:rPr lang="en-GB" sz="3600" dirty="0"/>
            </a:br>
            <a:r>
              <a:rPr lang="en-GB" sz="3600" b="1" dirty="0"/>
              <a:t>Boundary data (extreme data):</a:t>
            </a:r>
            <a:r>
              <a:rPr lang="en-GB" sz="3600" dirty="0"/>
              <a:t> 2025</a:t>
            </a:r>
            <a:br>
              <a:rPr lang="en-GB" sz="3600" dirty="0"/>
            </a:br>
            <a:r>
              <a:rPr lang="en-GB" sz="3600" b="1" dirty="0"/>
              <a:t>Abnormal data (</a:t>
            </a:r>
            <a:r>
              <a:rPr lang="en-GB" sz="3600" b="1" dirty="0">
                <a:hlinkClick r:id="rId3"/>
              </a:rPr>
              <a:t>erroneous data</a:t>
            </a:r>
            <a:r>
              <a:rPr lang="en-GB" sz="3600" b="1" dirty="0"/>
              <a:t>):</a:t>
            </a:r>
            <a:r>
              <a:rPr lang="en-GB" sz="3600" dirty="0"/>
              <a:t> 1945, twenty twenty</a:t>
            </a:r>
          </a:p>
          <a:p>
            <a:endParaRPr lang="en-GB" sz="2200" dirty="0"/>
          </a:p>
        </p:txBody>
      </p:sp>
    </p:spTree>
    <p:extLst>
      <p:ext uri="{BB962C8B-B14F-4D97-AF65-F5344CB8AC3E}">
        <p14:creationId xmlns:p14="http://schemas.microsoft.com/office/powerpoint/2010/main" val="4529108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Reflection</a:t>
            </a:r>
            <a:endParaRPr/>
          </a:p>
        </p:txBody>
      </p:sp>
      <p:sp>
        <p:nvSpPr>
          <p:cNvPr id="188" name="Google Shape;188;p1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0" algn="ctr" rtl="0">
              <a:lnSpc>
                <a:spcPct val="90000"/>
              </a:lnSpc>
              <a:spcBef>
                <a:spcPts val="0"/>
              </a:spcBef>
              <a:spcAft>
                <a:spcPts val="0"/>
              </a:spcAft>
              <a:buSzPts val="4400"/>
              <a:buNone/>
            </a:pPr>
            <a:endParaRPr sz="4400" cap="none" dirty="0">
              <a:latin typeface="Bookman Old Style"/>
              <a:ea typeface="Bookman Old Style"/>
              <a:cs typeface="Bookman Old Style"/>
              <a:sym typeface="Bookman Old Style"/>
            </a:endParaRPr>
          </a:p>
          <a:p>
            <a:pPr marL="91440" lvl="0" indent="0" algn="ctr" rtl="0">
              <a:lnSpc>
                <a:spcPct val="90000"/>
              </a:lnSpc>
              <a:spcBef>
                <a:spcPts val="1400"/>
              </a:spcBef>
              <a:spcAft>
                <a:spcPts val="0"/>
              </a:spcAft>
              <a:buSzPts val="4400"/>
              <a:buNone/>
            </a:pPr>
            <a:endParaRPr sz="4400" cap="none" dirty="0">
              <a:latin typeface="Bookman Old Style"/>
              <a:ea typeface="Bookman Old Style"/>
              <a:cs typeface="Bookman Old Style"/>
              <a:sym typeface="Bookman Old Style"/>
            </a:endParaRPr>
          </a:p>
          <a:p>
            <a:pPr marL="91440" lvl="0" indent="-279400" algn="ctr" rtl="0">
              <a:lnSpc>
                <a:spcPct val="90000"/>
              </a:lnSpc>
              <a:spcBef>
                <a:spcPts val="1400"/>
              </a:spcBef>
              <a:spcAft>
                <a:spcPts val="0"/>
              </a:spcAft>
              <a:buSzPts val="4400"/>
              <a:buChar char=" "/>
            </a:pPr>
            <a:r>
              <a:rPr lang="en-US" sz="4400" dirty="0">
                <a:latin typeface="Bookman Old Style"/>
                <a:ea typeface="Bookman Old Style"/>
                <a:cs typeface="Bookman Old Style"/>
                <a:sym typeface="Bookman Old Style"/>
              </a:rPr>
              <a:t>Have we met the learning objectives?</a:t>
            </a:r>
            <a:endParaRPr dirty="0"/>
          </a:p>
          <a:p>
            <a:pPr marL="91440" lvl="0" indent="0" algn="l" rtl="0">
              <a:lnSpc>
                <a:spcPct val="90000"/>
              </a:lnSpc>
              <a:spcBef>
                <a:spcPts val="1400"/>
              </a:spcBef>
              <a:spcAft>
                <a:spcPts val="0"/>
              </a:spcAft>
              <a:buSzPts val="2000"/>
              <a:buNone/>
            </a:pPr>
            <a:endParaRPr dirty="0"/>
          </a:p>
        </p:txBody>
      </p:sp>
    </p:spTree>
    <p:extLst>
      <p:ext uri="{BB962C8B-B14F-4D97-AF65-F5344CB8AC3E}">
        <p14:creationId xmlns:p14="http://schemas.microsoft.com/office/powerpoint/2010/main" val="27291670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5468E0AFE49AF84DA0B39251DCC74C2C" ma:contentTypeVersion="9" ma:contentTypeDescription="Создание документа." ma:contentTypeScope="" ma:versionID="f1a46b644f39496ea978b0bce6fa06b8">
  <xsd:schema xmlns:xsd="http://www.w3.org/2001/XMLSchema" xmlns:xs="http://www.w3.org/2001/XMLSchema" xmlns:p="http://schemas.microsoft.com/office/2006/metadata/properties" xmlns:ns2="9bf17113-51c2-4165-8241-9d60f8792840" targetNamespace="http://schemas.microsoft.com/office/2006/metadata/properties" ma:root="true" ma:fieldsID="d92033074d9948c9f7885d440d32a1f8" ns2:_="">
    <xsd:import namespace="9bf17113-51c2-4165-8241-9d60f879284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f17113-51c2-4165-8241-9d60f87928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72A63D-9B99-4EC4-8600-88B5EA9DBEC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83D742F-DE92-45F1-8101-3EDE2AF275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f17113-51c2-4165-8241-9d60f87928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30C4929-6DD3-414D-BBFA-C37DF83BDFD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152</TotalTime>
  <Words>1506</Words>
  <Application>Microsoft Macintosh PowerPoint</Application>
  <PresentationFormat>Widescreen</PresentationFormat>
  <Paragraphs>156</Paragraphs>
  <Slides>29</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Bookman Old Style</vt:lpstr>
      <vt:lpstr>Calibri</vt:lpstr>
      <vt:lpstr>Calibri Light</vt:lpstr>
      <vt:lpstr>jakarta</vt:lpstr>
      <vt:lpstr>Lato</vt:lpstr>
      <vt:lpstr>Roboto</vt:lpstr>
      <vt:lpstr>Roboto Mono</vt:lpstr>
      <vt:lpstr>YouTube Noto</vt:lpstr>
      <vt:lpstr>Office Theme</vt:lpstr>
      <vt:lpstr>Validation &amp; Verification</vt:lpstr>
      <vt:lpstr>Learning Objective</vt:lpstr>
      <vt:lpstr>PowerPoint Presentation</vt:lpstr>
      <vt:lpstr>PowerPoint Presentation</vt:lpstr>
      <vt:lpstr>validation</vt:lpstr>
      <vt:lpstr>Types of Validation</vt:lpstr>
      <vt:lpstr>PowerPoint Presentation</vt:lpstr>
      <vt:lpstr>Activity</vt:lpstr>
      <vt:lpstr>Discussion</vt:lpstr>
      <vt:lpstr>Error detection</vt:lpstr>
      <vt:lpstr>Parity Check (bit)</vt:lpstr>
      <vt:lpstr>PowerPoint Presentation</vt:lpstr>
      <vt:lpstr>PowerPoint Presentation</vt:lpstr>
      <vt:lpstr>Parity checks</vt:lpstr>
      <vt:lpstr>Parity Block</vt:lpstr>
      <vt:lpstr>PowerPoint Presentation</vt:lpstr>
      <vt:lpstr>PowerPoint Presentation</vt:lpstr>
      <vt:lpstr>Checksum</vt:lpstr>
      <vt:lpstr>PowerPoint Presentation</vt:lpstr>
      <vt:lpstr>PowerPoint Presentation</vt:lpstr>
      <vt:lpstr>Checksums</vt:lpstr>
      <vt:lpstr>Parity block checks</vt:lpstr>
      <vt:lpstr>Fill in the blanks</vt:lpstr>
      <vt:lpstr>Verification </vt:lpstr>
      <vt:lpstr>Look at the video</vt:lpstr>
      <vt:lpstr>Why?</vt:lpstr>
      <vt:lpstr>Data Testing</vt:lpstr>
      <vt:lpstr>Example of normal data, boundary data and abnormal data: </vt:lpstr>
      <vt:lpstr>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Validation &amp; Verification</dc:title>
  <dc:creator>Antony Roy</dc:creator>
  <cp:lastModifiedBy>Office</cp:lastModifiedBy>
  <cp:revision>19</cp:revision>
  <dcterms:created xsi:type="dcterms:W3CDTF">2019-04-11T02:37:22Z</dcterms:created>
  <dcterms:modified xsi:type="dcterms:W3CDTF">2025-04-16T09:59:37Z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0x0101005468E0AFE49AF84DA0B39251DCC74C2C</vt:lpwstr>
  </property>
</Properties>
</file>